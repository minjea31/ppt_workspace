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Background"/>
          <p:cNvSpPr/>
          <p:nvPr/>
        </p:nvSpPr>
        <p:spPr>
          <a:xfrm>
            <a:off x="0" y="0"/>
            <a:ext cx="12192000" cy="567690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overSeparator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Logo"/>
          <p:cNvSpPr txBox="1"/>
          <p:nvPr/>
        </p:nvSpPr>
        <p:spPr>
          <a:xfrm>
            <a:off x="190500" y="0"/>
            <a:ext cx="2857500" cy="863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4056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5" name="CoverTitle"/>
          <p:cNvSpPr txBox="1"/>
          <p:nvPr/>
        </p:nvSpPr>
        <p:spPr>
          <a:xfrm>
            <a:off x="476250" y="1295400"/>
            <a:ext cx="11239500" cy="2413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강화학습 week6</a:t>
            </a:r>
            <a:br/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SARSA, Q-Learning</a:t>
            </a:r>
          </a:p>
        </p:txBody>
      </p:sp>
      <p:sp>
        <p:nvSpPr>
          <p:cNvPr id="6" name="Author"/>
          <p:cNvSpPr txBox="1"/>
          <p:nvPr/>
        </p:nvSpPr>
        <p:spPr>
          <a:xfrm>
            <a:off x="285750" y="6019800"/>
            <a:ext cx="11620500" cy="4953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지능로봇공학과 김민재 2021042040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ContentsTitle1"/>
          <p:cNvSpPr txBox="1"/>
          <p:nvPr/>
        </p:nvSpPr>
        <p:spPr>
          <a:xfrm>
            <a:off x="4543425" y="1244600"/>
            <a:ext cx="7286625" cy="508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1. 환경과 알고리즘</a:t>
            </a:r>
          </a:p>
        </p:txBody>
      </p:sp>
      <p:sp>
        <p:nvSpPr>
          <p:cNvPr id="7" name="ContentsBody1"/>
          <p:cNvSpPr txBox="1"/>
          <p:nvPr/>
        </p:nvSpPr>
        <p:spPr>
          <a:xfrm>
            <a:off x="4781550" y="1841500"/>
            <a:ext cx="7048500" cy="952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5×5 Grid World의 보상·종료 규칙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SARSA, Q-Learning의 갱신식</a:t>
            </a:r>
          </a:p>
        </p:txBody>
      </p:sp>
      <p:sp>
        <p:nvSpPr>
          <p:cNvPr id="8" name="ContentsTitle2"/>
          <p:cNvSpPr txBox="1"/>
          <p:nvPr/>
        </p:nvSpPr>
        <p:spPr>
          <a:xfrm>
            <a:off x="4543425" y="2997200"/>
            <a:ext cx="7286625" cy="412036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 dirty="0">
                <a:solidFill>
                  <a:srgbClr val="080808"/>
                </a:solidFill>
                <a:latin typeface="Pretendard"/>
                <a:ea typeface="Pretendard"/>
              </a:rPr>
              <a:t>2. </a:t>
            </a:r>
            <a:r>
              <a:rPr sz="2256" b="1" dirty="0" err="1">
                <a:solidFill>
                  <a:srgbClr val="080808"/>
                </a:solidFill>
                <a:latin typeface="Pretendard"/>
                <a:ea typeface="Pretendard"/>
              </a:rPr>
              <a:t>코드</a:t>
            </a:r>
            <a:r>
              <a:rPr lang="en-US" sz="2256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lang="ko-KR" altLang="en-US" sz="2256" b="1" dirty="0">
                <a:solidFill>
                  <a:srgbClr val="080808"/>
                </a:solidFill>
                <a:latin typeface="Pretendard"/>
                <a:ea typeface="Pretendard"/>
              </a:rPr>
              <a:t>및</a:t>
            </a:r>
            <a:r>
              <a:rPr sz="2256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56" b="1" dirty="0" err="1">
                <a:solidFill>
                  <a:srgbClr val="080808"/>
                </a:solidFill>
                <a:latin typeface="Pretendard"/>
                <a:ea typeface="Pretendard"/>
              </a:rPr>
              <a:t>학습</a:t>
            </a:r>
            <a:r>
              <a:rPr sz="2256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56" b="1" dirty="0" err="1">
                <a:solidFill>
                  <a:srgbClr val="080808"/>
                </a:solidFill>
                <a:latin typeface="Pretendard"/>
                <a:ea typeface="Pretendard"/>
              </a:rPr>
              <a:t>결과</a:t>
            </a:r>
            <a:endParaRPr sz="2256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  <p:sp>
        <p:nvSpPr>
          <p:cNvPr id="9" name="ContentsBody2"/>
          <p:cNvSpPr txBox="1"/>
          <p:nvPr/>
        </p:nvSpPr>
        <p:spPr>
          <a:xfrm>
            <a:off x="4781550" y="3568700"/>
            <a:ext cx="7048500" cy="952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• SARSA, Q-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Learning의</a:t>
            </a: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핵심</a:t>
            </a: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코드</a:t>
            </a:r>
            <a:br>
              <a:rPr dirty="0"/>
            </a:b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학습</a:t>
            </a: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곡선</a:t>
            </a: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 · Q-value ·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정책</a:t>
            </a: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비교</a:t>
            </a:r>
            <a:endParaRPr sz="1800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  <p:sp>
        <p:nvSpPr>
          <p:cNvPr id="10" name="ContentsTitle3"/>
          <p:cNvSpPr txBox="1"/>
          <p:nvPr/>
        </p:nvSpPr>
        <p:spPr>
          <a:xfrm>
            <a:off x="4543425" y="4749800"/>
            <a:ext cx="7286625" cy="412036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 dirty="0">
                <a:solidFill>
                  <a:srgbClr val="080808"/>
                </a:solidFill>
                <a:latin typeface="Pretendard"/>
                <a:ea typeface="Pretendard"/>
              </a:rPr>
              <a:t>3. </a:t>
            </a:r>
            <a:r>
              <a:rPr lang="en-US" sz="2256" b="1" dirty="0">
                <a:solidFill>
                  <a:srgbClr val="080808"/>
                </a:solidFill>
                <a:latin typeface="Pretendard"/>
                <a:ea typeface="Pretendard"/>
              </a:rPr>
              <a:t>ablation</a:t>
            </a:r>
            <a:r>
              <a:rPr sz="2256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56" b="1" dirty="0" err="1">
                <a:solidFill>
                  <a:srgbClr val="080808"/>
                </a:solidFill>
                <a:latin typeface="Pretendard"/>
                <a:ea typeface="Pretendard"/>
              </a:rPr>
              <a:t>실험</a:t>
            </a:r>
            <a:endParaRPr sz="2256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  <p:sp>
        <p:nvSpPr>
          <p:cNvPr id="11" name="ContentsBody3"/>
          <p:cNvSpPr txBox="1"/>
          <p:nvPr/>
        </p:nvSpPr>
        <p:spPr>
          <a:xfrm>
            <a:off x="4781550" y="5321300"/>
            <a:ext cx="7048500" cy="6888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• Episode · ε · α · γ</a:t>
            </a:r>
            <a:r>
              <a:rPr lang="en-US" sz="18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변경</a:t>
            </a:r>
            <a:br>
              <a:rPr dirty="0"/>
            </a:b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결과</a:t>
            </a:r>
            <a:r>
              <a:rPr sz="18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800" b="1" dirty="0" err="1">
                <a:solidFill>
                  <a:srgbClr val="080808"/>
                </a:solidFill>
                <a:latin typeface="Pretendard"/>
                <a:ea typeface="Pretendard"/>
              </a:rPr>
              <a:t>비교</a:t>
            </a:r>
            <a:endParaRPr sz="1800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5×5 Grid World · 환경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과제의 배치와 환경 규칙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1905265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시작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(5,1),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목표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(1,5)</a:t>
            </a: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벽 (3,2), (3,3)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폭탄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(1,4), (4,5)</a:t>
            </a:r>
            <a:br>
              <a:rPr dirty="0"/>
            </a:b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일반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0,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폭탄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−1,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목표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+1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목표에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도착하면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Episode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종료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</a:p>
        </p:txBody>
      </p:sp>
      <p:pic>
        <p:nvPicPr>
          <p:cNvPr id="11" name="ImageSlot" descr="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4" y="1238249"/>
            <a:ext cx="4857750" cy="4857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SARSA · On-policy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quation"/>
              <p:cNvSpPr txBox="1"/>
              <p:nvPr/>
            </p:nvSpPr>
            <p:spPr>
              <a:xfrm>
                <a:off x="342900" y="1460500"/>
                <a:ext cx="11487150" cy="558800"/>
              </a:xfrm>
              <a:prstGeom prst="rect">
                <a:avLst/>
              </a:prstGeom>
              <a:noFill/>
            </p:spPr>
            <p:txBody>
              <a:bodyPr wrap="square" lIns="19050" tIns="0" rIns="19050" bIns="0">
                <a:spAutoFit/>
              </a:bodyPr>
              <a:lstStyle/>
              <a:p>
                <a:pPr algn="l">
                  <a:lnSpc>
                    <a:spcPct val="130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 ←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 +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𝛂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[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𝐑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+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𝟏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 +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𝛄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+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𝟏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+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𝟏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 −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)]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1460500"/>
                <a:ext cx="11487150" cy="55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ExplanationBox"/>
          <p:cNvSpPr/>
          <p:nvPr/>
        </p:nvSpPr>
        <p:spPr>
          <a:xfrm>
            <a:off x="257175" y="2413000"/>
            <a:ext cx="11677650" cy="39306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ExplanationBoxInterior"/>
          <p:cNvSpPr/>
          <p:nvPr/>
        </p:nvSpPr>
        <p:spPr>
          <a:xfrm>
            <a:off x="409575" y="2565400"/>
            <a:ext cx="11372850" cy="36258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ody"/>
          <p:cNvSpPr txBox="1"/>
          <p:nvPr/>
        </p:nvSpPr>
        <p:spPr>
          <a:xfrm>
            <a:off x="561975" y="2717800"/>
            <a:ext cx="11068050" cy="2544992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다음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행동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Aₜ₊₁을 ε-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greedy로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선택</a:t>
            </a:r>
            <a:r>
              <a:rPr lang="en-US"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실제로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선택한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행동의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Q를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갱신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목표에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사용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행동정책의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기대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할인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보상을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학습</a:t>
            </a:r>
            <a:r>
              <a:rPr lang="en-US" sz="2200" b="1" dirty="0">
                <a:solidFill>
                  <a:srgbClr val="080808"/>
                </a:solidFill>
                <a:latin typeface="Pretendard"/>
                <a:ea typeface="Pretendard"/>
              </a:rPr>
              <a:t>,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탐험으로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생기는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손실도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Q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갱신에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반영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목표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도착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시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다음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Q는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0</a:t>
            </a:r>
            <a:endParaRPr lang="en-US" sz="2200" b="1" dirty="0">
              <a:solidFill>
                <a:srgbClr val="080808"/>
              </a:solidFill>
              <a:latin typeface="Pretendard"/>
              <a:ea typeface="Pretendard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altLang="ko-KR"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새 5×5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코드에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원본의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SARSA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갱신식을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적용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Q-Learning · Off-policy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quation"/>
              <p:cNvSpPr txBox="1"/>
              <p:nvPr/>
            </p:nvSpPr>
            <p:spPr>
              <a:xfrm>
                <a:off x="342900" y="1460500"/>
                <a:ext cx="11487150" cy="558800"/>
              </a:xfrm>
              <a:prstGeom prst="rect">
                <a:avLst/>
              </a:prstGeom>
              <a:noFill/>
            </p:spPr>
            <p:txBody>
              <a:bodyPr wrap="square" lIns="19050" tIns="0" rIns="19050" bIns="0">
                <a:spAutoFit/>
              </a:bodyPr>
              <a:lstStyle/>
              <a:p>
                <a:pPr algn="l">
                  <a:lnSpc>
                    <a:spcPct val="130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 ←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 +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𝛂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[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𝐑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+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𝟏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 +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𝛄</m:t>
                      </m:r>
                      <m:limLow>
                        <m:limLowPr>
                          <m:ctrlPr>
                            <a:rPr sz="2200" b="1" i="0">
                              <a:latin typeface="Pretendard"/>
                              <a:ea typeface="Pretendard"/>
                            </a:rPr>
                          </m:ctrlPr>
                        </m:limLowPr>
                        <m:e>
                          <m:r>
                            <m:rPr>
                              <m:nor/>
                            </m:rPr>
                            <a:rPr sz="2200" b="1" i="0">
                              <a:latin typeface="Pretendard"/>
                              <a:ea typeface="Pretendard"/>
                            </a:rPr>
                            <m:t>max</m:t>
                          </m:r>
                        </m:e>
                        <m:lim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𝐚</m:t>
                          </m:r>
                        </m:lim>
                      </m:limLow>
                      <m:r>
                        <a:rPr sz="2200" b="1">
                          <a:latin typeface="Pretendard"/>
                          <a:ea typeface="Pretendard"/>
                        </a:rPr>
                        <m:t>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+</m:t>
                          </m:r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𝟏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𝐚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) − 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𝐐</m:t>
                      </m:r>
                      <m:r>
                        <a:rPr sz="2200" b="1">
                          <a:latin typeface="Pretendard"/>
                          <a:ea typeface="Pretendard"/>
                        </a:rPr>
                        <m:t>(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𝐒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, </m:t>
                      </m:r>
                      <m:sSub>
                        <m:sSubPr>
                          <m:ctrlPr>
                            <a:rPr sz="2200" b="1">
                              <a:latin typeface="Pretendard"/>
                              <a:ea typeface="Pretendard"/>
                            </a:rPr>
                          </m:ctrlPr>
                        </m:sSubPr>
                        <m:e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𝐀</m:t>
                          </m:r>
                        </m:e>
                        <m:sub>
                          <m:r>
                            <a:rPr sz="2200" b="1">
                              <a:latin typeface="Pretendard"/>
                              <a:ea typeface="Pretendard"/>
                            </a:rPr>
                            <m:t>𝐭</m:t>
                          </m:r>
                        </m:sub>
                      </m:sSub>
                      <m:r>
                        <a:rPr sz="2200" b="1">
                          <a:latin typeface="Pretendard"/>
                          <a:ea typeface="Pretendard"/>
                        </a:rPr>
                        <m:t>)]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1460500"/>
                <a:ext cx="11487150" cy="558800"/>
              </a:xfrm>
              <a:prstGeom prst="rect">
                <a:avLst/>
              </a:prstGeom>
              <a:blipFill>
                <a:blip r:embed="rId2"/>
                <a:stretch>
                  <a:fillRect b="-32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ExplanationBox"/>
          <p:cNvSpPr/>
          <p:nvPr/>
        </p:nvSpPr>
        <p:spPr>
          <a:xfrm>
            <a:off x="257175" y="2413000"/>
            <a:ext cx="11677650" cy="39306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ExplanationBoxInterior"/>
          <p:cNvSpPr/>
          <p:nvPr/>
        </p:nvSpPr>
        <p:spPr>
          <a:xfrm>
            <a:off x="409575" y="2565400"/>
            <a:ext cx="11372850" cy="36258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ody"/>
          <p:cNvSpPr txBox="1"/>
          <p:nvPr/>
        </p:nvSpPr>
        <p:spPr>
          <a:xfrm>
            <a:off x="561975" y="2717800"/>
            <a:ext cx="11068050" cy="33210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다음 상태에서 가능한 행동의 최대 Q 사용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  행동은 ε-greedy로 선택하고 갱신 목표는 Greedy로 계산.</a:t>
            </a:r>
            <a:br/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탐험과 학습 목표를 분리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  충분히 방문한 상태·행동의 최적 Q를 학습.</a:t>
            </a:r>
            <a:br/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목표 도착 시 다음 Q는 0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  새 5×5 코드에 원본의 Q-Learning 갱신식을 적용.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어블레이션 · 실험 설계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76250" y="1162050"/>
          <a:ext cx="11239500" cy="3028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실험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변경하는 변수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고정하는 학습 조건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기본 설정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변경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E=10,000 · ε=0.1 · α=0.8 · γ=0.9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학습량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Episode 수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ε=0.1 · α=0.8 · γ=0.9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탐험률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E=10,000 · α=0.8 · γ=0.9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학습률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α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E=10,000 · ε=0.1 · γ=0.9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할인율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E=10,000 · ε=0.1 · α=0.8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85800" y="455295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• 한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변수씩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변경하고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조건도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고정</a:t>
            </a:r>
            <a:endParaRPr sz="173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10" name="PanelBody"/>
          <p:cNvSpPr txBox="1"/>
          <p:nvPr/>
        </p:nvSpPr>
        <p:spPr>
          <a:xfrm>
            <a:off x="781050" y="5133273"/>
            <a:ext cx="10629900" cy="302327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Greedy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: ε=0 </a:t>
            </a:r>
            <a:r>
              <a:rPr lang="en-US" sz="1655" b="1" dirty="0">
                <a:solidFill>
                  <a:srgbClr val="080808"/>
                </a:solidFill>
                <a:latin typeface="Pretendard"/>
                <a:ea typeface="Pretendard"/>
              </a:rPr>
              <a:t>,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탐험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: ε=0.1 </a:t>
            </a:r>
            <a:r>
              <a:rPr lang="en-US" sz="1655" b="1" dirty="0">
                <a:solidFill>
                  <a:srgbClr val="080808"/>
                </a:solidFill>
                <a:latin typeface="Pretendard"/>
                <a:ea typeface="Pretendard"/>
              </a:rPr>
              <a:t>,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할인율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γ=0.9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SARSA · 핵심 코드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CodeBackground"/>
          <p:cNvSpPr/>
          <p:nvPr/>
        </p:nvSpPr>
        <p:spPr>
          <a:xfrm>
            <a:off x="342900" y="1285875"/>
            <a:ext cx="5334000" cy="4857750"/>
          </a:xfrm>
          <a:prstGeom prst="rect">
            <a:avLst/>
          </a:prstGeom>
          <a:solidFill>
            <a:srgbClr val="27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odeBody"/>
          <p:cNvSpPr txBox="1"/>
          <p:nvPr/>
        </p:nvSpPr>
        <p:spPr>
          <a:xfrm>
            <a:off x="495300" y="1419225"/>
            <a:ext cx="5029200" cy="45593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# train_one의 핵심 갱신 과정을 요약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nxt = ns[s, a]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r = rewards[s, a]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done = dones[s, a]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next_a = 0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if not done: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    next_a = select_action(q, nxt, eps)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target = r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if not done: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    target += gamma * q[nxt, next_a]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q[s, a] += alpha * (target - q[s, a])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if not done: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    s, a = nxt, next_a</a:t>
            </a:r>
          </a:p>
        </p:txBody>
      </p:sp>
      <p:sp>
        <p:nvSpPr>
          <p:cNvPr id="8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선택한 다음 행동의 Q를 사용</a:t>
            </a:r>
          </a:p>
        </p:txBody>
      </p:sp>
      <p:sp>
        <p:nvSpPr>
          <p:cNvPr id="11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① ε-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greedy로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next_a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선택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탐험이면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무작위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,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아니면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Q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행동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②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target에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q[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nxt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,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next_a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]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사용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실제로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선택한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다음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행동의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가치를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반영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탐험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행동의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손실도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갱신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목표에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포함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③ TD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오차를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α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만큼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Q에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반영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갱신한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뒤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선택해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둔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next_a를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실행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목표에서는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target=r,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다음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Q는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Q-Learning · 핵심 코드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CodeBackground"/>
          <p:cNvSpPr/>
          <p:nvPr/>
        </p:nvSpPr>
        <p:spPr>
          <a:xfrm>
            <a:off x="342900" y="1285875"/>
            <a:ext cx="5334000" cy="4857750"/>
          </a:xfrm>
          <a:prstGeom prst="rect">
            <a:avLst/>
          </a:prstGeom>
          <a:solidFill>
            <a:srgbClr val="27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odeBody"/>
          <p:cNvSpPr txBox="1"/>
          <p:nvPr/>
        </p:nvSpPr>
        <p:spPr>
          <a:xfrm>
            <a:off x="495300" y="1419225"/>
            <a:ext cx="5029200" cy="45593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# train_one의 핵심 갱신 과정을 요약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nxt = ns[s, a]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r = rewards[s, a]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done = dones[s, a]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target = r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if not done: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    target += gamma * np.max(q[nxt])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q[s, a] += alpha * (target - q[s, a])</a:t>
            </a:r>
            <a:br/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if not done: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    s = nxt</a:t>
            </a:r>
            <a:br/>
            <a:r>
              <a:rPr sz="1128" b="1">
                <a:solidFill>
                  <a:srgbClr val="F8F8F2"/>
                </a:solidFill>
                <a:latin typeface="Pretendard"/>
                <a:ea typeface="Pretendard"/>
              </a:rPr>
              <a:t>    a = select_action(q, s, eps)</a:t>
            </a:r>
          </a:p>
        </p:txBody>
      </p:sp>
      <p:sp>
        <p:nvSpPr>
          <p:cNvPr id="8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다음 상태의 최대 Q를 사용</a:t>
            </a:r>
          </a:p>
        </p:txBody>
      </p:sp>
      <p:sp>
        <p:nvSpPr>
          <p:cNvPr id="11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① target에 np.max(q[nxt]) 사용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다음 상태에서 가장 큰 행동 가치를 선택.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② TD 오차를 α만큼 Q에 반영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목표값 계산에는 탐험 행동을 쓰지 않음.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③ 실제 다음 행동은 ε-greedy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학습 목표와 행동 선택을 분리.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전이와 보상 규칙은 SARSA와 동일.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목표에서는 target=r, 다음 Q는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Episode ·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학습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14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학습량만 변경 · 실제 평가 보상 비교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변경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: 100, 500, 2,000, 10,000회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고정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: ε=0.1, α=0.8, γ=0.9</a:t>
            </a:r>
            <a:br>
              <a:rPr dirty="0"/>
            </a:b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SARSA의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할인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G:</a:t>
            </a: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0.288 → 0.263 → 0.289 → 0.310</a:t>
            </a:r>
            <a:br>
              <a:rPr dirty="0"/>
            </a:b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Q-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Learning의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할인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G:</a:t>
            </a: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0.402 → 0.405 → 0.408 → 0.410</a:t>
            </a:r>
            <a:br>
              <a:rPr dirty="0"/>
            </a:b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Q-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Learning은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보상이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완만히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증가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SARSA는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학습량에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따른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변동이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관찰됨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ε=0.1, γ=0.9로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동일하게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고정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</a:p>
        </p:txBody>
      </p:sp>
      <p:pic>
        <p:nvPicPr>
          <p:cNvPr id="11" name="ImageSlot" descr="episodes_rew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333500"/>
            <a:ext cx="53340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SARSA · Episode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100 Episode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500 Episode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2,000 Episode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10,000 Episode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•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학습량이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늘어도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보상은</a:t>
            </a:r>
            <a:r>
              <a:rPr sz="173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730" b="1" dirty="0" err="1">
                <a:solidFill>
                  <a:srgbClr val="FFFFFF"/>
                </a:solidFill>
                <a:latin typeface="Pretendard"/>
                <a:ea typeface="Pretendard"/>
              </a:rPr>
              <a:t>변동</a:t>
            </a:r>
            <a:endParaRPr sz="173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10096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시작점 최대 Q (30개 시드 평균): 0.272 / 0.364 / 0.353 / 0.340</a:t>
            </a:r>
            <a:br/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평가 보상 G: 0.288 / 0.263 / 0.289 / 0.310 · 평가 ε=0.1, γ=0.9</a:t>
            </a:r>
          </a:p>
        </p:txBody>
      </p:sp>
      <p:pic>
        <p:nvPicPr>
          <p:cNvPr id="18" name="ImageSlot1" descr="q_baseline_100__SAR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baseline_500__SAR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baseline_2000__SAR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baseline_10000__SAR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Q-Learning · Episode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16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100 Episode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500 Episode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2,000 Episode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10,000 Episode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추가 학습으로 전체 상태의 정책이 개선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10096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시작점 최대 Q (30개 시드 평균): 0.478 / 0.478 / 0.478 / 0.478</a:t>
            </a:r>
            <a:br/>
            <a:r>
              <a:rPr sz="1655" b="1">
                <a:solidFill>
                  <a:srgbClr val="080808"/>
                </a:solidFill>
                <a:latin typeface="Pretendard"/>
                <a:ea typeface="Pretendard"/>
              </a:rPr>
              <a:t>• 평가 보상 G: 0.402 / 0.405 / 0.408 / 0.410 · 평가 ε=0.1, γ=0.9</a:t>
            </a:r>
          </a:p>
        </p:txBody>
      </p:sp>
      <p:pic>
        <p:nvPicPr>
          <p:cNvPr id="18" name="ImageSlot1" descr="q_baseline_100__Q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baseline_500__Q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baseline_2000__Q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baseline_10000__QLe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ε ·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가치·정책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탐험률만 변경 · 시작점 Q 비교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257987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변경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: ε=0.01, 0.1, 0.3, 0.5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고정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: E=10,000, α=0.8, γ=0.9</a:t>
            </a:r>
            <a:br>
              <a:rPr dirty="0"/>
            </a:b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SARSA의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평균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Q:</a:t>
            </a: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0.411 → 0.340 → 0.109 → 0.013</a:t>
            </a:r>
            <a:br>
              <a:rPr dirty="0"/>
            </a:b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탐험이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커지면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학습한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가치도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감소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Q-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Learning의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572" b="1" dirty="0" err="1">
                <a:solidFill>
                  <a:srgbClr val="080808"/>
                </a:solidFill>
                <a:latin typeface="Pretendard"/>
                <a:ea typeface="Pretendard"/>
              </a:rPr>
              <a:t>Q는</a:t>
            </a:r>
            <a:r>
              <a:rPr sz="1572" b="1" dirty="0">
                <a:solidFill>
                  <a:srgbClr val="080808"/>
                </a:solidFill>
                <a:latin typeface="Pretendard"/>
                <a:ea typeface="Pretendard"/>
              </a:rPr>
              <a:t> 약 0.478.</a:t>
            </a:r>
          </a:p>
        </p:txBody>
      </p:sp>
      <p:pic>
        <p:nvPicPr>
          <p:cNvPr id="11" name="ImageSlot" descr="epsilon_q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327141"/>
            <a:ext cx="5334000" cy="46799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SARSA · ε </a:t>
            </a:r>
            <a:r>
              <a:rPr 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18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ε=0.01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ε=0.1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ε=0.3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ε=0.5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탐험률이 커지면 학습한 Q와 평가 보상이 감소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Q </a:t>
            </a:r>
            <a:r>
              <a:rPr lang="en-US" sz="1655" b="1" dirty="0">
                <a:solidFill>
                  <a:srgbClr val="080808"/>
                </a:solidFill>
                <a:latin typeface="Pretendard"/>
                <a:ea typeface="Pretendard"/>
              </a:rPr>
              <a:t>: 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0.411 / 0.340 / 0.109 / 0.013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G: 0.363 / 0.310 / 0.176 / 0.027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</a:t>
            </a:r>
          </a:p>
        </p:txBody>
      </p:sp>
      <p:pic>
        <p:nvPicPr>
          <p:cNvPr id="18" name="ImageSlot1" descr="q_epsilon_0.01_10000__SAR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baseline_10000__SAR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epsilon_0.3_10000__SAR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epsilon_0.5_10000__SAR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Q-Learning · ε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ε=0.01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ε=0.1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ε=0.3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ε=0.5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ε=0.3, 0.5에서 최적 행동 일치 100%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Q : 0.478 / 0.478 / 0.478 / 0.478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G: 0.404 / 0.410 / 0.414 / 0.414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</a:t>
            </a:r>
          </a:p>
        </p:txBody>
      </p:sp>
      <p:pic>
        <p:nvPicPr>
          <p:cNvPr id="18" name="ImageSlot1" descr="q_epsilon_0.01_10000__Q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baseline_10000__Q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epsilon_0.3_10000__Q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epsilon_0.3_10000__Q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α ·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학습·정책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학습률만 변경 · 실제 평가 보상 비교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변경: α=0.05, 0.2, 0.4, 0.8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고정: E=10,000, ε=0.1, γ=0.9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SARSA의 평가 할인 보상 G: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0.395, 0.392, 0.387, 0.310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기본 α=0.8보다 작은 α에서 높게 관찰.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Q-Learning의 평가 할인 보상 G: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0.404, 0.411, 0.409, 0.410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네 조건에서 비슷한 평균 보상을 관찰.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평가 ε=0.1, γ=0.9로 동일하게 고정.</a:t>
            </a:r>
          </a:p>
        </p:txBody>
      </p:sp>
      <p:pic>
        <p:nvPicPr>
          <p:cNvPr id="11" name="ImageSlot" descr="alpha_rew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328734"/>
            <a:ext cx="5334000" cy="467678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SARSA · α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α=0.05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α=0.2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α=0.4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α=0.8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작은 α에서 기본 설정보다 높은 평가 보상 관찰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Q : 0.396 / 0.403 / 0.399 / 0.340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G: 0.395 / 0.392 / 0.387 / 0.310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</a:t>
            </a:r>
          </a:p>
        </p:txBody>
      </p:sp>
      <p:pic>
        <p:nvPicPr>
          <p:cNvPr id="18" name="ImageSlot1" descr="q_alpha_0.05_10000__SAR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alpha_0.2_10000__SAR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alpha_0.4_10000__SAR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baseline_10000__SAR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Q-Learning · α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α=0.05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α=0.2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α=0.4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α=0.8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네 학습률에서 비슷한 평균 평가 보상 관찰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Q : 0.478 / 0.478 / 0.478 / 0.478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G: 0.404 / 0.411 / 0.409 / 0.410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</a:t>
            </a:r>
          </a:p>
        </p:txBody>
      </p:sp>
      <p:pic>
        <p:nvPicPr>
          <p:cNvPr id="18" name="ImageSlot1" descr="q_alpha_0.05_10000__Q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alpha_0.2_10000__Q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alpha_0.4_10000__Q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baseline_10000__QLe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γ ·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가치·정책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할인율만 변경 · 미래 보상 크기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변경: γ=0.5, 0.7, 0.9, 0.99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고정: E=10,000, ε=0.1, α=0.8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Q-Learning의 시작점 최대 Q: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0.0078, 0.0824, 0.4783, 0.9321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8-step 최적 경로의 γ⁷와 일치.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SARSA 평균 최대 Q: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0.0033, 0.0411, 0.3401, 0.6951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큰 Q만으로 좋은 정책이라 볼 수 없음.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정책 보상은 평가 γ=0.9로 비교.</a:t>
            </a:r>
          </a:p>
        </p:txBody>
      </p:sp>
      <p:pic>
        <p:nvPicPr>
          <p:cNvPr id="11" name="ImageSlot" descr="gamma_q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325546"/>
            <a:ext cx="5334000" cy="468315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SARSA · γ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γ=0.5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γ=0.7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γ=0.9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γ=0.99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Q의 크기는 증가하지만 평가 보상은 단조 증가하지 않음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Q : 0.0033 / 0.0411 / 0.3401 / 0.6951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G: 0.234 / 0.230 / 0.310 / 0.261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</a:t>
            </a:r>
          </a:p>
        </p:txBody>
      </p:sp>
      <p:pic>
        <p:nvPicPr>
          <p:cNvPr id="18" name="ImageSlot1" descr="q_gamma_0.5_10000__SAR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gamma_0.7_10000__SAR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baseline_10000__SAR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gamma_0.99_10000__SAR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Q-Learning · γ </a:t>
            </a:r>
            <a:r>
              <a:rPr lang="en-US" altLang="ko-KR" sz="3000" b="1" dirty="0">
                <a:solidFill>
                  <a:srgbClr val="FFFFFF"/>
                </a:solidFill>
                <a:latin typeface="Pretendard"/>
                <a:ea typeface="Pretendard"/>
              </a:rPr>
              <a:t>ablation </a:t>
            </a:r>
            <a:r>
              <a:rPr lang="ko-KR" alt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실험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ImageTitle1"/>
          <p:cNvSpPr txBox="1"/>
          <p:nvPr/>
        </p:nvSpPr>
        <p:spPr>
          <a:xfrm>
            <a:off x="342900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γ=0.5</a:t>
            </a:r>
          </a:p>
        </p:txBody>
      </p:sp>
      <p:sp>
        <p:nvSpPr>
          <p:cNvPr id="8" name="ImageTitle2"/>
          <p:cNvSpPr txBox="1"/>
          <p:nvPr/>
        </p:nvSpPr>
        <p:spPr>
          <a:xfrm>
            <a:off x="3214687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γ=0.7</a:t>
            </a:r>
          </a:p>
        </p:txBody>
      </p:sp>
      <p:sp>
        <p:nvSpPr>
          <p:cNvPr id="10" name="ImageTitle3"/>
          <p:cNvSpPr txBox="1"/>
          <p:nvPr/>
        </p:nvSpPr>
        <p:spPr>
          <a:xfrm>
            <a:off x="6086475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γ=0.9</a:t>
            </a:r>
          </a:p>
        </p:txBody>
      </p:sp>
      <p:sp>
        <p:nvSpPr>
          <p:cNvPr id="12" name="ImageTitle4"/>
          <p:cNvSpPr txBox="1"/>
          <p:nvPr/>
        </p:nvSpPr>
        <p:spPr>
          <a:xfrm>
            <a:off x="8958262" y="1054100"/>
            <a:ext cx="2667000" cy="3556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γ=0.99</a:t>
            </a:r>
          </a:p>
        </p:txBody>
      </p:sp>
      <p:sp>
        <p:nvSpPr>
          <p:cNvPr id="14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시작점 Q는 γ⁷ · 평가 보상은 약 0.41 유지</a:t>
            </a:r>
          </a:p>
        </p:txBody>
      </p:sp>
      <p:sp>
        <p:nvSpPr>
          <p:cNvPr id="17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Q : 0.0078 / 0.0824 / 0.4783 / 0.9321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G: 0.412 / 0.411 / 0.410 / 0.410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</a:t>
            </a:r>
          </a:p>
        </p:txBody>
      </p:sp>
      <p:pic>
        <p:nvPicPr>
          <p:cNvPr id="18" name="ImageSlot1" descr="q_gamma_0.5_10000__Q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97468"/>
            <a:ext cx="2667000" cy="2669262"/>
          </a:xfrm>
          <a:prstGeom prst="rect">
            <a:avLst/>
          </a:prstGeom>
        </p:spPr>
      </p:pic>
      <p:pic>
        <p:nvPicPr>
          <p:cNvPr id="19" name="ImageSlot2" descr="q_gamma_0.7_10000__Q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687" y="1497468"/>
            <a:ext cx="2667000" cy="2669262"/>
          </a:xfrm>
          <a:prstGeom prst="rect">
            <a:avLst/>
          </a:prstGeom>
        </p:spPr>
      </p:pic>
      <p:pic>
        <p:nvPicPr>
          <p:cNvPr id="20" name="ImageSlot3" descr="q_baseline_10000__Q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475" y="1497468"/>
            <a:ext cx="2667000" cy="2669262"/>
          </a:xfrm>
          <a:prstGeom prst="rect">
            <a:avLst/>
          </a:prstGeom>
        </p:spPr>
      </p:pic>
      <p:pic>
        <p:nvPicPr>
          <p:cNvPr id="21" name="ImageSlot4" descr="q_gamma_0.99_10000__QLe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262" y="1497468"/>
            <a:ext cx="2667000" cy="266926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SARSA · 순환 사례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7" name="Panel"/>
          <p:cNvSpPr/>
          <p:nvPr/>
        </p:nvSpPr>
        <p:spPr>
          <a:xfrm>
            <a:off x="6115050" y="1266825"/>
            <a:ext cx="5715000" cy="485775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67450" y="1781175"/>
            <a:ext cx="5410200" cy="419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324600" y="1314450"/>
            <a:ext cx="52578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기본 설정의 seed 1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6419850" y="1933575"/>
            <a:ext cx="5105400" cy="38862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시작점에서 (4행, 3열)로 이동.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이 칸의 최대 Q 행동은 위쪽.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위쪽 (3행, 3열)은 장애물임.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위 행동 Q = 0.009138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왼쪽 행동 Q = 0.009119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아래 Q = −0.003636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오른쪽 Q = −0.064862</a:t>
            </a:r>
            <a:br/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ε=0에서는 제자리 이동을 반복함.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ε&gt;0에서는 무작위 행동으로 탈출 가능.</a:t>
            </a:r>
            <a:br/>
            <a:r>
              <a:rPr sz="1572" b="1">
                <a:solidFill>
                  <a:srgbClr val="080808"/>
                </a:solidFill>
                <a:latin typeface="Pretendard"/>
                <a:ea typeface="Pretendard"/>
              </a:rPr>
              <a:t>따라서 두 평가 결과가 달라질 수 있음.</a:t>
            </a:r>
          </a:p>
        </p:txBody>
      </p:sp>
      <p:pic>
        <p:nvPicPr>
          <p:cNvPr id="11" name="ImageSlot" descr="sarsa_loop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238250"/>
            <a:ext cx="4857750" cy="48577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SARSA · </a:t>
            </a:r>
            <a:r>
              <a:rPr 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ablation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27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76250" y="1162050"/>
          <a:ext cx="11239500" cy="3028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실험 항목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관찰한 결과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해석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Episode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G: 0.288 → 0.310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추가 학습 후에도 변동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ε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Q: 0.411 → 0.013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탐험 손실을 가치에 반영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α=0.05의 G: 0.395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기본 G=0.310보다 높음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γ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γ=0.9의 G: 0.310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Q 크기와 보상을 구분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기본 정책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최적 행동 일치 69.1%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일부 상태에서 순환 관찰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SARSA · 실제 선택한 다음 행동의 Q를 갱신 목표에 사용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각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변수만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하나씩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변경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고정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높은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고정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α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에서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정책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변동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관찰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작은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α의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보상이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더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높게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관찰됨</a:t>
            </a:r>
            <a:endParaRPr sz="1655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547971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Q-Learning · </a:t>
            </a:r>
            <a:r>
              <a:rPr lang="en-US" sz="3000" b="1" dirty="0">
                <a:solidFill>
                  <a:srgbClr val="FFFFFF"/>
                </a:solidFill>
                <a:latin typeface="Pretendard"/>
                <a:ea typeface="Pretendard"/>
              </a:rPr>
              <a:t>ablation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  <a:r>
              <a:rPr sz="30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3000" b="1" dirty="0" err="1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  <a:endParaRPr sz="30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76250" y="1162050"/>
          <a:ext cx="11239500" cy="3028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실험 항목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관찰한 결과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해석</a:t>
                      </a:r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Episode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G: 0.402 → 0.410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전체 상태의 정책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ε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ε=0.3의 행동 일치 100%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탐험으로 방문 범위 확대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G: 0.404 ~ 0.411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평가 보상 차이가 작음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γ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시작점 Q는 γ⁷와 일치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평가 G는 약 0.41 유지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기본 정책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최적 행동 일치 92.0%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spcAft>
                          <a:spcPts val="800"/>
                        </a:spcAft>
                      </a:pPr>
                      <a:r>
                        <a:rPr sz="1655" b="1">
                          <a:solidFill>
                            <a:srgbClr val="080808"/>
                          </a:solidFill>
                          <a:latin typeface="Pretendard"/>
                          <a:ea typeface="Pretendard"/>
                        </a:rPr>
                        <a:t>시작점 Q=0.4783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Panel"/>
          <p:cNvSpPr/>
          <p:nvPr/>
        </p:nvSpPr>
        <p:spPr>
          <a:xfrm>
            <a:off x="476250" y="4457700"/>
            <a:ext cx="11239500" cy="19812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anelInterior"/>
          <p:cNvSpPr/>
          <p:nvPr/>
        </p:nvSpPr>
        <p:spPr>
          <a:xfrm>
            <a:off x="628650" y="4972050"/>
            <a:ext cx="10934700" cy="1314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anelTitle"/>
          <p:cNvSpPr txBox="1"/>
          <p:nvPr/>
        </p:nvSpPr>
        <p:spPr>
          <a:xfrm>
            <a:off x="685800" y="4495800"/>
            <a:ext cx="10820400" cy="3810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30" b="1">
                <a:solidFill>
                  <a:srgbClr val="FFFFFF"/>
                </a:solidFill>
                <a:latin typeface="Pretendard"/>
                <a:ea typeface="Pretendard"/>
              </a:rPr>
              <a:t>• Q-Learning · 다음 상태의 최대 Q를 갱신 목표에 사용</a:t>
            </a:r>
          </a:p>
        </p:txBody>
      </p:sp>
      <p:sp>
        <p:nvSpPr>
          <p:cNvPr id="10" name="PanelBody"/>
          <p:cNvSpPr txBox="1"/>
          <p:nvPr/>
        </p:nvSpPr>
        <p:spPr>
          <a:xfrm>
            <a:off x="781050" y="5124450"/>
            <a:ext cx="10629900" cy="633443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각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변수만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하나씩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변경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ε=0.1, γ=0.9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고정</a:t>
            </a:r>
            <a:br>
              <a:rPr dirty="0"/>
            </a:b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가치와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전체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상태의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학습은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구분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·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최적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행동</a:t>
            </a:r>
            <a:r>
              <a:rPr sz="1655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1655" b="1" dirty="0" err="1">
                <a:solidFill>
                  <a:srgbClr val="080808"/>
                </a:solidFill>
                <a:latin typeface="Pretendard"/>
                <a:ea typeface="Pretendard"/>
              </a:rPr>
              <a:t>일치</a:t>
            </a:r>
            <a:endParaRPr sz="1655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결론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29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ExplanationBox"/>
          <p:cNvSpPr/>
          <p:nvPr/>
        </p:nvSpPr>
        <p:spPr>
          <a:xfrm>
            <a:off x="257175" y="1085850"/>
            <a:ext cx="11677650" cy="52578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ExplanationBoxInterior"/>
          <p:cNvSpPr/>
          <p:nvPr/>
        </p:nvSpPr>
        <p:spPr>
          <a:xfrm>
            <a:off x="409575" y="1238250"/>
            <a:ext cx="11372850" cy="495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ody"/>
          <p:cNvSpPr txBox="1"/>
          <p:nvPr/>
        </p:nvSpPr>
        <p:spPr>
          <a:xfrm>
            <a:off x="561975" y="1390650"/>
            <a:ext cx="11068050" cy="4122860"/>
          </a:xfrm>
          <a:prstGeom prst="rect">
            <a:avLst/>
          </a:prstGeom>
          <a:noFill/>
        </p:spPr>
        <p:txBody>
          <a:bodyPr wrap="square" lIns="19050" tIns="0" rIns="1905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Q-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Learning은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최적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행동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가치를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목표로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학습</a:t>
            </a: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기본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설정의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시작점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Q=0.4783 ·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학습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ε가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커지면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방문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범위가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확대됨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SARSA는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탐험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행동의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손실을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가치에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반영</a:t>
            </a: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기본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α=0.8보다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작은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α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에서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평가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보상이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높게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관찰됨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정책은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실제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보상과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상태별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행동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선택으로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비교</a:t>
            </a:r>
            <a:r>
              <a:rPr lang="en-US" sz="2200" b="1" dirty="0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br>
              <a:rPr dirty="0"/>
            </a:b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•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같은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lang="en-US" sz="2200" b="1" dirty="0">
                <a:solidFill>
                  <a:srgbClr val="080808"/>
                </a:solidFill>
                <a:latin typeface="Pretendard"/>
                <a:ea typeface="Pretendard"/>
              </a:rPr>
              <a:t>ablation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조건끼리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Q·보상·정책을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종합</a:t>
            </a:r>
            <a:br>
              <a:rPr dirty="0"/>
            </a:b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γ가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다르면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Q의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크기도</a:t>
            </a:r>
            <a:r>
              <a:rPr sz="2200" b="1" dirty="0">
                <a:solidFill>
                  <a:srgbClr val="080808"/>
                </a:solidFill>
                <a:latin typeface="Pretendard"/>
                <a:ea typeface="Pretendard"/>
              </a:rPr>
              <a:t> </a:t>
            </a:r>
            <a:r>
              <a:rPr sz="2200" b="1" dirty="0" err="1">
                <a:solidFill>
                  <a:srgbClr val="080808"/>
                </a:solidFill>
                <a:latin typeface="Pretendard"/>
                <a:ea typeface="Pretendard"/>
              </a:rPr>
              <a:t>달라짐</a:t>
            </a:r>
            <a:r>
              <a:rPr lang="en-US" sz="2200" b="1">
                <a:solidFill>
                  <a:srgbClr val="080808"/>
                </a:solidFill>
                <a:latin typeface="Pretendard"/>
                <a:ea typeface="Pretendard"/>
              </a:rPr>
              <a:t>.</a:t>
            </a:r>
            <a:endParaRPr sz="2200" b="1" dirty="0">
              <a:solidFill>
                <a:srgbClr val="080808"/>
              </a:solidFill>
              <a:latin typeface="Pretendard"/>
              <a:ea typeface="Pretendar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2124</Words>
  <Application>Microsoft Office PowerPoint</Application>
  <PresentationFormat>와이드스크린</PresentationFormat>
  <Paragraphs>210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 week6</dc:title>
  <dc:subject>SARSA, Q-Learning · 변수별 어블레이션</dc:subject>
  <dc:creator>지능로봇공학과 김민재 2021042040</dc:creator>
  <cp:keywords/>
  <dc:description>generated using python-pptx</dc:description>
  <cp:lastModifiedBy>김민재</cp:lastModifiedBy>
  <cp:revision>14</cp:revision>
  <dcterms:created xsi:type="dcterms:W3CDTF">2013-01-27T09:14:16Z</dcterms:created>
  <dcterms:modified xsi:type="dcterms:W3CDTF">2026-10-13T15:59:02Z</dcterms:modified>
  <cp:category/>
  <dc:language>ko-KR</dc:language>
</cp:coreProperties>
</file>