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15.png"/><Relationship Id="rId5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Background"/>
          <p:cNvSpPr/>
          <p:nvPr/>
        </p:nvSpPr>
        <p:spPr>
          <a:xfrm>
            <a:off x="0" y="0"/>
            <a:ext cx="12192000" cy="567690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Separator"/>
          <p:cNvSpPr/>
          <p:nvPr/>
        </p:nvSpPr>
        <p:spPr>
          <a:xfrm>
            <a:off x="0" y="771525"/>
            <a:ext cx="12192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"/>
          <p:cNvSpPr txBox="1"/>
          <p:nvPr/>
        </p:nvSpPr>
        <p:spPr>
          <a:xfrm>
            <a:off x="190500" y="0"/>
            <a:ext cx="2857500" cy="863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4056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5" name="CoverTitle"/>
          <p:cNvSpPr txBox="1"/>
          <p:nvPr/>
        </p:nvSpPr>
        <p:spPr>
          <a:xfrm>
            <a:off x="476250" y="1295400"/>
            <a:ext cx="11239500" cy="2413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강화학습 week6</a:t>
            </a:r>
            <a:br/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SARSA, Q-Learning</a:t>
            </a:r>
          </a:p>
        </p:txBody>
      </p:sp>
      <p:sp>
        <p:nvSpPr>
          <p:cNvPr id="6" name="Author"/>
          <p:cNvSpPr txBox="1"/>
          <p:nvPr/>
        </p:nvSpPr>
        <p:spPr>
          <a:xfrm>
            <a:off x="285750" y="6019800"/>
            <a:ext cx="11620500" cy="4953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지능로봇공학과 김민재 2021042040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ntentsTitle1"/>
          <p:cNvSpPr txBox="1"/>
          <p:nvPr/>
        </p:nvSpPr>
        <p:spPr>
          <a:xfrm>
            <a:off x="4543425" y="1244600"/>
            <a:ext cx="7286625" cy="508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56" b="1">
                <a:solidFill>
                  <a:srgbClr val="080808"/>
                </a:solidFill>
                <a:latin typeface="Pretendard"/>
                <a:ea typeface="Pretendard"/>
              </a:rPr>
              <a:t>1. 환경과 알고리즘</a:t>
            </a:r>
          </a:p>
        </p:txBody>
      </p:sp>
      <p:sp>
        <p:nvSpPr>
          <p:cNvPr id="7" name="ContentsBody1"/>
          <p:cNvSpPr txBox="1"/>
          <p:nvPr/>
        </p:nvSpPr>
        <p:spPr>
          <a:xfrm>
            <a:off x="4781550" y="1841500"/>
            <a:ext cx="7048500" cy="952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5×5 Grid World의 보상·종료 규칙</a:t>
            </a:r>
            <a:br/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SARSA, Q-Learning의 갱신식</a:t>
            </a:r>
          </a:p>
        </p:txBody>
      </p:sp>
      <p:sp>
        <p:nvSpPr>
          <p:cNvPr id="8" name="ContentsTitle2"/>
          <p:cNvSpPr txBox="1"/>
          <p:nvPr/>
        </p:nvSpPr>
        <p:spPr>
          <a:xfrm>
            <a:off x="4543425" y="2997200"/>
            <a:ext cx="7286625" cy="508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56" b="1">
                <a:solidFill>
                  <a:srgbClr val="080808"/>
                </a:solidFill>
                <a:latin typeface="Pretendard"/>
                <a:ea typeface="Pretendard"/>
              </a:rPr>
              <a:t>2. 코드와 학습 결과</a:t>
            </a:r>
          </a:p>
        </p:txBody>
      </p:sp>
      <p:sp>
        <p:nvSpPr>
          <p:cNvPr id="9" name="ContentsBody2"/>
          <p:cNvSpPr txBox="1"/>
          <p:nvPr/>
        </p:nvSpPr>
        <p:spPr>
          <a:xfrm>
            <a:off x="4781550" y="3568700"/>
            <a:ext cx="7048500" cy="952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SARSA, Q-Learning의 핵심 코드</a:t>
            </a:r>
            <a:br/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학습 곡선 · Q-value · 정책 비교</a:t>
            </a:r>
          </a:p>
        </p:txBody>
      </p:sp>
      <p:sp>
        <p:nvSpPr>
          <p:cNvPr id="10" name="ContentsTitle3"/>
          <p:cNvSpPr txBox="1"/>
          <p:nvPr/>
        </p:nvSpPr>
        <p:spPr>
          <a:xfrm>
            <a:off x="4543425" y="4749800"/>
            <a:ext cx="7286625" cy="508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56" b="1">
                <a:solidFill>
                  <a:srgbClr val="080808"/>
                </a:solidFill>
                <a:latin typeface="Pretendard"/>
                <a:ea typeface="Pretendard"/>
              </a:rPr>
              <a:t>3. 어블레이션 실험</a:t>
            </a:r>
          </a:p>
        </p:txBody>
      </p:sp>
      <p:sp>
        <p:nvSpPr>
          <p:cNvPr id="11" name="ContentsBody3"/>
          <p:cNvSpPr txBox="1"/>
          <p:nvPr/>
        </p:nvSpPr>
        <p:spPr>
          <a:xfrm>
            <a:off x="4781550" y="5321300"/>
            <a:ext cx="7048500" cy="952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Episode · ε · α · γ를 하나씩 변경</a:t>
            </a:r>
            <a:br/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고정 평가 조건에서 결과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5×5 Grid World · 환경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과제의 배치와 환경 규칙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시작 (5,1), 목표 (1,5)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벽 (3,2), (3,3)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폭탄 (1,4), (4,5)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일반 보상 0, 폭탄 −1, 목표 +1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폭탄에 들어가도 이동을 계속함.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목표에 도착하면 Episode 종료.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벽·경계 방향으로 움직이면 제자리.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폭탄을 피하는 최단 경로는 8 steps.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좌표는 행·열, 1부터 표기함.</a:t>
            </a:r>
          </a:p>
        </p:txBody>
      </p:sp>
      <p:pic>
        <p:nvPicPr>
          <p:cNvPr id="11" name="ImageSlot" descr="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1238249"/>
            <a:ext cx="48577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On-policy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14:m xmlns:a14="http://schemas.microsoft.com/office/drawing/2010/main" xmlns:m="http://schemas.openxmlformats.org/officeDocument/2006/math">
              <m:oMathPara>
                <m:oMathParaPr>
                  <m:jc m:val="left"/>
                </m:oMathParaPr>
                <m:oMath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← 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+ α[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R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t+1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+ γ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t+1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t+1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− 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]</m:t>
                  </m:r>
                </m:oMath>
              </m:oMathPara>
            </a14:m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다음 행동 Aₜ₊₁을 ε-greedy로 선택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실제로 선택한 행동의 Q를 갱신 목표에 사용.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행동정책의 기대 할인 보상을 학습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탐험으로 생기는 손실도 Q 갱신에 반영.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목표 도착 시 다음 Q는 0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새 5×5 코드에 원본의 SARSA 갱신식을 적용.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Off-policy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quation"/>
          <p:cNvSpPr txBox="1"/>
          <p:nvPr/>
        </p:nvSpPr>
        <p:spPr>
          <a:xfrm>
            <a:off x="342900" y="1460500"/>
            <a:ext cx="11487150" cy="5588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14:m xmlns:a14="http://schemas.microsoft.com/office/drawing/2010/main" xmlns:m="http://schemas.openxmlformats.org/officeDocument/2006/math">
              <m:oMathPara>
                <m:oMathParaPr>
                  <m:jc m:val="left"/>
                </m:oMathParaPr>
                <m:oMath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← 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+ α[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R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t+1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+ γ</m:t>
                  </m:r>
                  <m:limLow>
                    <m:e>
                      <m:r>
                        <m:rPr>
                          <m:sty m:val="p"/>
                          <m:nor/>
                        </m:rPr>
                        <a:rPr sz="2200" b="1">
                          <a:latin typeface="Pretendard"/>
                          <a:ea typeface="Pretendard"/>
                        </a:rPr>
                        <m:t>max</m:t>
                      </m:r>
                    </m:e>
                    <m:lim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lim>
                  </m:limLow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t+1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a)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 − 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Q(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S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, </m:t>
                  </m:r>
                  <m:sSub>
                    <m:e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A</m:t>
                      </m:r>
                    </m:e>
                    <m:sub>
                      <m:r>
                        <m:rPr>
                          <m:sty m:val="b"/>
                        </m:rPr>
                        <a:rPr sz="2200" b="1">
                          <a:latin typeface="Pretendard"/>
                          <a:ea typeface="Pretendard"/>
                        </a:rPr>
                        <m:t>t</m:t>
                      </m:r>
                    </m:sub>
                  </m:sSub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)</m:t>
                  </m:r>
                  <m:r>
                    <m:rPr>
                      <m:sty m:val="b"/>
                    </m:rPr>
                    <a:rPr sz="2200" b="1">
                      <a:latin typeface="Pretendard"/>
                      <a:ea typeface="Pretendard"/>
                    </a:rPr>
                    <m:t>]</m:t>
                  </m:r>
                </m:oMath>
              </m:oMathPara>
            </a14:m>
          </a:p>
        </p:txBody>
      </p:sp>
      <p:sp>
        <p:nvSpPr>
          <p:cNvPr id="7" name="ExplanationBox"/>
          <p:cNvSpPr/>
          <p:nvPr/>
        </p:nvSpPr>
        <p:spPr>
          <a:xfrm>
            <a:off x="257175" y="2413000"/>
            <a:ext cx="11677650" cy="39306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xplanationBoxInterior"/>
          <p:cNvSpPr/>
          <p:nvPr/>
        </p:nvSpPr>
        <p:spPr>
          <a:xfrm>
            <a:off x="409575" y="2565400"/>
            <a:ext cx="11372850" cy="3625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"/>
          <p:cNvSpPr txBox="1"/>
          <p:nvPr/>
        </p:nvSpPr>
        <p:spPr>
          <a:xfrm>
            <a:off x="561975" y="2717800"/>
            <a:ext cx="11068050" cy="33210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다음 상태에서 가능한 행동의 최대 Q 사용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행동은 ε-greedy로 선택하고 갱신 목표는 Greedy로 계산.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탐험과 학습 목표를 분리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충분히 방문한 상태·행동의 최적 Q를 학습.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목표 도착 시 다음 Q는 0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새 5×5 코드에 원본의 Q-Learning 갱신식을 적용.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어블레이션 · 실험 설계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실험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변경하는 변수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고정하는 학습 조건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기본 설정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변경 없음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E=10,000 · ε=0.1 · α=0.8 · γ=0.9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학습량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Episode 수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ε=0.1 · α=0.8 · γ=0.9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탐험률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ε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E=10,000 · α=0.8 · γ=0.9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학습률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α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E=10,000 · ε=0.1 · γ=0.9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할인율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γ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E=10,000 · ε=0.1 · α=0.8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한 변수씩 변경하고 평가 조건도 고정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Greedy 평가: ε=0 · 탐험 평가: ε=0.1 · 평가 할인율 γ=0.9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30개 시드 반복 · 탐험은 시드별 500회 · 최대 1,000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핵심 코드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deBackground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Body"/>
          <p:cNvSpPr txBox="1"/>
          <p:nvPr/>
        </p:nvSpPr>
        <p:spPr>
          <a:xfrm>
            <a:off x="495300" y="1419225"/>
            <a:ext cx="5029200" cy="45593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# train_one의 핵심 갱신 과정을 요약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nxt = ns[s, a]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r = rewards[s, a]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done = dones[s, a]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next_a = 0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if not done: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next_a = select_action(q, nxt, eps)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target = r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if not done: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target += gamma * q[nxt, next_a]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q[s, a] += alpha * (target - q[s, a])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if not done: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s, a = nxt, next_a</a:t>
            </a:r>
          </a:p>
        </p:txBody>
      </p:sp>
      <p:sp>
        <p:nvSpPr>
          <p:cNvPr id="8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선택한 다음 행동의 Q를 사용</a:t>
            </a:r>
          </a:p>
        </p:txBody>
      </p:sp>
      <p:sp>
        <p:nvSpPr>
          <p:cNvPr id="11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① ε-greedy로 next_a 선택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탐험이면 무작위, 아니면 최대 Q 행동.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② target에 q[nxt, next_a] 사용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실제로 선택한 다음 행동의 가치를 반영.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탐험 행동의 손실도 갱신 목표에 포함.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③ TD 오차를 α만큼 Q에 반영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갱신한 뒤 선택해 둔 next_a를 실행.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목표에서는 target=r, 다음 Q는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핵심 코드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CodeBackground"/>
          <p:cNvSpPr/>
          <p:nvPr/>
        </p:nvSpPr>
        <p:spPr>
          <a:xfrm>
            <a:off x="342900" y="1285875"/>
            <a:ext cx="5334000" cy="485775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Body"/>
          <p:cNvSpPr txBox="1"/>
          <p:nvPr/>
        </p:nvSpPr>
        <p:spPr>
          <a:xfrm>
            <a:off x="495300" y="1419225"/>
            <a:ext cx="5029200" cy="45593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# train_one의 핵심 갱신 과정을 요약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nxt = ns[s, a]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r = rewards[s, a]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done = dones[s, a]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target = r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if not done: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target += gamma * np.max(q[nxt])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q[s, a] += alpha * (target - q[s, a])</a:t>
            </a:r>
            <a:br/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if not done: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s = nxt</a:t>
            </a:r>
            <a:br/>
            <a:r>
              <a:rPr sz="1128" b="1">
                <a:solidFill>
                  <a:srgbClr val="F8F8F2"/>
                </a:solidFill>
                <a:latin typeface="Pretendard"/>
                <a:ea typeface="Pretendard"/>
              </a:rPr>
              <a:t>    a = select_action(q, s, eps)</a:t>
            </a:r>
          </a:p>
        </p:txBody>
      </p:sp>
      <p:sp>
        <p:nvSpPr>
          <p:cNvPr id="8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다음 상태의 최대 Q를 사용</a:t>
            </a:r>
          </a:p>
        </p:txBody>
      </p:sp>
      <p:sp>
        <p:nvSpPr>
          <p:cNvPr id="11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① target에 np.max(q[nxt]) 사용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다음 상태에서 가장 큰 행동 가치를 선택.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② TD 오차를 α만큼 Q에 반영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목표값 계산에는 탐험 행동을 쓰지 않음.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③ 실제 다음 행동은 ε-greedy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학습 목표와 행동 선택을 분리.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전이와 보상 규칙은 SARSA와 동일.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목표에서는 target=r, 다음 Q는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목표 도달 · 기본 설정 비교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 지표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SARSA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Q-Learning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Greedy 목표 도달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22/30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30/30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Greedy 8-step 최단 경로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19/30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30/30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 할인 보상 G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0.310 ± 0.150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0.410 ± 0.006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 이동 수 / Episode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25.13 ± 28.16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8.90 ± 0.04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 폭탄 진입 / Episode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0.043 ± 0.018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0.054 ± 0.011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고정한 정책과 탐험 중 성능의 차이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Q-Learning은 30개 시드 모두 최단 경로 · 표의 ±는 시드 간 SD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SARSA는 일부 시드에서 순환 · 높은 고정 α의 영향을 추가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학습 과정 · 할인 보상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같은 조건에서 실제 훈련 보상 비교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고정: ε=0.1, α=0.8, γ=0.9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100 Episode 블록 평균 · 실제 훈련 기록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SARSA: 첫 100회 → 마지막 500회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할인 보상 G: 0.259 → 0.321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Q-Learning: 같은 구간 비교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할인 보상 G: 0.368 → 0.412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두 방법 모두 초기에 보상이 개선됨.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후반에는 고정 탐험으로 변동이 남음.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음영은 30개 시드 평균의 ±1 SE.</a:t>
            </a:r>
          </a:p>
        </p:txBody>
      </p:sp>
      <p:pic>
        <p:nvPicPr>
          <p:cNvPr id="11" name="ImageSlot" descr="learning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28734"/>
            <a:ext cx="5334000" cy="46767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Q-value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기본 설정의 학습 결과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α=0.8, γ=0.9, ε=0.1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10,000 Episode, 대표 시드 0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삼각형: 위·아래·왼쪽·오른쪽 행동.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양수 Q는 초록, 음수 Q는 붉은색.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색 범위는 각 그림의 최대 절댓값 기준.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시작점의 위 행동 Q ≈ 0.309.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탐험이 계속되는 정책의 가치를 학습.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폭탄 −1은 들어갈 때 받는 보상.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폭탄 칸의 Q 자체가 −1인 것은 아님.</a:t>
            </a:r>
          </a:p>
        </p:txBody>
      </p:sp>
      <p:pic>
        <p:nvPicPr>
          <p:cNvPr id="11" name="ImageSlot" descr="sarsa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1238249"/>
            <a:ext cx="48577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Q-value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기본 설정의 학습 결과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α=0.8, γ=0.9, ε=0.1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10,000 Episode, 대표 시드 0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양수 Q는 초록, 음수 Q는 붉은색.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목표로 바로 가는 행동의 Q는 1.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시작점 최대 Q ≈ 0.4783.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8-step 최단 경로의 γ⁷와 일치.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방문이 적은 칸에는 Q=0도 남아 있음.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시작점의 최적 경로를 학습해도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모든 상태·행동의 학습 완료는 별개.</a:t>
            </a:r>
          </a:p>
        </p:txBody>
      </p:sp>
      <p:pic>
        <p:nvPicPr>
          <p:cNvPr id="11" name="ImageSlot" descr="qlearning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4" y="1238249"/>
            <a:ext cx="48577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Greedy Policy · 대표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LeftTitle"/>
          <p:cNvSpPr txBox="1"/>
          <p:nvPr/>
        </p:nvSpPr>
        <p:spPr>
          <a:xfrm>
            <a:off x="342900" y="1130300"/>
            <a:ext cx="5334000" cy="406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SARSA · 8 steps</a:t>
            </a:r>
          </a:p>
        </p:txBody>
      </p:sp>
      <p:sp>
        <p:nvSpPr>
          <p:cNvPr id="7" name="RightTitle"/>
          <p:cNvSpPr txBox="1"/>
          <p:nvPr/>
        </p:nvSpPr>
        <p:spPr>
          <a:xfrm>
            <a:off x="6115050" y="1130300"/>
            <a:ext cx="5715000" cy="406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Q-Learning · 8 steps</a:t>
            </a:r>
          </a:p>
        </p:txBody>
      </p:sp>
      <p:sp>
        <p:nvSpPr>
          <p:cNvPr id="10" name="Caption"/>
          <p:cNvSpPr txBox="1"/>
          <p:nvPr/>
        </p:nvSpPr>
        <p:spPr>
          <a:xfrm>
            <a:off x="342900" y="6159500"/>
            <a:ext cx="1148715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800" b="1">
                <a:solidFill>
                  <a:srgbClr val="080808"/>
                </a:solidFill>
                <a:latin typeface="Pretendard"/>
                <a:ea typeface="Pretendard"/>
              </a:rPr>
              <a:t>• 최적 행동 일치: SARSA 69.1% · Q-Learning 92.0% (22개 상태, 30개 시드 평균)</a:t>
            </a:r>
          </a:p>
        </p:txBody>
      </p:sp>
      <p:pic>
        <p:nvPicPr>
          <p:cNvPr id="11" name="LeftImageSlot" descr="sarsa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625600"/>
            <a:ext cx="4368800" cy="4368800"/>
          </a:xfrm>
          <a:prstGeom prst="rect">
            <a:avLst/>
          </a:prstGeom>
        </p:spPr>
      </p:pic>
      <p:pic>
        <p:nvPicPr>
          <p:cNvPr id="12" name="RightImageSlot" descr="qlearning_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0" y="1625600"/>
            <a:ext cx="43688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Episode · 학습 어블레이션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학습량만 변경 · 실제 평가 보상 비교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변경: 100, 500, 2,000, 10,000회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고정: ε=0.1, α=0.8, γ=0.9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SARSA의 평가 할인 보상 G: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0.288 → 0.263 → 0.289 → 0.310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Q-Learning의 평가 할인 보상 G: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0.402 → 0.405 → 0.408 → 0.410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Q-Learning은 보상이 완만히 증가.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SARSA는 학습량에 따른 변동이 관찰됨.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평가 ε=0.1, γ=0.9로 동일하게 고정.</a:t>
            </a:r>
          </a:p>
        </p:txBody>
      </p:sp>
      <p:pic>
        <p:nvPicPr>
          <p:cNvPr id="11" name="ImageSlot" descr="episodes_rewar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33500"/>
            <a:ext cx="533400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Episode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100 Episode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500 Episode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2,000 Episode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10,000 Episode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학습량이 늘어도 평가 보상은 변동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0.272 / 0.364 / 0.353 / 0.340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0.288 / 0.263 / 0.289 / 0.310 · 평가 ε=0.1, γ=0.9</a:t>
            </a:r>
          </a:p>
        </p:txBody>
      </p:sp>
      <p:pic>
        <p:nvPicPr>
          <p:cNvPr id="18" name="ImageSlot1" descr="q_baseline_100__S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baseline_500__SA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baseline_2000__SAR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baseline_10000__SAR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Episode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100 Episode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500 Episode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2,000 Episode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10,000 Episode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추가 학습으로 전체 상태의 정책이 개선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0.478 / 0.478 / 0.478 / 0.478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0.402 / 0.405 / 0.408 / 0.410 · 평가 ε=0.1, γ=0.9</a:t>
            </a:r>
          </a:p>
        </p:txBody>
      </p:sp>
      <p:pic>
        <p:nvPicPr>
          <p:cNvPr id="18" name="ImageSlot1" descr="q_baseline_100_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baseline_500__Q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baseline_2000__Q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baseline_10000__QLe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ε · 가치·정책 어블레이션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탐험률만 변경 · 시작점 Q 비교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변경: ε=0.01, 0.1, 0.3, 0.5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고정: E=10,000, α=0.8, γ=0.9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SARSA의 평균 최대 Q: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0.411 → 0.340 → 0.109 → 0.013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탐험이 커지면 학습한 가치도 감소.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Q-Learning의 시작점 Q는 약 0.478.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전체 상태의 최적 행동 일치율: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Q-Learning: 69.8% → 100%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ε=0.01 → 0.3에서 방문 범위가 확대됨.</a:t>
            </a:r>
          </a:p>
        </p:txBody>
      </p:sp>
      <p:pic>
        <p:nvPicPr>
          <p:cNvPr id="11" name="ImageSlot" descr="epsilon_q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27141"/>
            <a:ext cx="5334000" cy="46799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ε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ε=0.01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ε=0.1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ε=0.3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ε=0.5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탐험률이 커지면 학습한 Q와 평가 보상이 감소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0.411 / 0.340 / 0.109 / 0.013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0.363 / 0.310 / 0.176 / 0.027 · 평가 ε=0.1, γ=0.9</a:t>
            </a:r>
          </a:p>
        </p:txBody>
      </p:sp>
      <p:pic>
        <p:nvPicPr>
          <p:cNvPr id="18" name="ImageSlot1" descr="q_epsilon_0.01_10000__S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baseline_10000__SA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epsilon_0.3_10000__SAR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epsilon_0.5_10000__SAR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ε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19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ε=0.01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ε=0.1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ε=0.3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ε=0.5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ε=0.3, 0.5에서 최적 행동 일치 100%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0.478 / 0.478 / 0.478 / 0.478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0.404 / 0.410 / 0.414 / 0.414 · 평가 ε=0.1, γ=0.9</a:t>
            </a:r>
          </a:p>
        </p:txBody>
      </p:sp>
      <p:pic>
        <p:nvPicPr>
          <p:cNvPr id="18" name="ImageSlot1" descr="q_epsilon_0.01_10000_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baseline_10000__Q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epsilon_0.3_10000__Q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epsilon_0.3_10000__Q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α · 학습·정책 어블레이션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20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학습률만 변경 · 실제 평가 보상 비교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변경: α=0.05, 0.2, 0.4, 0.8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고정: E=10,000, ε=0.1, γ=0.9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SARSA의 평가 할인 보상 G: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0.395, 0.392, 0.387, 0.310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기본 α=0.8보다 작은 α에서 높게 관찰.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Q-Learning의 평가 할인 보상 G: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0.404, 0.411, 0.409, 0.410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네 조건에서 비슷한 평균 보상을 관찰.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평가 ε=0.1, γ=0.9로 동일하게 고정.</a:t>
            </a:r>
          </a:p>
        </p:txBody>
      </p:sp>
      <p:pic>
        <p:nvPicPr>
          <p:cNvPr id="11" name="ImageSlot" descr="alpha_rewar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28734"/>
            <a:ext cx="5334000" cy="46767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α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21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α=0.05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α=0.2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α=0.4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α=0.8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작은 α에서 기본 설정보다 높은 평가 보상 관찰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0.396 / 0.403 / 0.399 / 0.340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0.395 / 0.392 / 0.387 / 0.310 · 평가 ε=0.1, γ=0.9</a:t>
            </a:r>
          </a:p>
        </p:txBody>
      </p:sp>
      <p:pic>
        <p:nvPicPr>
          <p:cNvPr id="18" name="ImageSlot1" descr="q_alpha_0.05_10000__S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alpha_0.2_10000__SA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alpha_0.4_10000__SAR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baseline_10000__SAR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α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22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α=0.05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α=0.2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α=0.4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α=0.8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네 학습률에서 비슷한 평균 평가 보상 관찰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0.478 / 0.478 / 0.478 / 0.478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0.404 / 0.411 / 0.409 / 0.410 · 평가 ε=0.1, γ=0.9</a:t>
            </a:r>
          </a:p>
        </p:txBody>
      </p:sp>
      <p:pic>
        <p:nvPicPr>
          <p:cNvPr id="18" name="ImageSlot1" descr="q_alpha_0.05_10000_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alpha_0.2_10000__Q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alpha_0.4_10000__Q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baseline_10000__QLe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γ · 가치·정책 어블레이션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할인율만 변경 · 미래 보상 크기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변경: γ=0.5, 0.7, 0.9, 0.99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고정: E=10,000, ε=0.1, α=0.8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Q-Learning의 시작점 최대 Q: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0.0078, 0.0824, 0.4783, 0.9321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8-step 최적 경로의 γ⁷와 일치.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SARSA 평균 최대 Q: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0.0033, 0.0411, 0.3401, 0.6951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큰 Q만으로 좋은 정책이라 볼 수 없음.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정책 보상은 평가 γ=0.9로 비교.</a:t>
            </a:r>
          </a:p>
        </p:txBody>
      </p:sp>
      <p:pic>
        <p:nvPicPr>
          <p:cNvPr id="11" name="ImageSlot" descr="gamma_q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325546"/>
            <a:ext cx="5334000" cy="46831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γ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24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γ=0.5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γ=0.7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γ=0.9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γ=0.99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Q의 크기는 증가하지만 평가 보상은 단조 증가하지 않음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0.0033 / 0.0411 / 0.3401 / 0.6951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0.234 / 0.230 / 0.310 / 0.261 · 평가 ε=0.1, γ=0.9</a:t>
            </a:r>
          </a:p>
        </p:txBody>
      </p:sp>
      <p:pic>
        <p:nvPicPr>
          <p:cNvPr id="18" name="ImageSlot1" descr="q_gamma_0.5_10000__S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gamma_0.7_10000__SAR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baseline_10000__SAR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gamma_0.99_10000__SAR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γ 어블레이션 · 시드 0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25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ImageTitle1"/>
          <p:cNvSpPr txBox="1"/>
          <p:nvPr/>
        </p:nvSpPr>
        <p:spPr>
          <a:xfrm>
            <a:off x="342900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γ=0.5</a:t>
            </a:r>
          </a:p>
        </p:txBody>
      </p:sp>
      <p:sp>
        <p:nvSpPr>
          <p:cNvPr id="8" name="ImageTitle2"/>
          <p:cNvSpPr txBox="1"/>
          <p:nvPr/>
        </p:nvSpPr>
        <p:spPr>
          <a:xfrm>
            <a:off x="3214687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γ=0.7</a:t>
            </a:r>
          </a:p>
        </p:txBody>
      </p:sp>
      <p:sp>
        <p:nvSpPr>
          <p:cNvPr id="10" name="ImageTitle3"/>
          <p:cNvSpPr txBox="1"/>
          <p:nvPr/>
        </p:nvSpPr>
        <p:spPr>
          <a:xfrm>
            <a:off x="6086475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γ=0.9</a:t>
            </a:r>
          </a:p>
        </p:txBody>
      </p:sp>
      <p:sp>
        <p:nvSpPr>
          <p:cNvPr id="12" name="ImageTitle4"/>
          <p:cNvSpPr txBox="1"/>
          <p:nvPr/>
        </p:nvSpPr>
        <p:spPr>
          <a:xfrm>
            <a:off x="8958262" y="1054100"/>
            <a:ext cx="2667000" cy="3556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875" b="1">
                <a:solidFill>
                  <a:srgbClr val="080808"/>
                </a:solidFill>
                <a:latin typeface="Pretendard"/>
                <a:ea typeface="Pretendard"/>
              </a:rPr>
              <a:t>γ=0.99</a:t>
            </a:r>
          </a:p>
        </p:txBody>
      </p:sp>
      <p:sp>
        <p:nvSpPr>
          <p:cNvPr id="14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시작점 Q는 γ⁷ · 평가 보상은 약 0.41 유지</a:t>
            </a:r>
          </a:p>
        </p:txBody>
      </p:sp>
      <p:sp>
        <p:nvSpPr>
          <p:cNvPr id="17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최대 Q (30개 시드 평균): 0.0078 / 0.0824 / 0.4783 / 0.9321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평가 보상 G: 0.412 / 0.411 / 0.410 / 0.410 · 평가 ε=0.1, γ=0.9</a:t>
            </a:r>
          </a:p>
        </p:txBody>
      </p:sp>
      <p:pic>
        <p:nvPicPr>
          <p:cNvPr id="18" name="ImageSlot1" descr="q_gamma_0.5_10000__Q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97468"/>
            <a:ext cx="2667000" cy="2669262"/>
          </a:xfrm>
          <a:prstGeom prst="rect">
            <a:avLst/>
          </a:prstGeom>
        </p:spPr>
      </p:pic>
      <p:pic>
        <p:nvPicPr>
          <p:cNvPr id="19" name="ImageSlot2" descr="q_gamma_0.7_10000__Q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87" y="1497468"/>
            <a:ext cx="2667000" cy="2669262"/>
          </a:xfrm>
          <a:prstGeom prst="rect">
            <a:avLst/>
          </a:prstGeom>
        </p:spPr>
      </p:pic>
      <p:pic>
        <p:nvPicPr>
          <p:cNvPr id="20" name="ImageSlot3" descr="q_baseline_10000__QLe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475" y="1497468"/>
            <a:ext cx="2667000" cy="2669262"/>
          </a:xfrm>
          <a:prstGeom prst="rect">
            <a:avLst/>
          </a:prstGeom>
        </p:spPr>
      </p:pic>
      <p:pic>
        <p:nvPicPr>
          <p:cNvPr id="21" name="ImageSlot4" descr="q_gamma_0.99_10000__QLe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8262" y="1497468"/>
            <a:ext cx="2667000" cy="26692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순환 사례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26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7" name="Panel"/>
          <p:cNvSpPr/>
          <p:nvPr/>
        </p:nvSpPr>
        <p:spPr>
          <a:xfrm>
            <a:off x="6115050" y="1266825"/>
            <a:ext cx="5715000" cy="485775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67450" y="1781175"/>
            <a:ext cx="54102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324600" y="1314450"/>
            <a:ext cx="52578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기본 설정의 seed 1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6419850" y="1933575"/>
            <a:ext cx="5105400" cy="3886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시작점에서 (4행, 3열)로 이동.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이 칸의 최대 Q 행동은 위쪽.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위쪽 (3행, 3열)은 장애물임.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위 행동 Q = 0.009138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왼쪽 행동 Q = 0.009119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아래 Q = −0.003636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오른쪽 Q = −0.064862</a:t>
            </a:r>
            <a:br/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ε=0에서는 제자리 이동을 반복함.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ε&gt;0에서는 무작위 행동으로 탈출 가능.</a:t>
            </a:r>
            <a:br/>
            <a:r>
              <a:rPr sz="1572" b="1">
                <a:solidFill>
                  <a:srgbClr val="080808"/>
                </a:solidFill>
                <a:latin typeface="Pretendard"/>
                <a:ea typeface="Pretendard"/>
              </a:rPr>
              <a:t>따라서 두 평가 결과가 달라질 수 있음.</a:t>
            </a:r>
          </a:p>
        </p:txBody>
      </p:sp>
      <p:pic>
        <p:nvPicPr>
          <p:cNvPr id="11" name="ImageSlot" descr="sarsa_loop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38250"/>
            <a:ext cx="48577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SARSA · 어블레이션 결과 종합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27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실험 항목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관찰한 결과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해석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Episode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G: 0.288 → 0.310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추가 학습 후에도 변동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ε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Q: 0.411 → 0.013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 손실을 가치에 반영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α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α=0.05의 G: 0.395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기본 G=0.310보다 높음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γ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γ=0.9의 G: 0.310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Q 크기와 보상을 구분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기본 정책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최적 행동 일치 69.1%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일부 상태에서 순환 관찰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SARSA · 실제 선택한 다음 행동의 Q를 갱신 목표에 사용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각 변수만 하나씩 변경 · 평가 ε=0.1, γ=0.9 고정 · 수치는 30개 시드 평균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높은 고정 α에서 정책 변동 관찰 · 작은 α의 평가 보상이 더 높게 관찰됨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Q-Learning · 어블레이션 결과 종합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28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476250" y="1162050"/>
          <a:ext cx="11239500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6500"/>
                <a:gridCol w="3746500"/>
                <a:gridCol w="3746500"/>
              </a:tblGrid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실험 항목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관찰한 결과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해석</a:t>
                      </a:r>
                    </a:p>
                  </a:txBody>
                  <a:tcPr anchor="ctr" marT="45720" marB="45720" marL="91440" marR="91440">
                    <a:solidFill>
                      <a:srgbClr val="1C50B3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Episode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G: 0.402 → 0.410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전체 상태의 정책 개선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ε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ε=0.3의 행동 일치 100%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탐험으로 방문 범위 확대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α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G: 0.404 ~ 0.411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평가 보상 차이가 작음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γ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시작점 Q는 γ⁷와 일치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평가 G는 약 0.41 유지</a:t>
                      </a:r>
                    </a:p>
                  </a:txBody>
                  <a:tcPr anchor="ctr" marT="45720" marB="45720" marL="91440" marR="91440">
                    <a:solidFill>
                      <a:srgbClr val="EEF3FB"/>
                    </a:solidFill>
                  </a:tcPr>
                </a:tc>
              </a:tr>
              <a:tr h="504825"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기본 정책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최적 행동 일치 92.0%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rIns="19050" tIns="0" bIns="0"/>
                    <a:lstStyle/>
                    <a:p>
                      <a:pPr algn="ctr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sz="1655" b="1">
                          <a:solidFill>
                            <a:srgbClr val="080808"/>
                          </a:solidFill>
                          <a:latin typeface="Pretendard"/>
                          <a:ea typeface="Pretendard"/>
                        </a:rPr>
                        <a:t>시작점 Q=0.4783</a:t>
                      </a:r>
                    </a:p>
                  </a:txBody>
                  <a:tcPr anchor="ctr" marT="45720" marB="45720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nel"/>
          <p:cNvSpPr/>
          <p:nvPr/>
        </p:nvSpPr>
        <p:spPr>
          <a:xfrm>
            <a:off x="476250" y="4457700"/>
            <a:ext cx="11239500" cy="19812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Interior"/>
          <p:cNvSpPr/>
          <p:nvPr/>
        </p:nvSpPr>
        <p:spPr>
          <a:xfrm>
            <a:off x="628650" y="4972050"/>
            <a:ext cx="10934700" cy="1314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Title"/>
          <p:cNvSpPr txBox="1"/>
          <p:nvPr/>
        </p:nvSpPr>
        <p:spPr>
          <a:xfrm>
            <a:off x="685800" y="4495800"/>
            <a:ext cx="10820400" cy="3810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30" b="1">
                <a:solidFill>
                  <a:srgbClr val="FFFFFF"/>
                </a:solidFill>
                <a:latin typeface="Pretendard"/>
                <a:ea typeface="Pretendard"/>
              </a:rPr>
              <a:t>• Q-Learning · 다음 상태의 최대 Q를 갱신 목표에 사용</a:t>
            </a:r>
          </a:p>
        </p:txBody>
      </p:sp>
      <p:sp>
        <p:nvSpPr>
          <p:cNvPr id="10" name="PanelBody"/>
          <p:cNvSpPr txBox="1"/>
          <p:nvPr/>
        </p:nvSpPr>
        <p:spPr>
          <a:xfrm>
            <a:off x="781050" y="5124450"/>
            <a:ext cx="10629900" cy="10096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각 변수만 하나씩 변경 · 평가 ε=0.1, γ=0.9 고정 · 수치는 30개 시드 평균</a:t>
            </a:r>
            <a:br/>
            <a:r>
              <a:rPr sz="1655" b="1">
                <a:solidFill>
                  <a:srgbClr val="080808"/>
                </a:solidFill>
                <a:latin typeface="Pretendard"/>
                <a:ea typeface="Pretendard"/>
              </a:rPr>
              <a:t>• 시작점 가치와 전체 상태의 학습은 구분 · 최적 행동 일치는 Q*의 동률 행동도 인정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57175" y="38100"/>
            <a:ext cx="11677650" cy="66675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결론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247650" y="6553200"/>
            <a:ext cx="1016000" cy="2794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128" b="1">
                <a:solidFill>
                  <a:srgbClr val="777777"/>
                </a:solidFill>
                <a:latin typeface="Pretendard"/>
                <a:ea typeface="Pretendard"/>
              </a:rPr>
              <a:t>29</a:t>
            </a:r>
          </a:p>
        </p:txBody>
      </p:sp>
      <p:sp>
        <p:nvSpPr>
          <p:cNvPr id="5" name="Logo"/>
          <p:cNvSpPr txBox="1"/>
          <p:nvPr/>
        </p:nvSpPr>
        <p:spPr>
          <a:xfrm>
            <a:off x="11163300" y="6413500"/>
            <a:ext cx="1028700" cy="4445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800"/>
              </a:spcAft>
            </a:pPr>
            <a:r>
              <a:rPr sz="2258" b="1">
                <a:solidFill>
                  <a:srgbClr val="BE1551"/>
                </a:solidFill>
                <a:latin typeface="Pretendard"/>
                <a:ea typeface="Pretendard"/>
              </a:rPr>
              <a:t>CBNU</a:t>
            </a:r>
          </a:p>
        </p:txBody>
      </p:sp>
      <p:sp>
        <p:nvSpPr>
          <p:cNvPr id="6" name="ExplanationBox"/>
          <p:cNvSpPr/>
          <p:nvPr/>
        </p:nvSpPr>
        <p:spPr>
          <a:xfrm>
            <a:off x="257175" y="1085850"/>
            <a:ext cx="11677650" cy="5257800"/>
          </a:xfrm>
          <a:prstGeom prst="roundRect">
            <a:avLst>
              <a:gd name="adj" fmla="val 6000"/>
            </a:avLst>
          </a:prstGeom>
          <a:solidFill>
            <a:srgbClr val="1C50B3"/>
          </a:solidFill>
          <a:ln>
            <a:noFill/>
          </a:ln>
          <a:effectLst>
            <a:outerShdw blurRad="38100" dist="19050" dir="5400000" algn="ctr" rotWithShape="0">
              <a:srgbClr val="000000">
                <a:alpha val="3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xplanationBoxInterior"/>
          <p:cNvSpPr/>
          <p:nvPr/>
        </p:nvSpPr>
        <p:spPr>
          <a:xfrm>
            <a:off x="409575" y="1238250"/>
            <a:ext cx="11372850" cy="495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"/>
          <p:cNvSpPr txBox="1"/>
          <p:nvPr/>
        </p:nvSpPr>
        <p:spPr>
          <a:xfrm>
            <a:off x="561975" y="1390650"/>
            <a:ext cx="11068050" cy="4648200"/>
          </a:xfrm>
          <a:prstGeom prst="rect">
            <a:avLst/>
          </a:prstGeom>
          <a:noFill/>
        </p:spPr>
        <p:txBody>
          <a:bodyPr wrap="square" lIns="19050" rIns="1905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Q-Learning은 최적 행동 가치를 목표로 학습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기본 설정의 시작점 Q=0.4783 · 학습 ε가 커지면 방문 범위가 확대됨.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SARSA는 탐험 행동의 손실을 가치에 반영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기본 α=0.8보다 작은 α에서 평가 보상이 높게 관찰됨.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정책은 실제 보상과 상태별 행동 선택으로 비교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기본 설정의 최적 행동 일치: SARSA 69.1%, Q-Learning 92.0%.</a:t>
            </a:r>
            <a:br/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• 같은 어블레이션 조건끼리 Q·보상·정책을 종합</a:t>
            </a:r>
            <a:br/>
            <a:r>
              <a:rPr sz="2200" b="1">
                <a:solidFill>
                  <a:srgbClr val="080808"/>
                </a:solidFill>
                <a:latin typeface="Pretendard"/>
                <a:ea typeface="Pretendard"/>
              </a:rPr>
              <a:t>  γ가 다르면 Q의 크기도 달라짐 · 평가 ε=0.1, γ=0.9로 고정하여 비교.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 week6</dc:title>
  <dc:subject>SARSA, Q-Learning · 변수별 어블레이션</dc:subject>
  <dc:creator>지능로봇공학과 김민재 2021042040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