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시간</c:v>
                </c:pt>
              </c:strCache>
            </c:strRef>
          </c:tx>
          <c:spPr>
            <a:solidFill>
              <a:srgbClr val="1C50B3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Chunked prefill</c:v>
                </c:pt>
                <c:pt idx="1">
                  <c:v>Continuous batching</c:v>
                </c:pt>
                <c:pt idx="2">
                  <c:v>Prefix caching</c:v>
                </c:pt>
                <c:pt idx="3">
                  <c:v>All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128.7</c:v>
                </c:pt>
                <c:pt idx="1">
                  <c:v>146.44</c:v>
                </c:pt>
                <c:pt idx="2">
                  <c:v>101.1</c:v>
                </c:pt>
                <c:pt idx="3">
                  <c:v>96.21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1" sz="1400">
                  <a:latin typeface="Pretendard"/>
                  <a:ea typeface="Pretendard"/>
                  <a:cs typeface="Pretendard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nextTo"/>
        <c:txPr>
          <a:bodyPr/>
          <a:lstStyle/>
          <a:p>
            <a:pPr>
              <a:defRPr b="1" sz="1600">
                <a:latin typeface="Pretendard"/>
                <a:ea typeface="Pretendard"/>
                <a:cs typeface="Pretendard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70.0"/>
          <c:min val="0.0"/>
        </c:scaling>
        <c:delete val="0"/>
        <c:axPos val="b"/>
        <c:majorGridlines>
          <c:spPr>
            <a:ln>
              <a:solidFill>
                <a:srgbClr val="D9E2F1"/>
              </a:solidFill>
            </a:ln>
          </c:spPr>
        </c:majorGridlines>
        <c:title>
          <c:tx>
            <c:rich>
              <a:bodyPr/>
              <a:lstStyle/>
              <a:p>
                <a:r>
                  <a:rPr b="1" sz="1400">
                    <a:latin typeface="Pretendard"/>
                    <a:ea typeface="Pretendard"/>
                    <a:cs typeface="Pretendard"/>
                  </a:rPr>
                  <a:t>실행 시간 (초)</a:t>
                </a:r>
              </a:p>
            </c:rich>
          </c:tx>
          <c:layout/>
          <c:overlay val="0"/>
        </c:title>
        <c:numFmt formatCode="0.00" sourceLinked="0"/>
        <c:majorTickMark val="none"/>
        <c:minorTickMark val="none"/>
        <c:tickLblPos val="nextTo"/>
        <c:txPr>
          <a:bodyPr/>
          <a:lstStyle/>
          <a:p>
            <a:pPr>
              <a:defRPr b="1" sz="1300">
                <a:latin typeface="Pretendard"/>
                <a:ea typeface="Pretendard"/>
                <a:cs typeface="Pretendard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500" b="1">
          <a:latin typeface="Pretendard"/>
          <a:ea typeface="Pretendard"/>
          <a:cs typeface="Pretendard"/>
        </a:defRPr>
      </a:pPr>
      <a:endParaRPr lang="en-US">
        <a:latin typeface="Pretendard"/>
        <a:ea typeface="Pretendard"/>
        <a:cs typeface="Pretendard"/>
      </a:endParaR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시간</c:v>
                </c:pt>
              </c:strCache>
            </c:strRef>
          </c:tx>
          <c:spPr>
            <a:solidFill>
              <a:srgbClr val="1C50B3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Chunked prefill</c:v>
                </c:pt>
                <c:pt idx="1">
                  <c:v>Continuous batching</c:v>
                </c:pt>
                <c:pt idx="2">
                  <c:v>Prefix caching</c:v>
                </c:pt>
                <c:pt idx="3">
                  <c:v>All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114.44</c:v>
                </c:pt>
                <c:pt idx="1">
                  <c:v>107.4</c:v>
                </c:pt>
                <c:pt idx="2">
                  <c:v>68.46</c:v>
                </c:pt>
                <c:pt idx="3">
                  <c:v>80.65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1" sz="1400">
                  <a:latin typeface="Pretendard"/>
                  <a:ea typeface="Pretendard"/>
                  <a:cs typeface="Pretendard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nextTo"/>
        <c:txPr>
          <a:bodyPr/>
          <a:lstStyle/>
          <a:p>
            <a:pPr>
              <a:defRPr b="1" sz="1600">
                <a:latin typeface="Pretendard"/>
                <a:ea typeface="Pretendard"/>
                <a:cs typeface="Pretendard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70.0"/>
          <c:min val="0.0"/>
        </c:scaling>
        <c:delete val="0"/>
        <c:axPos val="b"/>
        <c:majorGridlines>
          <c:spPr>
            <a:ln>
              <a:solidFill>
                <a:srgbClr val="D9E2F1"/>
              </a:solidFill>
            </a:ln>
          </c:spPr>
        </c:majorGridlines>
        <c:title>
          <c:tx>
            <c:rich>
              <a:bodyPr/>
              <a:lstStyle/>
              <a:p>
                <a:r>
                  <a:rPr b="1" sz="1400">
                    <a:latin typeface="Pretendard"/>
                    <a:ea typeface="Pretendard"/>
                    <a:cs typeface="Pretendard"/>
                  </a:rPr>
                  <a:t>실행 시간 (초)</a:t>
                </a:r>
              </a:p>
            </c:rich>
          </c:tx>
          <c:layout/>
          <c:overlay val="0"/>
        </c:title>
        <c:numFmt formatCode="0.00" sourceLinked="0"/>
        <c:majorTickMark val="none"/>
        <c:minorTickMark val="none"/>
        <c:tickLblPos val="nextTo"/>
        <c:txPr>
          <a:bodyPr/>
          <a:lstStyle/>
          <a:p>
            <a:pPr>
              <a:defRPr b="1" sz="1300">
                <a:latin typeface="Pretendard"/>
                <a:ea typeface="Pretendard"/>
                <a:cs typeface="Pretendard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500" b="1">
          <a:latin typeface="Pretendard"/>
          <a:ea typeface="Pretendard"/>
          <a:cs typeface="Pretendard"/>
        </a:defRPr>
      </a:pPr>
      <a:endParaRPr lang="en-US">
        <a:latin typeface="Pretendard"/>
        <a:ea typeface="Pretendard"/>
        <a:cs typeface="Pretendard"/>
      </a:endParaRPr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정확도</c:v>
                </c:pt>
              </c:strCache>
            </c:strRef>
          </c:tx>
          <c:spPr>
            <a:solidFill>
              <a:srgbClr val="1C50B3"/>
            </a:solidFill>
            <a:ln>
              <a:noFill/>
            </a:ln>
          </c:spPr>
          <c:cat>
            <c:strRef>
              <c:f>Sheet1!$A$2:$A$6</c:f>
              <c:strCache>
                <c:ptCount val="5"/>
                <c:pt idx="0">
                  <c:v>Global Best</c:v>
                </c:pt>
                <c:pt idx="1">
                  <c:v>ALORS</c:v>
                </c:pt>
                <c:pt idx="2">
                  <c:v>SVM</c:v>
                </c:pt>
                <c:pt idx="3">
                  <c:v>Gradient Boosting</c:v>
                </c:pt>
                <c:pt idx="4">
                  <c:v>MetaInf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62.9</c:v>
                </c:pt>
                <c:pt idx="1">
                  <c:v>72.5</c:v>
                </c:pt>
                <c:pt idx="2">
                  <c:v>80.2</c:v>
                </c:pt>
                <c:pt idx="3">
                  <c:v>81.5</c:v>
                </c:pt>
                <c:pt idx="4">
                  <c:v>89.8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1" sz="1400">
                  <a:latin typeface="Pretendard"/>
                  <a:ea typeface="Pretendard"/>
                  <a:cs typeface="Pretendard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nextTo"/>
        <c:txPr>
          <a:bodyPr/>
          <a:lstStyle/>
          <a:p>
            <a:pPr>
              <a:defRPr b="1" sz="1600">
                <a:latin typeface="Pretendard"/>
                <a:ea typeface="Pretendard"/>
                <a:cs typeface="Pretendard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5.0"/>
          <c:min val="0.0"/>
        </c:scaling>
        <c:delete val="0"/>
        <c:axPos val="b"/>
        <c:majorGridlines>
          <c:spPr>
            <a:ln>
              <a:solidFill>
                <a:srgbClr val="D9E2F1"/>
              </a:solidFill>
            </a:ln>
          </c:spPr>
        </c:majorGridlines>
        <c:title>
          <c:tx>
            <c:rich>
              <a:bodyPr/>
              <a:lstStyle/>
              <a:p>
                <a:r>
                  <a:rPr b="1" sz="1400">
                    <a:latin typeface="Pretendard"/>
                    <a:ea typeface="Pretendard"/>
                    <a:cs typeface="Pretendard"/>
                  </a:rPr>
                  <a:t>선택 정확도 (%)</a:t>
                </a:r>
              </a:p>
            </c:rich>
          </c:tx>
          <c:layout/>
          <c:overlay val="0"/>
        </c:title>
        <c:numFmt formatCode="0.0" sourceLinked="0"/>
        <c:majorTickMark val="none"/>
        <c:minorTickMark val="none"/>
        <c:tickLblPos val="nextTo"/>
        <c:txPr>
          <a:bodyPr/>
          <a:lstStyle/>
          <a:p>
            <a:pPr>
              <a:defRPr b="1" sz="1300">
                <a:latin typeface="Pretendard"/>
                <a:ea typeface="Pretendard"/>
                <a:cs typeface="Pretendard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500" b="1">
          <a:latin typeface="Pretendard"/>
          <a:ea typeface="Pretendard"/>
          <a:cs typeface="Pretendard"/>
        </a:defRPr>
      </a:pPr>
      <a:endParaRPr lang="en-US">
        <a:latin typeface="Pretendard"/>
        <a:ea typeface="Pretendard"/>
        <a:cs typeface="Pretendard"/>
      </a:endParaRPr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평균 순위</c:v>
                </c:pt>
              </c:strCache>
            </c:strRef>
          </c:tx>
          <c:spPr>
            <a:solidFill>
              <a:srgbClr val="1C50B3"/>
            </a:solidFill>
            <a:ln>
              <a:noFill/>
            </a:ln>
          </c:spPr>
          <c:cat>
            <c:strRef>
              <c:f>Sheet1!$A$2:$A$6</c:f>
              <c:strCache>
                <c:ptCount val="5"/>
                <c:pt idx="0">
                  <c:v>MetaInf</c:v>
                </c:pt>
                <c:pt idx="1">
                  <c:v>Gradient Boosting</c:v>
                </c:pt>
                <c:pt idx="2">
                  <c:v>Ridge Regression</c:v>
                </c:pt>
                <c:pt idx="3">
                  <c:v>SVM</c:v>
                </c:pt>
                <c:pt idx="4">
                  <c:v>Global Best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1.081</c:v>
                </c:pt>
                <c:pt idx="1">
                  <c:v>1.291</c:v>
                </c:pt>
                <c:pt idx="2">
                  <c:v>1.365</c:v>
                </c:pt>
                <c:pt idx="3">
                  <c:v>1.779</c:v>
                </c:pt>
                <c:pt idx="4">
                  <c:v>1.838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1" sz="1400">
                  <a:latin typeface="Pretendard"/>
                  <a:ea typeface="Pretendard"/>
                  <a:cs typeface="Pretendard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nextTo"/>
        <c:txPr>
          <a:bodyPr/>
          <a:lstStyle/>
          <a:p>
            <a:pPr>
              <a:defRPr b="1" sz="1600">
                <a:latin typeface="Pretendard"/>
                <a:ea typeface="Pretendard"/>
                <a:cs typeface="Pretendard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.15"/>
          <c:min val="0.0"/>
        </c:scaling>
        <c:delete val="0"/>
        <c:axPos val="b"/>
        <c:majorGridlines>
          <c:spPr>
            <a:ln>
              <a:solidFill>
                <a:srgbClr val="D9E2F1"/>
              </a:solidFill>
            </a:ln>
          </c:spPr>
        </c:majorGridlines>
        <c:title>
          <c:tx>
            <c:rich>
              <a:bodyPr/>
              <a:lstStyle/>
              <a:p>
                <a:r>
                  <a:rPr b="1" sz="1400">
                    <a:latin typeface="Pretendard"/>
                    <a:ea typeface="Pretendard"/>
                    <a:cs typeface="Pretendard"/>
                  </a:rPr>
                  <a:t>실제 최적 조합의 평균 순위 (낮을수록 좋음)</a:t>
                </a:r>
              </a:p>
            </c:rich>
          </c:tx>
          <c:layout/>
          <c:overlay val="0"/>
        </c:title>
        <c:numFmt formatCode="0.000" sourceLinked="0"/>
        <c:majorTickMark val="none"/>
        <c:minorTickMark val="none"/>
        <c:tickLblPos val="nextTo"/>
        <c:txPr>
          <a:bodyPr/>
          <a:lstStyle/>
          <a:p>
            <a:pPr>
              <a:defRPr b="1" sz="1300">
                <a:latin typeface="Pretendard"/>
                <a:ea typeface="Pretendard"/>
                <a:cs typeface="Pretendard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500" b="1">
          <a:latin typeface="Pretendard"/>
          <a:ea typeface="Pretendard"/>
          <a:cs typeface="Pretendard"/>
        </a:defRPr>
      </a:pPr>
      <a:endParaRPr lang="en-US">
        <a:latin typeface="Pretendard"/>
        <a:ea typeface="Pretendard"/>
        <a:cs typeface="Pretendard"/>
      </a:endParaRPr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verBackground"/>
          <p:cNvSpPr/>
          <p:nvPr/>
        </p:nvSpPr>
        <p:spPr>
          <a:xfrm>
            <a:off x="0" y="0"/>
            <a:ext cx="12192000" cy="5676900"/>
          </a:xfrm>
          <a:prstGeom prst="rect">
            <a:avLst/>
          </a:prstGeom>
          <a:solidFill>
            <a:srgbClr val="1C50B3"/>
          </a:solidFill>
          <a:ln>
            <a:noFill/>
          </a:ln>
          <a:effectLst>
            <a:outerShdw blurRad="38100" dist="19050" dir="5400000" algn="ctr" rotWithShape="0">
              <a:srgbClr val="000000">
                <a:alpha val="3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overSeparator"/>
          <p:cNvSpPr/>
          <p:nvPr/>
        </p:nvSpPr>
        <p:spPr>
          <a:xfrm>
            <a:off x="0" y="771525"/>
            <a:ext cx="12192000" cy="190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Logo"/>
          <p:cNvSpPr txBox="1"/>
          <p:nvPr/>
        </p:nvSpPr>
        <p:spPr>
          <a:xfrm>
            <a:off x="190500" y="0"/>
            <a:ext cx="2857500" cy="86360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4056" b="1">
                <a:solidFill>
                  <a:srgbClr val="BE1551"/>
                </a:solidFill>
                <a:latin typeface="Pretendard"/>
                <a:ea typeface="Pretendard"/>
              </a:rPr>
              <a:t>CBNU</a:t>
            </a:r>
          </a:p>
        </p:txBody>
      </p:sp>
      <p:sp>
        <p:nvSpPr>
          <p:cNvPr id="5" name="CoverTitle"/>
          <p:cNvSpPr txBox="1"/>
          <p:nvPr/>
        </p:nvSpPr>
        <p:spPr>
          <a:xfrm>
            <a:off x="476250" y="1295400"/>
            <a:ext cx="11239500" cy="241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540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MetaInf</a:t>
            </a:r>
            <a:br/>
            <a:r>
              <a:rPr b="1" sz="540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대규모 모델 추론 가속</a:t>
            </a:r>
          </a:p>
        </p:txBody>
      </p:sp>
      <p:sp>
        <p:nvSpPr>
          <p:cNvPr id="6" name="Author"/>
          <p:cNvSpPr txBox="1"/>
          <p:nvPr/>
        </p:nvSpPr>
        <p:spPr>
          <a:xfrm>
            <a:off x="285750" y="6019800"/>
            <a:ext cx="11620500" cy="495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1875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Yipeng Du, Zihao Wang et al.  ·  Nesa Research</a:t>
            </a:r>
          </a:p>
        </p:txBody>
      </p:sp>
      <p:sp>
        <p:nvSpPr>
          <p:cNvPr id="7" name="PaperTitle"/>
          <p:cNvSpPr txBox="1"/>
          <p:nvPr/>
        </p:nvSpPr>
        <p:spPr>
          <a:xfrm>
            <a:off x="476250" y="3911600"/>
            <a:ext cx="11239500" cy="977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240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Meta-Learning for Speeding Up Large Model Inference</a:t>
            </a:r>
            <a:br/>
            <a:r>
              <a:rPr b="1" sz="240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in Decentralized Environments</a:t>
            </a:r>
          </a:p>
        </p:txBody>
      </p:sp>
      <p:sp>
        <p:nvSpPr>
          <p:cNvPr id="8" name="CoverContext"/>
          <p:cNvSpPr txBox="1"/>
          <p:nvPr/>
        </p:nvSpPr>
        <p:spPr>
          <a:xfrm>
            <a:off x="476250" y="5054600"/>
            <a:ext cx="11239500" cy="444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180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논문 세미나  |  COLM 2025  |  arXiv v1 · 2025.08.08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eader"/>
          <p:cNvSpPr/>
          <p:nvPr/>
        </p:nvSpPr>
        <p:spPr>
          <a:xfrm>
            <a:off x="0" y="0"/>
            <a:ext cx="12192000" cy="781050"/>
          </a:xfrm>
          <a:prstGeom prst="rect">
            <a:avLst/>
          </a:prstGeom>
          <a:solidFill>
            <a:srgbClr val="1C50B3"/>
          </a:solidFill>
          <a:ln>
            <a:noFill/>
          </a:ln>
          <a:effectLst>
            <a:outerShdw blurRad="38100" dist="19050" dir="5400000" algn="ctr" rotWithShape="0">
              <a:srgbClr val="000000">
                <a:alpha val="3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itle"/>
          <p:cNvSpPr txBox="1"/>
          <p:nvPr/>
        </p:nvSpPr>
        <p:spPr>
          <a:xfrm>
            <a:off x="257175" y="38100"/>
            <a:ext cx="11677650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300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발표 흐름</a:t>
            </a:r>
          </a:p>
        </p:txBody>
      </p:sp>
      <p:sp>
        <p:nvSpPr>
          <p:cNvPr id="4" name="Page"/>
          <p:cNvSpPr txBox="1"/>
          <p:nvPr/>
        </p:nvSpPr>
        <p:spPr>
          <a:xfrm>
            <a:off x="247650" y="6553200"/>
            <a:ext cx="1016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1128">
                <a:solidFill>
                  <a:srgbClr val="777777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5" name="Logo"/>
          <p:cNvSpPr txBox="1"/>
          <p:nvPr/>
        </p:nvSpPr>
        <p:spPr>
          <a:xfrm>
            <a:off x="11163300" y="6413500"/>
            <a:ext cx="1028700" cy="44450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r">
              <a:lnSpc>
                <a:spcPct val="130000"/>
              </a:lnSpc>
              <a:spcAft>
                <a:spcPts val="800"/>
              </a:spcAft>
            </a:pPr>
            <a:r>
              <a:rPr sz="2258" b="1">
                <a:solidFill>
                  <a:srgbClr val="BE1551"/>
                </a:solidFill>
                <a:latin typeface="Pretendard"/>
                <a:ea typeface="Pretendard"/>
              </a:rPr>
              <a:t>CBNU</a:t>
            </a:r>
          </a:p>
        </p:txBody>
      </p:sp>
      <p:sp>
        <p:nvSpPr>
          <p:cNvPr id="6" name="ContentsTitle1"/>
          <p:cNvSpPr txBox="1"/>
          <p:nvPr/>
        </p:nvSpPr>
        <p:spPr>
          <a:xfrm>
            <a:off x="4543425" y="1244600"/>
            <a:ext cx="7286625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2256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1. 문제와 배경  ·  03–11</a:t>
            </a:r>
          </a:p>
        </p:txBody>
      </p:sp>
      <p:sp>
        <p:nvSpPr>
          <p:cNvPr id="7" name="ContentsBody1"/>
          <p:cNvSpPr txBox="1"/>
          <p:nvPr/>
        </p:nvSpPr>
        <p:spPr>
          <a:xfrm>
            <a:off x="4781550" y="1841500"/>
            <a:ext cx="7048500" cy="952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1800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• LLM 추론과 세 가지 가속 기법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1800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• 배치·모델·GPU에 따라 바뀌는 최적 조합</a:t>
            </a:r>
          </a:p>
        </p:txBody>
      </p:sp>
      <p:sp>
        <p:nvSpPr>
          <p:cNvPr id="8" name="ContentsTitle2"/>
          <p:cNvSpPr txBox="1"/>
          <p:nvPr/>
        </p:nvSpPr>
        <p:spPr>
          <a:xfrm>
            <a:off x="4543425" y="2997200"/>
            <a:ext cx="7286625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2256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2. MetaInf 방법  ·  12–19</a:t>
            </a:r>
          </a:p>
        </p:txBody>
      </p:sp>
      <p:sp>
        <p:nvSpPr>
          <p:cNvPr id="9" name="ContentsBody2"/>
          <p:cNvSpPr txBox="1"/>
          <p:nvPr/>
        </p:nvSpPr>
        <p:spPr>
          <a:xfrm>
            <a:off x="4781550" y="3568700"/>
            <a:ext cx="7048500" cy="952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1800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• 성능 데이터, LLM 임베딩, XGBoost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1800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• 오프라인 학습과 예산 내 온라인 선택</a:t>
            </a:r>
          </a:p>
        </p:txBody>
      </p:sp>
      <p:sp>
        <p:nvSpPr>
          <p:cNvPr id="10" name="ContentsTitle3"/>
          <p:cNvSpPr txBox="1"/>
          <p:nvPr/>
        </p:nvSpPr>
        <p:spPr>
          <a:xfrm>
            <a:off x="4543425" y="4749800"/>
            <a:ext cx="7286625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2256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3. 실험과 해석  ·  20–30</a:t>
            </a:r>
          </a:p>
        </p:txBody>
      </p:sp>
      <p:sp>
        <p:nvSpPr>
          <p:cNvPr id="11" name="ContentsBody3"/>
          <p:cNvSpPr txBox="1"/>
          <p:nvPr/>
        </p:nvSpPr>
        <p:spPr>
          <a:xfrm>
            <a:off x="4781550" y="5321300"/>
            <a:ext cx="7048500" cy="952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1800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• 선택 정확도, 순위, zero-shot, ablation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1800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• 원문 지표의 주의점과 세미나 토론</a:t>
            </a:r>
          </a:p>
        </p:txBody>
      </p:sp>
      <p:sp>
        <p:nvSpPr>
          <p:cNvPr id="12" name="Source"/>
          <p:cNvSpPr txBox="1"/>
          <p:nvPr/>
        </p:nvSpPr>
        <p:spPr>
          <a:xfrm>
            <a:off x="1397000" y="6565900"/>
            <a:ext cx="9398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1050">
                <a:solidFill>
                  <a:srgbClr val="596578"/>
                </a:solidFill>
                <a:latin typeface="Pretendard"/>
                <a:ea typeface="Pretendard"/>
                <a:cs typeface="Pretendard"/>
              </a:rPr>
              <a:t>Du et al., arXiv:2508.09194v1 (COLM 2025 표기)</a:t>
            </a:r>
          </a:p>
        </p:txBody>
      </p:sp>
      <p:sp>
        <p:nvSpPr>
          <p:cNvPr id="13" name="ContentsSide"/>
          <p:cNvSpPr txBox="1"/>
          <p:nvPr/>
        </p:nvSpPr>
        <p:spPr>
          <a:xfrm>
            <a:off x="508000" y="2159000"/>
            <a:ext cx="3302000" cy="2603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2500">
                <a:solidFill>
                  <a:srgbClr val="1C50B3"/>
                </a:solidFill>
                <a:latin typeface="Pretendard"/>
                <a:ea typeface="Pretendard"/>
                <a:cs typeface="Pretendard"/>
              </a:rPr>
              <a:t>핵심 질문</a:t>
            </a:r>
            <a:br/>
            <a:r>
              <a:rPr b="1" sz="2500">
                <a:solidFill>
                  <a:srgbClr val="1C50B3"/>
                </a:solidFill>
                <a:latin typeface="Pretendard"/>
                <a:ea typeface="Pretendard"/>
                <a:cs typeface="Pretendard"/>
              </a:rPr>
              <a:t/>
            </a:r>
            <a:br/>
            <a:r>
              <a:rPr b="1" sz="2500">
                <a:solidFill>
                  <a:srgbClr val="1C50B3"/>
                </a:solidFill>
                <a:latin typeface="Pretendard"/>
                <a:ea typeface="Pretendard"/>
                <a:cs typeface="Pretendard"/>
              </a:rPr>
              <a:t>지금의 환경에서</a:t>
            </a:r>
            <a:br/>
            <a:r>
              <a:rPr b="1" sz="2500">
                <a:solidFill>
                  <a:srgbClr val="1C50B3"/>
                </a:solidFill>
                <a:latin typeface="Pretendard"/>
                <a:ea typeface="Pretendard"/>
                <a:cs typeface="Pretendard"/>
              </a:rPr>
              <a:t>어떤 가속 조합이</a:t>
            </a:r>
            <a:br/>
            <a:r>
              <a:rPr b="1" sz="2500">
                <a:solidFill>
                  <a:srgbClr val="1C50B3"/>
                </a:solidFill>
                <a:latin typeface="Pretendard"/>
                <a:ea typeface="Pretendard"/>
                <a:cs typeface="Pretendard"/>
              </a:rPr>
              <a:t>가장 빠른가?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eader"/>
          <p:cNvSpPr/>
          <p:nvPr/>
        </p:nvSpPr>
        <p:spPr>
          <a:xfrm>
            <a:off x="0" y="0"/>
            <a:ext cx="12192000" cy="781050"/>
          </a:xfrm>
          <a:prstGeom prst="rect">
            <a:avLst/>
          </a:prstGeom>
          <a:solidFill>
            <a:srgbClr val="1C50B3"/>
          </a:solidFill>
          <a:ln>
            <a:noFill/>
          </a:ln>
          <a:effectLst>
            <a:outerShdw blurRad="38100" dist="19050" dir="5400000" algn="ctr" rotWithShape="0">
              <a:srgbClr val="000000">
                <a:alpha val="3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itle"/>
          <p:cNvSpPr txBox="1"/>
          <p:nvPr/>
        </p:nvSpPr>
        <p:spPr>
          <a:xfrm>
            <a:off x="257175" y="38100"/>
            <a:ext cx="11677650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300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논문 한눈에 보기: 가속 기법의 “선택”을 학습</a:t>
            </a:r>
          </a:p>
        </p:txBody>
      </p:sp>
      <p:sp>
        <p:nvSpPr>
          <p:cNvPr id="4" name="Page"/>
          <p:cNvSpPr txBox="1"/>
          <p:nvPr/>
        </p:nvSpPr>
        <p:spPr>
          <a:xfrm>
            <a:off x="247650" y="6553200"/>
            <a:ext cx="1016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1128">
                <a:solidFill>
                  <a:srgbClr val="777777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5" name="Logo"/>
          <p:cNvSpPr txBox="1"/>
          <p:nvPr/>
        </p:nvSpPr>
        <p:spPr>
          <a:xfrm>
            <a:off x="11163300" y="6413500"/>
            <a:ext cx="1028700" cy="44450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r">
              <a:lnSpc>
                <a:spcPct val="130000"/>
              </a:lnSpc>
              <a:spcAft>
                <a:spcPts val="800"/>
              </a:spcAft>
            </a:pPr>
            <a:r>
              <a:rPr sz="2258" b="1">
                <a:solidFill>
                  <a:srgbClr val="BE1551"/>
                </a:solidFill>
                <a:latin typeface="Pretendard"/>
                <a:ea typeface="Pretendard"/>
              </a:rPr>
              <a:t>CBNU</a:t>
            </a:r>
          </a:p>
        </p:txBody>
      </p:sp>
      <p:sp>
        <p:nvSpPr>
          <p:cNvPr id="6" name="ExplanationBox"/>
          <p:cNvSpPr/>
          <p:nvPr/>
        </p:nvSpPr>
        <p:spPr>
          <a:xfrm>
            <a:off x="257175" y="1085850"/>
            <a:ext cx="11677650" cy="5257800"/>
          </a:xfrm>
          <a:prstGeom prst="roundRect">
            <a:avLst>
              <a:gd name="adj" fmla="val 6000"/>
            </a:avLst>
          </a:prstGeom>
          <a:solidFill>
            <a:srgbClr val="1C50B3"/>
          </a:solidFill>
          <a:ln>
            <a:noFill/>
          </a:ln>
          <a:effectLst>
            <a:outerShdw blurRad="38100" dist="19050" dir="5400000" algn="ctr" rotWithShape="0">
              <a:srgbClr val="000000">
                <a:alpha val="3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ExplanationBoxInterior"/>
          <p:cNvSpPr/>
          <p:nvPr/>
        </p:nvSpPr>
        <p:spPr>
          <a:xfrm>
            <a:off x="409575" y="1238250"/>
            <a:ext cx="11372850" cy="4953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Body"/>
          <p:cNvSpPr txBox="1"/>
          <p:nvPr/>
        </p:nvSpPr>
        <p:spPr>
          <a:xfrm>
            <a:off x="561975" y="1390650"/>
            <a:ext cx="11068050" cy="4648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900"/>
              </a:spcAft>
            </a:pPr>
            <a:r>
              <a:rPr b="1" sz="2200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• 연구 문제: 모델·입력·하드웨어가 달라지면 최적 가속 조합도 달라짐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900"/>
              </a:spcAft>
            </a:pPr>
            <a:r>
              <a:rPr b="1" sz="2200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• 핵심 아이디어: 과거 실험 결과로 새 환경의 실행 시간을 예측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900"/>
              </a:spcAft>
            </a:pPr>
            <a:r>
              <a:rPr b="1" sz="2200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• 제안 방법: LLM 기반 의미 임베딩 + SVD + XGBoost 예측기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900"/>
              </a:spcAft>
            </a:pPr>
            <a:r>
              <a:rPr b="1" sz="2200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• 보고 결과: 선택 정확도 89.8%, F1 0.85, Accel. 지표 1.55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900"/>
              </a:spcAft>
            </a:pPr>
            <a:r>
              <a:rPr b="1" sz="2200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• 기여 범위: 기존 가속 기법의 조합을 고르는 메타 스케줄러</a:t>
            </a:r>
          </a:p>
        </p:txBody>
      </p:sp>
      <p:sp>
        <p:nvSpPr>
          <p:cNvPr id="9" name="Source"/>
          <p:cNvSpPr txBox="1"/>
          <p:nvPr/>
        </p:nvSpPr>
        <p:spPr>
          <a:xfrm>
            <a:off x="1397000" y="6565900"/>
            <a:ext cx="9398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1050">
                <a:solidFill>
                  <a:srgbClr val="596578"/>
                </a:solidFill>
                <a:latin typeface="Pretendard"/>
                <a:ea typeface="Pretendard"/>
                <a:cs typeface="Pretendard"/>
              </a:rPr>
              <a:t>출처: Du et al., arXiv:2508.09194v1 (COLM 2025 표기) · Abstract, §1, Table 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eader"/>
          <p:cNvSpPr/>
          <p:nvPr/>
        </p:nvSpPr>
        <p:spPr>
          <a:xfrm>
            <a:off x="0" y="0"/>
            <a:ext cx="12192000" cy="781050"/>
          </a:xfrm>
          <a:prstGeom prst="rect">
            <a:avLst/>
          </a:prstGeom>
          <a:solidFill>
            <a:srgbClr val="1C50B3"/>
          </a:solidFill>
          <a:ln>
            <a:noFill/>
          </a:ln>
          <a:effectLst>
            <a:outerShdw blurRad="38100" dist="19050" dir="5400000" algn="ctr" rotWithShape="0">
              <a:srgbClr val="000000">
                <a:alpha val="3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itle"/>
          <p:cNvSpPr txBox="1"/>
          <p:nvPr/>
        </p:nvSpPr>
        <p:spPr>
          <a:xfrm>
            <a:off x="257175" y="38100"/>
            <a:ext cx="11677650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300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왜 탈중앙화 환경에서 선택 문제가 어려운가?</a:t>
            </a:r>
          </a:p>
        </p:txBody>
      </p:sp>
      <p:sp>
        <p:nvSpPr>
          <p:cNvPr id="4" name="Page"/>
          <p:cNvSpPr txBox="1"/>
          <p:nvPr/>
        </p:nvSpPr>
        <p:spPr>
          <a:xfrm>
            <a:off x="247650" y="6553200"/>
            <a:ext cx="1016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1128">
                <a:solidFill>
                  <a:srgbClr val="777777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5" name="Logo"/>
          <p:cNvSpPr txBox="1"/>
          <p:nvPr/>
        </p:nvSpPr>
        <p:spPr>
          <a:xfrm>
            <a:off x="11163300" y="6413500"/>
            <a:ext cx="1028700" cy="44450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r">
              <a:lnSpc>
                <a:spcPct val="130000"/>
              </a:lnSpc>
              <a:spcAft>
                <a:spcPts val="800"/>
              </a:spcAft>
            </a:pPr>
            <a:r>
              <a:rPr sz="2258" b="1">
                <a:solidFill>
                  <a:srgbClr val="BE1551"/>
                </a:solidFill>
                <a:latin typeface="Pretendard"/>
                <a:ea typeface="Pretendard"/>
              </a:rPr>
              <a:t>CBNU</a:t>
            </a:r>
          </a:p>
        </p:txBody>
      </p:sp>
      <p:sp>
        <p:nvSpPr>
          <p:cNvPr id="6" name="ExplanationBox"/>
          <p:cNvSpPr/>
          <p:nvPr/>
        </p:nvSpPr>
        <p:spPr>
          <a:xfrm>
            <a:off x="257175" y="1085850"/>
            <a:ext cx="11677650" cy="5257800"/>
          </a:xfrm>
          <a:prstGeom prst="roundRect">
            <a:avLst>
              <a:gd name="adj" fmla="val 6000"/>
            </a:avLst>
          </a:prstGeom>
          <a:solidFill>
            <a:srgbClr val="1C50B3"/>
          </a:solidFill>
          <a:ln>
            <a:noFill/>
          </a:ln>
          <a:effectLst>
            <a:outerShdw blurRad="38100" dist="19050" dir="5400000" algn="ctr" rotWithShape="0">
              <a:srgbClr val="000000">
                <a:alpha val="3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ExplanationBoxInterior"/>
          <p:cNvSpPr/>
          <p:nvPr/>
        </p:nvSpPr>
        <p:spPr>
          <a:xfrm>
            <a:off x="409575" y="1238250"/>
            <a:ext cx="11372850" cy="4953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Body"/>
          <p:cNvSpPr txBox="1"/>
          <p:nvPr/>
        </p:nvSpPr>
        <p:spPr>
          <a:xfrm>
            <a:off x="561975" y="1390650"/>
            <a:ext cx="11068050" cy="4648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900"/>
              </a:spcAft>
            </a:pPr>
            <a:r>
              <a:rPr b="1" sz="2200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• 하드웨어 이질성: 노드마다 GPU 연산 성능·메모리 용량이 다름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900"/>
              </a:spcAft>
            </a:pPr>
            <a:r>
              <a:rPr b="1" sz="2200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• 통신과 부하 변동: 네트워크 지연·대역폭·요청 도착 패턴이 달라짐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900"/>
              </a:spcAft>
            </a:pPr>
            <a:r>
              <a:rPr b="1" sz="2200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• 워크로드 다양성: 입력 길이·공통 prefix·배치 규모가 성능에 영향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900"/>
              </a:spcAft>
            </a:pPr>
            <a:r>
              <a:rPr b="1" sz="2200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• 고정 설정의 한계: 한 환경에서 빠른 조합이 다른 환경에서는 느릴 수 있음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900"/>
              </a:spcAft>
            </a:pPr>
            <a:r>
              <a:rPr b="1" sz="2200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• 요구사항: 모든 후보를 매번 실행하지 않고 환경에 맞는 조합 선택</a:t>
            </a:r>
          </a:p>
        </p:txBody>
      </p:sp>
      <p:sp>
        <p:nvSpPr>
          <p:cNvPr id="9" name="Source"/>
          <p:cNvSpPr txBox="1"/>
          <p:nvPr/>
        </p:nvSpPr>
        <p:spPr>
          <a:xfrm>
            <a:off x="1397000" y="6565900"/>
            <a:ext cx="9398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1050">
                <a:solidFill>
                  <a:srgbClr val="596578"/>
                </a:solidFill>
                <a:latin typeface="Pretendard"/>
                <a:ea typeface="Pretendard"/>
                <a:cs typeface="Pretendard"/>
              </a:rPr>
              <a:t>출처: Du et al., arXiv:2508.09194v1 (COLM 2025 표기) · §1–2 (배경); §3.3 (선택 문제)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eader"/>
          <p:cNvSpPr/>
          <p:nvPr/>
        </p:nvSpPr>
        <p:spPr>
          <a:xfrm>
            <a:off x="0" y="0"/>
            <a:ext cx="12192000" cy="781050"/>
          </a:xfrm>
          <a:prstGeom prst="rect">
            <a:avLst/>
          </a:prstGeom>
          <a:solidFill>
            <a:srgbClr val="1C50B3"/>
          </a:solidFill>
          <a:ln>
            <a:noFill/>
          </a:ln>
          <a:effectLst>
            <a:outerShdw blurRad="38100" dist="19050" dir="5400000" algn="ctr" rotWithShape="0">
              <a:srgbClr val="000000">
                <a:alpha val="3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itle"/>
          <p:cNvSpPr txBox="1"/>
          <p:nvPr/>
        </p:nvSpPr>
        <p:spPr>
          <a:xfrm>
            <a:off x="257175" y="38100"/>
            <a:ext cx="11677650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300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LLM 추론의 두 단계: Prefill과 Decode</a:t>
            </a:r>
          </a:p>
        </p:txBody>
      </p:sp>
      <p:sp>
        <p:nvSpPr>
          <p:cNvPr id="4" name="Page"/>
          <p:cNvSpPr txBox="1"/>
          <p:nvPr/>
        </p:nvSpPr>
        <p:spPr>
          <a:xfrm>
            <a:off x="247650" y="6553200"/>
            <a:ext cx="1016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1128">
                <a:solidFill>
                  <a:srgbClr val="777777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  <p:sp>
        <p:nvSpPr>
          <p:cNvPr id="5" name="Logo"/>
          <p:cNvSpPr txBox="1"/>
          <p:nvPr/>
        </p:nvSpPr>
        <p:spPr>
          <a:xfrm>
            <a:off x="11163300" y="6413500"/>
            <a:ext cx="1028700" cy="44450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r">
              <a:lnSpc>
                <a:spcPct val="130000"/>
              </a:lnSpc>
              <a:spcAft>
                <a:spcPts val="800"/>
              </a:spcAft>
            </a:pPr>
            <a:r>
              <a:rPr sz="2258" b="1">
                <a:solidFill>
                  <a:srgbClr val="BE1551"/>
                </a:solidFill>
                <a:latin typeface="Pretendard"/>
                <a:ea typeface="Pretendard"/>
              </a:rPr>
              <a:t>CBNU</a:t>
            </a:r>
          </a:p>
        </p:txBody>
      </p:sp>
      <p:sp>
        <p:nvSpPr>
          <p:cNvPr id="7" name="Panel"/>
          <p:cNvSpPr/>
          <p:nvPr/>
        </p:nvSpPr>
        <p:spPr>
          <a:xfrm>
            <a:off x="6115050" y="1266825"/>
            <a:ext cx="5715000" cy="4857750"/>
          </a:xfrm>
          <a:prstGeom prst="roundRect">
            <a:avLst>
              <a:gd name="adj" fmla="val 6000"/>
            </a:avLst>
          </a:prstGeom>
          <a:solidFill>
            <a:srgbClr val="1C50B3"/>
          </a:solidFill>
          <a:ln>
            <a:noFill/>
          </a:ln>
          <a:effectLst>
            <a:outerShdw blurRad="38100" dist="19050" dir="5400000" algn="ctr" rotWithShape="0">
              <a:srgbClr val="000000">
                <a:alpha val="3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PanelInterior"/>
          <p:cNvSpPr/>
          <p:nvPr/>
        </p:nvSpPr>
        <p:spPr>
          <a:xfrm>
            <a:off x="6267450" y="1781175"/>
            <a:ext cx="5410200" cy="4191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PanelTitle"/>
          <p:cNvSpPr txBox="1"/>
          <p:nvPr/>
        </p:nvSpPr>
        <p:spPr>
          <a:xfrm>
            <a:off x="6324600" y="1314450"/>
            <a:ext cx="52578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173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• 어떤 병목을 줄이는가?</a:t>
            </a:r>
          </a:p>
        </p:txBody>
      </p:sp>
      <p:sp>
        <p:nvSpPr>
          <p:cNvPr id="10" name="PanelBody"/>
          <p:cNvSpPr txBox="1"/>
          <p:nvPr/>
        </p:nvSpPr>
        <p:spPr>
          <a:xfrm>
            <a:off x="6419850" y="1933575"/>
            <a:ext cx="5105400" cy="3886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800"/>
              </a:spcAft>
            </a:pPr>
            <a:r>
              <a:rPr b="1" sz="1572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• Prefill: 입력 전체를 처리하는 단계</a:t>
            </a:r>
            <a:br/>
            <a:r>
              <a:rPr b="1" sz="1572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긴 프롬프트의 초기 처리 부담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800"/>
              </a:spcAft>
            </a:pPr>
            <a:r>
              <a:rPr b="1" sz="1572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• Decode: 출력 토큰을 반복 생성</a:t>
            </a:r>
            <a:br/>
            <a:r>
              <a:rPr b="1" sz="1572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요청 길이가 달라 GPU 활용이 불균일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800"/>
              </a:spcAft>
            </a:pPr>
            <a:r>
              <a:rPr b="1" sz="1572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• Prefix caching → 입력 계산 재사용</a:t>
            </a:r>
            <a:br/>
            <a:r>
              <a:rPr b="1" sz="1572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Chunked prefill → 입력 처리 분할</a:t>
            </a:r>
            <a:br/>
            <a:r>
              <a:rPr b="1" sz="1572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Continuous batching → 요청 배치 갱신</a:t>
            </a:r>
          </a:p>
        </p:txBody>
      </p:sp>
      <p:sp>
        <p:nvSpPr>
          <p:cNvPr id="11" name="Source"/>
          <p:cNvSpPr txBox="1"/>
          <p:nvPr/>
        </p:nvSpPr>
        <p:spPr>
          <a:xfrm>
            <a:off x="1397000" y="6565900"/>
            <a:ext cx="9398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1050">
                <a:solidFill>
                  <a:srgbClr val="596578"/>
                </a:solidFill>
                <a:latin typeface="Pretendard"/>
                <a:ea typeface="Pretendard"/>
                <a:cs typeface="Pretendard"/>
              </a:rPr>
              <a:t>출처: Du et al., arXiv:2508.09194v1 (COLM 2025 표기) · §2, §4.1 · 도식은 원리 설명용 재구성</a:t>
            </a:r>
          </a:p>
        </p:txBody>
      </p:sp>
      <p:sp>
        <p:nvSpPr>
          <p:cNvPr id="12" name="Prompt"/>
          <p:cNvSpPr/>
          <p:nvPr/>
        </p:nvSpPr>
        <p:spPr>
          <a:xfrm>
            <a:off x="698500" y="1714500"/>
            <a:ext cx="4635500" cy="812800"/>
          </a:xfrm>
          <a:prstGeom prst="rect">
            <a:avLst/>
          </a:prstGeom>
          <a:solidFill>
            <a:srgbClr val="1C50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220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입력 프롬프트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009900" y="2590800"/>
            <a:ext cx="0" cy="304800"/>
          </a:xfrm>
          <a:prstGeom prst="line">
            <a:avLst/>
          </a:prstGeom>
          <a:ln w="25400">
            <a:solidFill>
              <a:srgbClr val="1C50B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Prefill"/>
          <p:cNvSpPr/>
          <p:nvPr/>
        </p:nvSpPr>
        <p:spPr>
          <a:xfrm>
            <a:off x="698500" y="2984500"/>
            <a:ext cx="4635500" cy="990600"/>
          </a:xfrm>
          <a:prstGeom prst="rect">
            <a:avLst/>
          </a:prstGeom>
          <a:solidFill>
            <a:srgbClr val="EE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1900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Prefill</a:t>
            </a:r>
            <a:br/>
            <a:r>
              <a:rPr b="1" sz="1900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입력 토큰 처리 · KV cache 생성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009900" y="4038600"/>
            <a:ext cx="0" cy="317500"/>
          </a:xfrm>
          <a:prstGeom prst="line">
            <a:avLst/>
          </a:prstGeom>
          <a:ln w="25400">
            <a:solidFill>
              <a:srgbClr val="1C50B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Decode"/>
          <p:cNvSpPr/>
          <p:nvPr/>
        </p:nvSpPr>
        <p:spPr>
          <a:xfrm>
            <a:off x="698500" y="4445000"/>
            <a:ext cx="4635500" cy="1181100"/>
          </a:xfrm>
          <a:prstGeom prst="rect">
            <a:avLst/>
          </a:prstGeom>
          <a:solidFill>
            <a:srgbClr val="EE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1800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Decode</a:t>
            </a:r>
            <a:br/>
            <a:r>
              <a:rPr b="1" sz="1800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이전 KV cache를 활용해</a:t>
            </a:r>
            <a:br/>
            <a:r>
              <a:rPr b="1" sz="1800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출력 토큰을 순차 생성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eader"/>
          <p:cNvSpPr/>
          <p:nvPr/>
        </p:nvSpPr>
        <p:spPr>
          <a:xfrm>
            <a:off x="0" y="0"/>
            <a:ext cx="12192000" cy="781050"/>
          </a:xfrm>
          <a:prstGeom prst="rect">
            <a:avLst/>
          </a:prstGeom>
          <a:solidFill>
            <a:srgbClr val="1C50B3"/>
          </a:solidFill>
          <a:ln>
            <a:noFill/>
          </a:ln>
          <a:effectLst>
            <a:outerShdw blurRad="38100" dist="19050" dir="5400000" algn="ctr" rotWithShape="0">
              <a:srgbClr val="000000">
                <a:alpha val="3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itle"/>
          <p:cNvSpPr txBox="1"/>
          <p:nvPr/>
        </p:nvSpPr>
        <p:spPr>
          <a:xfrm>
            <a:off x="257175" y="38100"/>
            <a:ext cx="11677650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300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Continuous Batching: 완료된 자리를 즉시 채우기</a:t>
            </a:r>
          </a:p>
        </p:txBody>
      </p:sp>
      <p:sp>
        <p:nvSpPr>
          <p:cNvPr id="4" name="Page"/>
          <p:cNvSpPr txBox="1"/>
          <p:nvPr/>
        </p:nvSpPr>
        <p:spPr>
          <a:xfrm>
            <a:off x="247650" y="6553200"/>
            <a:ext cx="1016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1128">
                <a:solidFill>
                  <a:srgbClr val="777777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  <p:sp>
        <p:nvSpPr>
          <p:cNvPr id="5" name="Logo"/>
          <p:cNvSpPr txBox="1"/>
          <p:nvPr/>
        </p:nvSpPr>
        <p:spPr>
          <a:xfrm>
            <a:off x="11163300" y="6413500"/>
            <a:ext cx="1028700" cy="44450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r">
              <a:lnSpc>
                <a:spcPct val="130000"/>
              </a:lnSpc>
              <a:spcAft>
                <a:spcPts val="800"/>
              </a:spcAft>
            </a:pPr>
            <a:r>
              <a:rPr sz="2258" b="1">
                <a:solidFill>
                  <a:srgbClr val="BE1551"/>
                </a:solidFill>
                <a:latin typeface="Pretendard"/>
                <a:ea typeface="Pretendard"/>
              </a:rPr>
              <a:t>CBNU</a:t>
            </a:r>
          </a:p>
        </p:txBody>
      </p:sp>
      <p:sp>
        <p:nvSpPr>
          <p:cNvPr id="7" name="Panel"/>
          <p:cNvSpPr/>
          <p:nvPr/>
        </p:nvSpPr>
        <p:spPr>
          <a:xfrm>
            <a:off x="6115050" y="1266825"/>
            <a:ext cx="5715000" cy="4857750"/>
          </a:xfrm>
          <a:prstGeom prst="roundRect">
            <a:avLst>
              <a:gd name="adj" fmla="val 6000"/>
            </a:avLst>
          </a:prstGeom>
          <a:solidFill>
            <a:srgbClr val="1C50B3"/>
          </a:solidFill>
          <a:ln>
            <a:noFill/>
          </a:ln>
          <a:effectLst>
            <a:outerShdw blurRad="38100" dist="19050" dir="5400000" algn="ctr" rotWithShape="0">
              <a:srgbClr val="000000">
                <a:alpha val="3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PanelInterior"/>
          <p:cNvSpPr/>
          <p:nvPr/>
        </p:nvSpPr>
        <p:spPr>
          <a:xfrm>
            <a:off x="6267450" y="1781175"/>
            <a:ext cx="5410200" cy="4191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PanelTitle"/>
          <p:cNvSpPr txBox="1"/>
          <p:nvPr/>
        </p:nvSpPr>
        <p:spPr>
          <a:xfrm>
            <a:off x="6324600" y="1314450"/>
            <a:ext cx="52578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173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• Iteration-level scheduling</a:t>
            </a:r>
          </a:p>
        </p:txBody>
      </p:sp>
      <p:sp>
        <p:nvSpPr>
          <p:cNvPr id="10" name="PanelBody"/>
          <p:cNvSpPr txBox="1"/>
          <p:nvPr/>
        </p:nvSpPr>
        <p:spPr>
          <a:xfrm>
            <a:off x="6419850" y="1933575"/>
            <a:ext cx="5105400" cy="3886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800"/>
              </a:spcAft>
            </a:pPr>
            <a:r>
              <a:rPr b="1" sz="1572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• 작동: 생성 반복 단위로 요청 추가·제거</a:t>
            </a:r>
            <a:br/>
            <a:r>
              <a:rPr b="1" sz="1572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모든 요청이 끝날 때까지 기다리지 않음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800"/>
              </a:spcAft>
            </a:pPr>
            <a:r>
              <a:rPr b="1" sz="1572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• 기대 효과: 요청 길이가 달라도</a:t>
            </a:r>
            <a:br/>
            <a:r>
              <a:rPr b="1" sz="1572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배치를 유지하며 GPU 활용도 향상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800"/>
              </a:spcAft>
            </a:pPr>
            <a:r>
              <a:rPr b="1" sz="1572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• 확인할 요소: 도착률·동시 요청 수</a:t>
            </a:r>
            <a:br/>
            <a:r>
              <a:rPr b="1" sz="1572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스케줄링 부담과 지연 목표</a:t>
            </a:r>
          </a:p>
        </p:txBody>
      </p:sp>
      <p:sp>
        <p:nvSpPr>
          <p:cNvPr id="11" name="Source"/>
          <p:cNvSpPr txBox="1"/>
          <p:nvPr/>
        </p:nvSpPr>
        <p:spPr>
          <a:xfrm>
            <a:off x="1397000" y="6565900"/>
            <a:ext cx="9398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1050">
                <a:solidFill>
                  <a:srgbClr val="596578"/>
                </a:solidFill>
                <a:latin typeface="Pretendard"/>
                <a:ea typeface="Pretendard"/>
                <a:cs typeface="Pretendard"/>
              </a:rPr>
              <a:t>출처: Du et al., arXiv:2508.09194v1 (COLM 2025 표기) · §2, §4.1 · 요청 배치 도식은 개념 설명용</a:t>
            </a:r>
          </a:p>
        </p:txBody>
      </p:sp>
      <p:sp>
        <p:nvSpPr>
          <p:cNvPr id="12" name="BatchHeader"/>
          <p:cNvSpPr txBox="1"/>
          <p:nvPr/>
        </p:nvSpPr>
        <p:spPr>
          <a:xfrm>
            <a:off x="571500" y="1473200"/>
            <a:ext cx="4826000" cy="431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2000">
                <a:solidFill>
                  <a:srgbClr val="1C50B3"/>
                </a:solidFill>
                <a:latin typeface="Pretendard"/>
                <a:ea typeface="Pretendard"/>
                <a:cs typeface="Pretendard"/>
              </a:rPr>
              <a:t>Decode 반복마다 배치 구성 갱신</a:t>
            </a:r>
          </a:p>
        </p:txBody>
      </p:sp>
      <p:sp>
        <p:nvSpPr>
          <p:cNvPr id="13" name="Iter0"/>
          <p:cNvSpPr txBox="1"/>
          <p:nvPr/>
        </p:nvSpPr>
        <p:spPr>
          <a:xfrm>
            <a:off x="1562100" y="2222500"/>
            <a:ext cx="1206500" cy="355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1600">
                <a:solidFill>
                  <a:srgbClr val="596578"/>
                </a:solidFill>
                <a:latin typeface="Pretendard"/>
                <a:ea typeface="Pretendard"/>
                <a:cs typeface="Pretendard"/>
              </a:rPr>
              <a:t>반복 1</a:t>
            </a:r>
          </a:p>
        </p:txBody>
      </p:sp>
      <p:sp>
        <p:nvSpPr>
          <p:cNvPr id="14" name="Iter1"/>
          <p:cNvSpPr txBox="1"/>
          <p:nvPr/>
        </p:nvSpPr>
        <p:spPr>
          <a:xfrm>
            <a:off x="2857500" y="2222500"/>
            <a:ext cx="1206500" cy="355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1600">
                <a:solidFill>
                  <a:srgbClr val="596578"/>
                </a:solidFill>
                <a:latin typeface="Pretendard"/>
                <a:ea typeface="Pretendard"/>
                <a:cs typeface="Pretendard"/>
              </a:rPr>
              <a:t>반복 2</a:t>
            </a:r>
          </a:p>
        </p:txBody>
      </p:sp>
      <p:sp>
        <p:nvSpPr>
          <p:cNvPr id="15" name="Iter2"/>
          <p:cNvSpPr txBox="1"/>
          <p:nvPr/>
        </p:nvSpPr>
        <p:spPr>
          <a:xfrm>
            <a:off x="4152900" y="2222500"/>
            <a:ext cx="1206500" cy="355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1600">
                <a:solidFill>
                  <a:srgbClr val="596578"/>
                </a:solidFill>
                <a:latin typeface="Pretendard"/>
                <a:ea typeface="Pretendard"/>
                <a:cs typeface="Pretendard"/>
              </a:rPr>
              <a:t>반복 3</a:t>
            </a:r>
          </a:p>
        </p:txBody>
      </p:sp>
      <p:sp>
        <p:nvSpPr>
          <p:cNvPr id="16" name="Slot0"/>
          <p:cNvSpPr txBox="1"/>
          <p:nvPr/>
        </p:nvSpPr>
        <p:spPr>
          <a:xfrm>
            <a:off x="444500" y="2844800"/>
            <a:ext cx="990600" cy="431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1500">
                <a:solidFill>
                  <a:srgbClr val="596578"/>
                </a:solidFill>
                <a:latin typeface="Pretendard"/>
                <a:ea typeface="Pretendard"/>
                <a:cs typeface="Pretendard"/>
              </a:rPr>
              <a:t>슬롯 1</a:t>
            </a:r>
          </a:p>
        </p:txBody>
      </p:sp>
      <p:sp>
        <p:nvSpPr>
          <p:cNvPr id="17" name="Req00"/>
          <p:cNvSpPr/>
          <p:nvPr/>
        </p:nvSpPr>
        <p:spPr>
          <a:xfrm>
            <a:off x="1587500" y="2755900"/>
            <a:ext cx="1193800" cy="647700"/>
          </a:xfrm>
          <a:prstGeom prst="rect">
            <a:avLst/>
          </a:prstGeom>
          <a:solidFill>
            <a:srgbClr val="EE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1600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A</a:t>
            </a:r>
          </a:p>
        </p:txBody>
      </p:sp>
      <p:sp>
        <p:nvSpPr>
          <p:cNvPr id="18" name="Req01"/>
          <p:cNvSpPr/>
          <p:nvPr/>
        </p:nvSpPr>
        <p:spPr>
          <a:xfrm>
            <a:off x="2882900" y="2755900"/>
            <a:ext cx="1193800" cy="647700"/>
          </a:xfrm>
          <a:prstGeom prst="rect">
            <a:avLst/>
          </a:prstGeom>
          <a:solidFill>
            <a:srgbClr val="EE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1600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A</a:t>
            </a:r>
          </a:p>
        </p:txBody>
      </p:sp>
      <p:sp>
        <p:nvSpPr>
          <p:cNvPr id="19" name="Req02"/>
          <p:cNvSpPr/>
          <p:nvPr/>
        </p:nvSpPr>
        <p:spPr>
          <a:xfrm>
            <a:off x="4178300" y="2755900"/>
            <a:ext cx="1193800" cy="647700"/>
          </a:xfrm>
          <a:prstGeom prst="rect">
            <a:avLst/>
          </a:prstGeom>
          <a:solidFill>
            <a:srgbClr val="EE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1600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A</a:t>
            </a:r>
          </a:p>
        </p:txBody>
      </p:sp>
      <p:sp>
        <p:nvSpPr>
          <p:cNvPr id="20" name="Slot1"/>
          <p:cNvSpPr txBox="1"/>
          <p:nvPr/>
        </p:nvSpPr>
        <p:spPr>
          <a:xfrm>
            <a:off x="444500" y="3670300"/>
            <a:ext cx="990600" cy="431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1500">
                <a:solidFill>
                  <a:srgbClr val="596578"/>
                </a:solidFill>
                <a:latin typeface="Pretendard"/>
                <a:ea typeface="Pretendard"/>
                <a:cs typeface="Pretendard"/>
              </a:rPr>
              <a:t>슬롯 2</a:t>
            </a:r>
          </a:p>
        </p:txBody>
      </p:sp>
      <p:sp>
        <p:nvSpPr>
          <p:cNvPr id="21" name="Req10"/>
          <p:cNvSpPr/>
          <p:nvPr/>
        </p:nvSpPr>
        <p:spPr>
          <a:xfrm>
            <a:off x="1587500" y="3581400"/>
            <a:ext cx="1193800" cy="647700"/>
          </a:xfrm>
          <a:prstGeom prst="rect">
            <a:avLst/>
          </a:prstGeom>
          <a:solidFill>
            <a:srgbClr val="EE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1600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B 완료</a:t>
            </a:r>
          </a:p>
        </p:txBody>
      </p:sp>
      <p:sp>
        <p:nvSpPr>
          <p:cNvPr id="22" name="Req11"/>
          <p:cNvSpPr/>
          <p:nvPr/>
        </p:nvSpPr>
        <p:spPr>
          <a:xfrm>
            <a:off x="2882900" y="3581400"/>
            <a:ext cx="1193800" cy="647700"/>
          </a:xfrm>
          <a:prstGeom prst="rect">
            <a:avLst/>
          </a:prstGeom>
          <a:solidFill>
            <a:srgbClr val="1C50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160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D 투입</a:t>
            </a:r>
          </a:p>
        </p:txBody>
      </p:sp>
      <p:sp>
        <p:nvSpPr>
          <p:cNvPr id="23" name="Req12"/>
          <p:cNvSpPr/>
          <p:nvPr/>
        </p:nvSpPr>
        <p:spPr>
          <a:xfrm>
            <a:off x="4178300" y="3581400"/>
            <a:ext cx="1193800" cy="647700"/>
          </a:xfrm>
          <a:prstGeom prst="rect">
            <a:avLst/>
          </a:prstGeom>
          <a:solidFill>
            <a:srgbClr val="EE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1600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D</a:t>
            </a:r>
          </a:p>
        </p:txBody>
      </p:sp>
      <p:sp>
        <p:nvSpPr>
          <p:cNvPr id="24" name="Slot2"/>
          <p:cNvSpPr txBox="1"/>
          <p:nvPr/>
        </p:nvSpPr>
        <p:spPr>
          <a:xfrm>
            <a:off x="444500" y="4495800"/>
            <a:ext cx="990600" cy="431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1500">
                <a:solidFill>
                  <a:srgbClr val="596578"/>
                </a:solidFill>
                <a:latin typeface="Pretendard"/>
                <a:ea typeface="Pretendard"/>
                <a:cs typeface="Pretendard"/>
              </a:rPr>
              <a:t>슬롯 3</a:t>
            </a:r>
          </a:p>
        </p:txBody>
      </p:sp>
      <p:sp>
        <p:nvSpPr>
          <p:cNvPr id="25" name="Req20"/>
          <p:cNvSpPr/>
          <p:nvPr/>
        </p:nvSpPr>
        <p:spPr>
          <a:xfrm>
            <a:off x="1587500" y="4406900"/>
            <a:ext cx="1193800" cy="647700"/>
          </a:xfrm>
          <a:prstGeom prst="rect">
            <a:avLst/>
          </a:prstGeom>
          <a:solidFill>
            <a:srgbClr val="EE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1600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C</a:t>
            </a:r>
          </a:p>
        </p:txBody>
      </p:sp>
      <p:sp>
        <p:nvSpPr>
          <p:cNvPr id="26" name="Req21"/>
          <p:cNvSpPr/>
          <p:nvPr/>
        </p:nvSpPr>
        <p:spPr>
          <a:xfrm>
            <a:off x="2882900" y="4406900"/>
            <a:ext cx="1193800" cy="647700"/>
          </a:xfrm>
          <a:prstGeom prst="rect">
            <a:avLst/>
          </a:prstGeom>
          <a:solidFill>
            <a:srgbClr val="EE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1600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C 완료</a:t>
            </a:r>
          </a:p>
        </p:txBody>
      </p:sp>
      <p:sp>
        <p:nvSpPr>
          <p:cNvPr id="27" name="Req22"/>
          <p:cNvSpPr/>
          <p:nvPr/>
        </p:nvSpPr>
        <p:spPr>
          <a:xfrm>
            <a:off x="4178300" y="4406900"/>
            <a:ext cx="1193800" cy="647700"/>
          </a:xfrm>
          <a:prstGeom prst="rect">
            <a:avLst/>
          </a:prstGeom>
          <a:solidFill>
            <a:srgbClr val="1C50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160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E 투입</a:t>
            </a:r>
          </a:p>
        </p:txBody>
      </p:sp>
      <p:sp>
        <p:nvSpPr>
          <p:cNvPr id="28" name="BatchNote"/>
          <p:cNvSpPr txBox="1"/>
          <p:nvPr/>
        </p:nvSpPr>
        <p:spPr>
          <a:xfrm>
            <a:off x="571500" y="5524500"/>
            <a:ext cx="4889500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1800">
                <a:solidFill>
                  <a:srgbClr val="1C50B3"/>
                </a:solidFill>
                <a:latin typeface="Pretendard"/>
                <a:ea typeface="Pretendard"/>
                <a:cs typeface="Pretendard"/>
              </a:rPr>
              <a:t>완료 요청 제거 → 대기 요청 삽입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eader"/>
          <p:cNvSpPr/>
          <p:nvPr/>
        </p:nvSpPr>
        <p:spPr>
          <a:xfrm>
            <a:off x="0" y="0"/>
            <a:ext cx="12192000" cy="781050"/>
          </a:xfrm>
          <a:prstGeom prst="rect">
            <a:avLst/>
          </a:prstGeom>
          <a:solidFill>
            <a:srgbClr val="1C50B3"/>
          </a:solidFill>
          <a:ln>
            <a:noFill/>
          </a:ln>
          <a:effectLst>
            <a:outerShdw blurRad="38100" dist="19050" dir="5400000" algn="ctr" rotWithShape="0">
              <a:srgbClr val="000000">
                <a:alpha val="3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itle"/>
          <p:cNvSpPr txBox="1"/>
          <p:nvPr/>
        </p:nvSpPr>
        <p:spPr>
          <a:xfrm>
            <a:off x="257175" y="38100"/>
            <a:ext cx="11677650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300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Prefix Caching: 같은 입력 prefix의 계산 재사용</a:t>
            </a:r>
          </a:p>
        </p:txBody>
      </p:sp>
      <p:sp>
        <p:nvSpPr>
          <p:cNvPr id="4" name="Page"/>
          <p:cNvSpPr txBox="1"/>
          <p:nvPr/>
        </p:nvSpPr>
        <p:spPr>
          <a:xfrm>
            <a:off x="247650" y="6553200"/>
            <a:ext cx="1016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1128">
                <a:solidFill>
                  <a:srgbClr val="777777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  <p:sp>
        <p:nvSpPr>
          <p:cNvPr id="5" name="Logo"/>
          <p:cNvSpPr txBox="1"/>
          <p:nvPr/>
        </p:nvSpPr>
        <p:spPr>
          <a:xfrm>
            <a:off x="11163300" y="6413500"/>
            <a:ext cx="1028700" cy="44450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r">
              <a:lnSpc>
                <a:spcPct val="130000"/>
              </a:lnSpc>
              <a:spcAft>
                <a:spcPts val="800"/>
              </a:spcAft>
            </a:pPr>
            <a:r>
              <a:rPr sz="2258" b="1">
                <a:solidFill>
                  <a:srgbClr val="BE1551"/>
                </a:solidFill>
                <a:latin typeface="Pretendard"/>
                <a:ea typeface="Pretendard"/>
              </a:rPr>
              <a:t>CBNU</a:t>
            </a:r>
          </a:p>
        </p:txBody>
      </p:sp>
      <p:sp>
        <p:nvSpPr>
          <p:cNvPr id="7" name="Panel"/>
          <p:cNvSpPr/>
          <p:nvPr/>
        </p:nvSpPr>
        <p:spPr>
          <a:xfrm>
            <a:off x="6115050" y="1266825"/>
            <a:ext cx="5715000" cy="4857750"/>
          </a:xfrm>
          <a:prstGeom prst="roundRect">
            <a:avLst>
              <a:gd name="adj" fmla="val 6000"/>
            </a:avLst>
          </a:prstGeom>
          <a:solidFill>
            <a:srgbClr val="1C50B3"/>
          </a:solidFill>
          <a:ln>
            <a:noFill/>
          </a:ln>
          <a:effectLst>
            <a:outerShdw blurRad="38100" dist="19050" dir="5400000" algn="ctr" rotWithShape="0">
              <a:srgbClr val="000000">
                <a:alpha val="3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PanelInterior"/>
          <p:cNvSpPr/>
          <p:nvPr/>
        </p:nvSpPr>
        <p:spPr>
          <a:xfrm>
            <a:off x="6267450" y="1781175"/>
            <a:ext cx="5410200" cy="4191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PanelTitle"/>
          <p:cNvSpPr txBox="1"/>
          <p:nvPr/>
        </p:nvSpPr>
        <p:spPr>
          <a:xfrm>
            <a:off x="6324600" y="1314450"/>
            <a:ext cx="52578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173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• 캐시 적중과 메모리가 핵심</a:t>
            </a:r>
          </a:p>
        </p:txBody>
      </p:sp>
      <p:sp>
        <p:nvSpPr>
          <p:cNvPr id="10" name="PanelBody"/>
          <p:cNvSpPr txBox="1"/>
          <p:nvPr/>
        </p:nvSpPr>
        <p:spPr>
          <a:xfrm>
            <a:off x="6419850" y="1933575"/>
            <a:ext cx="5105400" cy="3886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800"/>
              </a:spcAft>
            </a:pPr>
            <a:r>
              <a:rPr b="1" sz="1572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• 작동: 일치하는 prefix의 KV 값을</a:t>
            </a:r>
            <a:br/>
            <a:r>
              <a:rPr b="1" sz="1572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재사용해 중복 입력 처리 감소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800"/>
              </a:spcAft>
            </a:pPr>
            <a:r>
              <a:rPr b="1" sz="1572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• 기대 효과: 공유 prefix가 많은</a:t>
            </a:r>
            <a:br/>
            <a:r>
              <a:rPr b="1" sz="1572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워크로드에서 계산 절약 가능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800"/>
              </a:spcAft>
            </a:pPr>
            <a:r>
              <a:rPr b="1" sz="1572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• 비용: cache 메모리와 관리 부담</a:t>
            </a:r>
            <a:br/>
            <a:r>
              <a:rPr b="1" sz="1572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모델·워크로드에 따라 이득이 바뀜</a:t>
            </a:r>
          </a:p>
        </p:txBody>
      </p:sp>
      <p:sp>
        <p:nvSpPr>
          <p:cNvPr id="11" name="Source"/>
          <p:cNvSpPr txBox="1"/>
          <p:nvPr/>
        </p:nvSpPr>
        <p:spPr>
          <a:xfrm>
            <a:off x="1397000" y="6565900"/>
            <a:ext cx="9398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1050">
                <a:solidFill>
                  <a:srgbClr val="596578"/>
                </a:solidFill>
                <a:latin typeface="Pretendard"/>
                <a:ea typeface="Pretendard"/>
                <a:cs typeface="Pretendard"/>
              </a:rPr>
              <a:t>출처: Du et al., arXiv:2508.09194v1 (COLM 2025 표기) · §2, §4.1 · KV cache 도식은 원리 설명용</a:t>
            </a:r>
          </a:p>
        </p:txBody>
      </p:sp>
      <p:sp>
        <p:nvSpPr>
          <p:cNvPr id="12" name="PrefixLabel"/>
          <p:cNvSpPr txBox="1"/>
          <p:nvPr/>
        </p:nvSpPr>
        <p:spPr>
          <a:xfrm>
            <a:off x="533400" y="1473200"/>
            <a:ext cx="4953000" cy="40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1900">
                <a:solidFill>
                  <a:srgbClr val="1C50B3"/>
                </a:solidFill>
                <a:latin typeface="Pretendard"/>
                <a:ea typeface="Pretendard"/>
                <a:cs typeface="Pretendard"/>
              </a:rPr>
              <a:t>공통 system prompt / 대화 prefix</a:t>
            </a:r>
          </a:p>
        </p:txBody>
      </p:sp>
      <p:sp>
        <p:nvSpPr>
          <p:cNvPr id="13" name="Common"/>
          <p:cNvSpPr/>
          <p:nvPr/>
        </p:nvSpPr>
        <p:spPr>
          <a:xfrm>
            <a:off x="558800" y="2108200"/>
            <a:ext cx="4889500" cy="812800"/>
          </a:xfrm>
          <a:prstGeom prst="rect">
            <a:avLst/>
          </a:prstGeom>
          <a:solidFill>
            <a:srgbClr val="1C50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190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공통 prefix → KV cache 저장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841500" y="2984500"/>
            <a:ext cx="0" cy="419100"/>
          </a:xfrm>
          <a:prstGeom prst="line">
            <a:avLst/>
          </a:prstGeom>
          <a:ln w="25400">
            <a:solidFill>
              <a:srgbClr val="1C50B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140200" y="2984500"/>
            <a:ext cx="0" cy="419100"/>
          </a:xfrm>
          <a:prstGeom prst="line">
            <a:avLst/>
          </a:prstGeom>
          <a:ln w="25400">
            <a:solidFill>
              <a:srgbClr val="1C50B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ailA"/>
          <p:cNvSpPr/>
          <p:nvPr/>
        </p:nvSpPr>
        <p:spPr>
          <a:xfrm>
            <a:off x="558800" y="3492500"/>
            <a:ext cx="2311400" cy="889000"/>
          </a:xfrm>
          <a:prstGeom prst="rect">
            <a:avLst/>
          </a:prstGeom>
          <a:solidFill>
            <a:srgbClr val="EE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1800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요청 A의</a:t>
            </a:r>
            <a:br/>
            <a:r>
              <a:rPr b="1" sz="1800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새 입력 부분</a:t>
            </a:r>
          </a:p>
        </p:txBody>
      </p:sp>
      <p:sp>
        <p:nvSpPr>
          <p:cNvPr id="17" name="TailB"/>
          <p:cNvSpPr/>
          <p:nvPr/>
        </p:nvSpPr>
        <p:spPr>
          <a:xfrm>
            <a:off x="3124200" y="3492500"/>
            <a:ext cx="2311400" cy="889000"/>
          </a:xfrm>
          <a:prstGeom prst="rect">
            <a:avLst/>
          </a:prstGeom>
          <a:solidFill>
            <a:srgbClr val="EE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1800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요청 B의</a:t>
            </a:r>
            <a:br/>
            <a:r>
              <a:rPr b="1" sz="1800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새 입력 부분</a:t>
            </a:r>
          </a:p>
        </p:txBody>
      </p:sp>
      <p:sp>
        <p:nvSpPr>
          <p:cNvPr id="18" name="PrefixNote"/>
          <p:cNvSpPr txBox="1"/>
          <p:nvPr/>
        </p:nvSpPr>
        <p:spPr>
          <a:xfrm>
            <a:off x="571500" y="4851400"/>
            <a:ext cx="4851400" cy="1003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2000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공통 prefix: cache에서 재사용</a:t>
            </a:r>
            <a:br/>
            <a:r>
              <a:rPr b="1" sz="2000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새 입력: 필요한 부분만 계산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eader"/>
          <p:cNvSpPr/>
          <p:nvPr/>
        </p:nvSpPr>
        <p:spPr>
          <a:xfrm>
            <a:off x="0" y="0"/>
            <a:ext cx="12192000" cy="781050"/>
          </a:xfrm>
          <a:prstGeom prst="rect">
            <a:avLst/>
          </a:prstGeom>
          <a:solidFill>
            <a:srgbClr val="1C50B3"/>
          </a:solidFill>
          <a:ln>
            <a:noFill/>
          </a:ln>
          <a:effectLst>
            <a:outerShdw blurRad="38100" dist="19050" dir="5400000" algn="ctr" rotWithShape="0">
              <a:srgbClr val="000000">
                <a:alpha val="3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itle"/>
          <p:cNvSpPr txBox="1"/>
          <p:nvPr/>
        </p:nvSpPr>
        <p:spPr>
          <a:xfrm>
            <a:off x="257175" y="38100"/>
            <a:ext cx="11677650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300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Chunked Prefill: 긴 입력 처리를 작은 조각으로</a:t>
            </a:r>
          </a:p>
        </p:txBody>
      </p:sp>
      <p:sp>
        <p:nvSpPr>
          <p:cNvPr id="4" name="Page"/>
          <p:cNvSpPr txBox="1"/>
          <p:nvPr/>
        </p:nvSpPr>
        <p:spPr>
          <a:xfrm>
            <a:off x="247650" y="6553200"/>
            <a:ext cx="1016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1128">
                <a:solidFill>
                  <a:srgbClr val="777777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  <p:sp>
        <p:nvSpPr>
          <p:cNvPr id="5" name="Logo"/>
          <p:cNvSpPr txBox="1"/>
          <p:nvPr/>
        </p:nvSpPr>
        <p:spPr>
          <a:xfrm>
            <a:off x="11163300" y="6413500"/>
            <a:ext cx="1028700" cy="44450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r">
              <a:lnSpc>
                <a:spcPct val="130000"/>
              </a:lnSpc>
              <a:spcAft>
                <a:spcPts val="800"/>
              </a:spcAft>
            </a:pPr>
            <a:r>
              <a:rPr sz="2258" b="1">
                <a:solidFill>
                  <a:srgbClr val="BE1551"/>
                </a:solidFill>
                <a:latin typeface="Pretendard"/>
                <a:ea typeface="Pretendard"/>
              </a:rPr>
              <a:t>CBNU</a:t>
            </a:r>
          </a:p>
        </p:txBody>
      </p:sp>
      <p:sp>
        <p:nvSpPr>
          <p:cNvPr id="7" name="Panel"/>
          <p:cNvSpPr/>
          <p:nvPr/>
        </p:nvSpPr>
        <p:spPr>
          <a:xfrm>
            <a:off x="6115050" y="1266825"/>
            <a:ext cx="5715000" cy="4857750"/>
          </a:xfrm>
          <a:prstGeom prst="roundRect">
            <a:avLst>
              <a:gd name="adj" fmla="val 6000"/>
            </a:avLst>
          </a:prstGeom>
          <a:solidFill>
            <a:srgbClr val="1C50B3"/>
          </a:solidFill>
          <a:ln>
            <a:noFill/>
          </a:ln>
          <a:effectLst>
            <a:outerShdw blurRad="38100" dist="19050" dir="5400000" algn="ctr" rotWithShape="0">
              <a:srgbClr val="000000">
                <a:alpha val="3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PanelInterior"/>
          <p:cNvSpPr/>
          <p:nvPr/>
        </p:nvSpPr>
        <p:spPr>
          <a:xfrm>
            <a:off x="6267450" y="1781175"/>
            <a:ext cx="5410200" cy="4191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PanelTitle"/>
          <p:cNvSpPr txBox="1"/>
          <p:nvPr/>
        </p:nvSpPr>
        <p:spPr>
          <a:xfrm>
            <a:off x="6324600" y="1314450"/>
            <a:ext cx="52578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173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• 분할 크기와 실행 비용의 균형</a:t>
            </a:r>
          </a:p>
        </p:txBody>
      </p:sp>
      <p:sp>
        <p:nvSpPr>
          <p:cNvPr id="10" name="PanelBody"/>
          <p:cNvSpPr txBox="1"/>
          <p:nvPr/>
        </p:nvSpPr>
        <p:spPr>
          <a:xfrm>
            <a:off x="6419850" y="1933575"/>
            <a:ext cx="5105400" cy="3886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800"/>
              </a:spcAft>
            </a:pPr>
            <a:r>
              <a:rPr b="1" sz="1572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• 작동: prefill을 작은 단위로 나눠</a:t>
            </a:r>
            <a:br/>
            <a:r>
              <a:rPr b="1" sz="1572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다른 요청 작업과 함께 스케줄링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800"/>
              </a:spcAft>
            </a:pPr>
            <a:r>
              <a:rPr b="1" sz="1572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• 기대 효과: 긴 입력 처리의</a:t>
            </a:r>
            <a:br/>
            <a:r>
              <a:rPr b="1" sz="1572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한 번에 집중되는 부담을 완화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800"/>
              </a:spcAft>
            </a:pPr>
            <a:r>
              <a:rPr b="1" sz="1572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• 비용: 추가 스케줄링·통신 부담</a:t>
            </a:r>
            <a:br/>
            <a:r>
              <a:rPr b="1" sz="1572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작은 chunk가 항상 최선은 아님</a:t>
            </a:r>
          </a:p>
        </p:txBody>
      </p:sp>
      <p:sp>
        <p:nvSpPr>
          <p:cNvPr id="11" name="Source"/>
          <p:cNvSpPr txBox="1"/>
          <p:nvPr/>
        </p:nvSpPr>
        <p:spPr>
          <a:xfrm>
            <a:off x="1397000" y="6565900"/>
            <a:ext cx="9398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1050">
                <a:solidFill>
                  <a:srgbClr val="596578"/>
                </a:solidFill>
                <a:latin typeface="Pretendard"/>
                <a:ea typeface="Pretendard"/>
                <a:cs typeface="Pretendard"/>
              </a:rPr>
              <a:t>출처: Du et al., arXiv:2508.09194v1 (COLM 2025 표기) · §1–2, §4.1 · 도식은 개념 설명용</a:t>
            </a:r>
          </a:p>
        </p:txBody>
      </p:sp>
      <p:sp>
        <p:nvSpPr>
          <p:cNvPr id="12" name="ChunkLabel"/>
          <p:cNvSpPr txBox="1"/>
          <p:nvPr/>
        </p:nvSpPr>
        <p:spPr>
          <a:xfrm>
            <a:off x="533400" y="1473200"/>
            <a:ext cx="4953000" cy="40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1900">
                <a:solidFill>
                  <a:srgbClr val="1C50B3"/>
                </a:solidFill>
                <a:latin typeface="Pretendard"/>
                <a:ea typeface="Pretendard"/>
                <a:cs typeface="Pretendard"/>
              </a:rPr>
              <a:t>긴 프롬프트를 여러 chunk로 분할</a:t>
            </a:r>
          </a:p>
        </p:txBody>
      </p:sp>
      <p:sp>
        <p:nvSpPr>
          <p:cNvPr id="13" name="LongPrompt"/>
          <p:cNvSpPr/>
          <p:nvPr/>
        </p:nvSpPr>
        <p:spPr>
          <a:xfrm>
            <a:off x="558800" y="2159000"/>
            <a:ext cx="4889500" cy="660400"/>
          </a:xfrm>
          <a:prstGeom prst="rect">
            <a:avLst/>
          </a:prstGeom>
          <a:solidFill>
            <a:srgbClr val="1C50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190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긴 입력 프롬프트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997200" y="2895600"/>
            <a:ext cx="0" cy="431800"/>
          </a:xfrm>
          <a:prstGeom prst="line">
            <a:avLst/>
          </a:prstGeom>
          <a:ln w="25400">
            <a:solidFill>
              <a:srgbClr val="1C50B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Chunk0"/>
          <p:cNvSpPr/>
          <p:nvPr/>
        </p:nvSpPr>
        <p:spPr>
          <a:xfrm>
            <a:off x="558800" y="3429000"/>
            <a:ext cx="1536700" cy="685800"/>
          </a:xfrm>
          <a:prstGeom prst="rect">
            <a:avLst/>
          </a:prstGeom>
          <a:solidFill>
            <a:srgbClr val="EE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1700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Chunk 1</a:t>
            </a:r>
          </a:p>
        </p:txBody>
      </p:sp>
      <p:sp>
        <p:nvSpPr>
          <p:cNvPr id="16" name="Chunk1"/>
          <p:cNvSpPr/>
          <p:nvPr/>
        </p:nvSpPr>
        <p:spPr>
          <a:xfrm>
            <a:off x="2222500" y="3429000"/>
            <a:ext cx="1536700" cy="685800"/>
          </a:xfrm>
          <a:prstGeom prst="rect">
            <a:avLst/>
          </a:prstGeom>
          <a:solidFill>
            <a:srgbClr val="EE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1700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Chunk 2</a:t>
            </a:r>
          </a:p>
        </p:txBody>
      </p:sp>
      <p:sp>
        <p:nvSpPr>
          <p:cNvPr id="17" name="Chunk2"/>
          <p:cNvSpPr/>
          <p:nvPr/>
        </p:nvSpPr>
        <p:spPr>
          <a:xfrm>
            <a:off x="3886200" y="3429000"/>
            <a:ext cx="1536700" cy="685800"/>
          </a:xfrm>
          <a:prstGeom prst="rect">
            <a:avLst/>
          </a:prstGeom>
          <a:solidFill>
            <a:srgbClr val="EE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1700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Chunk 3</a:t>
            </a:r>
          </a:p>
        </p:txBody>
      </p:sp>
      <p:sp>
        <p:nvSpPr>
          <p:cNvPr id="18" name="Schedule"/>
          <p:cNvSpPr/>
          <p:nvPr/>
        </p:nvSpPr>
        <p:spPr>
          <a:xfrm>
            <a:off x="558800" y="4635500"/>
            <a:ext cx="4889500" cy="1003300"/>
          </a:xfrm>
          <a:prstGeom prst="rect">
            <a:avLst/>
          </a:prstGeom>
          <a:solidFill>
            <a:srgbClr val="EE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1900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Chunk 1 → 다른 요청 처리</a:t>
            </a:r>
            <a:br/>
            <a:r>
              <a:rPr b="1" sz="1900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→ Chunk 2 → …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eader"/>
          <p:cNvSpPr/>
          <p:nvPr/>
        </p:nvSpPr>
        <p:spPr>
          <a:xfrm>
            <a:off x="0" y="0"/>
            <a:ext cx="12192000" cy="781050"/>
          </a:xfrm>
          <a:prstGeom prst="rect">
            <a:avLst/>
          </a:prstGeom>
          <a:solidFill>
            <a:srgbClr val="1C50B3"/>
          </a:solidFill>
          <a:ln>
            <a:noFill/>
          </a:ln>
          <a:effectLst>
            <a:outerShdw blurRad="38100" dist="19050" dir="5400000" algn="ctr" rotWithShape="0">
              <a:srgbClr val="000000">
                <a:alpha val="3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itle"/>
          <p:cNvSpPr txBox="1"/>
          <p:nvPr/>
        </p:nvSpPr>
        <p:spPr>
          <a:xfrm>
            <a:off x="257175" y="38100"/>
            <a:ext cx="11677650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300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배치 크기가 바뀌면 최적 조합도 바뀐다</a:t>
            </a:r>
          </a:p>
        </p:txBody>
      </p:sp>
      <p:sp>
        <p:nvSpPr>
          <p:cNvPr id="4" name="Page"/>
          <p:cNvSpPr txBox="1"/>
          <p:nvPr/>
        </p:nvSpPr>
        <p:spPr>
          <a:xfrm>
            <a:off x="247650" y="6553200"/>
            <a:ext cx="1016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1128">
                <a:solidFill>
                  <a:srgbClr val="777777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  <p:sp>
        <p:nvSpPr>
          <p:cNvPr id="5" name="Logo"/>
          <p:cNvSpPr txBox="1"/>
          <p:nvPr/>
        </p:nvSpPr>
        <p:spPr>
          <a:xfrm>
            <a:off x="11163300" y="6413500"/>
            <a:ext cx="1028700" cy="44450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r">
              <a:lnSpc>
                <a:spcPct val="130000"/>
              </a:lnSpc>
              <a:spcAft>
                <a:spcPts val="800"/>
              </a:spcAft>
            </a:pPr>
            <a:r>
              <a:rPr sz="2258" b="1">
                <a:solidFill>
                  <a:srgbClr val="BE1551"/>
                </a:solidFill>
                <a:latin typeface="Pretendard"/>
                <a:ea typeface="Pretendard"/>
              </a:rPr>
              <a:t>CBNU</a:t>
            </a:r>
          </a:p>
        </p:txBody>
      </p:sp>
      <p:sp>
        <p:nvSpPr>
          <p:cNvPr id="6" name="LeftTitle"/>
          <p:cNvSpPr txBox="1"/>
          <p:nvPr/>
        </p:nvSpPr>
        <p:spPr>
          <a:xfrm>
            <a:off x="342900" y="1130300"/>
            <a:ext cx="5334000" cy="40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1875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Batch size 16</a:t>
            </a:r>
          </a:p>
        </p:txBody>
      </p:sp>
      <p:sp>
        <p:nvSpPr>
          <p:cNvPr id="7" name="RightTitle"/>
          <p:cNvSpPr txBox="1"/>
          <p:nvPr/>
        </p:nvSpPr>
        <p:spPr>
          <a:xfrm>
            <a:off x="6115050" y="1130300"/>
            <a:ext cx="5715000" cy="40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1875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Batch size 256</a:t>
            </a:r>
          </a:p>
        </p:txBody>
      </p:sp>
      <p:sp>
        <p:nvSpPr>
          <p:cNvPr id="10" name="Caption"/>
          <p:cNvSpPr txBox="1"/>
          <p:nvPr/>
        </p:nvSpPr>
        <p:spPr>
          <a:xfrm>
            <a:off x="342900" y="6159500"/>
            <a:ext cx="11487150" cy="355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1800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• BS=16은 All, BS=256은 Prefix caching이 가장 빠름</a:t>
            </a:r>
          </a:p>
        </p:txBody>
      </p:sp>
      <p:sp>
        <p:nvSpPr>
          <p:cNvPr id="11" name="Source"/>
          <p:cNvSpPr txBox="1"/>
          <p:nvPr/>
        </p:nvSpPr>
        <p:spPr>
          <a:xfrm>
            <a:off x="1397000" y="6565900"/>
            <a:ext cx="9398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1050">
                <a:solidFill>
                  <a:srgbClr val="596578"/>
                </a:solidFill>
                <a:latin typeface="Pretendard"/>
                <a:ea typeface="Pretendard"/>
                <a:cs typeface="Pretendard"/>
              </a:rPr>
              <a:t>출처: Du et al., arXiv:2508.09194v1 (COLM 2025 표기) · Table 2; 그래프는 원문 수치 재작성</a:t>
            </a: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342900" y="1651000"/>
          <a:ext cx="5334000" cy="4064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13" name="Chart 12"/>
          <p:cNvGraphicFramePr>
            <a:graphicFrameLocks noGrp="1"/>
          </p:cNvGraphicFramePr>
          <p:nvPr/>
        </p:nvGraphicFramePr>
        <p:xfrm>
          <a:off x="6115050" y="1651000"/>
          <a:ext cx="5715000" cy="40640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4" name="NoneBaseline"/>
          <p:cNvSpPr txBox="1"/>
          <p:nvPr/>
        </p:nvSpPr>
        <p:spPr>
          <a:xfrm>
            <a:off x="698500" y="5778500"/>
            <a:ext cx="10795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1200">
                <a:solidFill>
                  <a:srgbClr val="596578"/>
                </a:solidFill>
                <a:latin typeface="Pretendard"/>
                <a:ea typeface="Pretendard"/>
                <a:cs typeface="Pretendard"/>
              </a:rPr>
              <a:t>미가속(None): 1435.27초 / 1424.99초 · 그래프에서 제외하여 가속 기법 간 차이를 표시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eader"/>
          <p:cNvSpPr/>
          <p:nvPr/>
        </p:nvSpPr>
        <p:spPr>
          <a:xfrm>
            <a:off x="0" y="0"/>
            <a:ext cx="12192000" cy="781050"/>
          </a:xfrm>
          <a:prstGeom prst="rect">
            <a:avLst/>
          </a:prstGeom>
          <a:solidFill>
            <a:srgbClr val="1C50B3"/>
          </a:solidFill>
          <a:ln>
            <a:noFill/>
          </a:ln>
          <a:effectLst>
            <a:outerShdw blurRad="38100" dist="19050" dir="5400000" algn="ctr" rotWithShape="0">
              <a:srgbClr val="000000">
                <a:alpha val="3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itle"/>
          <p:cNvSpPr txBox="1"/>
          <p:nvPr/>
        </p:nvSpPr>
        <p:spPr>
          <a:xfrm>
            <a:off x="257175" y="38100"/>
            <a:ext cx="11677650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300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같은 GPU에서도 모델에 따라 효과가 달라진다</a:t>
            </a:r>
          </a:p>
        </p:txBody>
      </p:sp>
      <p:sp>
        <p:nvSpPr>
          <p:cNvPr id="4" name="Page"/>
          <p:cNvSpPr txBox="1"/>
          <p:nvPr/>
        </p:nvSpPr>
        <p:spPr>
          <a:xfrm>
            <a:off x="247650" y="6553200"/>
            <a:ext cx="1016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1128">
                <a:solidFill>
                  <a:srgbClr val="777777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  <p:sp>
        <p:nvSpPr>
          <p:cNvPr id="5" name="Logo"/>
          <p:cNvSpPr txBox="1"/>
          <p:nvPr/>
        </p:nvSpPr>
        <p:spPr>
          <a:xfrm>
            <a:off x="11163300" y="6413500"/>
            <a:ext cx="1028700" cy="44450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r">
              <a:lnSpc>
                <a:spcPct val="130000"/>
              </a:lnSpc>
              <a:spcAft>
                <a:spcPts val="800"/>
              </a:spcAft>
            </a:pPr>
            <a:r>
              <a:rPr sz="2258" b="1">
                <a:solidFill>
                  <a:srgbClr val="BE1551"/>
                </a:solidFill>
                <a:latin typeface="Pretendard"/>
                <a:ea typeface="Pretendard"/>
              </a:rPr>
              <a:t>CBNU</a:t>
            </a:r>
          </a:p>
        </p:txBody>
      </p:sp>
      <p:sp>
        <p:nvSpPr>
          <p:cNvPr id="7" name="Panel"/>
          <p:cNvSpPr/>
          <p:nvPr/>
        </p:nvSpPr>
        <p:spPr>
          <a:xfrm>
            <a:off x="476250" y="4457700"/>
            <a:ext cx="11239500" cy="1981200"/>
          </a:xfrm>
          <a:prstGeom prst="roundRect">
            <a:avLst>
              <a:gd name="adj" fmla="val 6000"/>
            </a:avLst>
          </a:prstGeom>
          <a:solidFill>
            <a:srgbClr val="1C50B3"/>
          </a:solidFill>
          <a:ln>
            <a:noFill/>
          </a:ln>
          <a:effectLst>
            <a:outerShdw blurRad="38100" dist="19050" dir="5400000" algn="ctr" rotWithShape="0">
              <a:srgbClr val="000000">
                <a:alpha val="3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PanelInterior"/>
          <p:cNvSpPr/>
          <p:nvPr/>
        </p:nvSpPr>
        <p:spPr>
          <a:xfrm>
            <a:off x="628650" y="4972050"/>
            <a:ext cx="10934700" cy="13144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PanelTitle"/>
          <p:cNvSpPr txBox="1"/>
          <p:nvPr/>
        </p:nvSpPr>
        <p:spPr>
          <a:xfrm>
            <a:off x="685800" y="4495800"/>
            <a:ext cx="108204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173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• Prefix caching의 효과는 모델별로 반대 방향</a:t>
            </a:r>
          </a:p>
        </p:txBody>
      </p:sp>
      <p:sp>
        <p:nvSpPr>
          <p:cNvPr id="10" name="PanelBody"/>
          <p:cNvSpPr txBox="1"/>
          <p:nvPr/>
        </p:nvSpPr>
        <p:spPr>
          <a:xfrm>
            <a:off x="781050" y="5124450"/>
            <a:ext cx="10629900" cy="1009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b="1" sz="1655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• NVIDIA L4, BS=1024, continuous batching은 기본 활성화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b="1" sz="1655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• 표의 ±%는 원문 표기 · 양수는 성능 향상, 음수는 성능 저하로 설명</a:t>
            </a:r>
          </a:p>
        </p:txBody>
      </p:sp>
      <p:sp>
        <p:nvSpPr>
          <p:cNvPr id="11" name="Source"/>
          <p:cNvSpPr txBox="1"/>
          <p:nvPr/>
        </p:nvSpPr>
        <p:spPr>
          <a:xfrm>
            <a:off x="1397000" y="6565900"/>
            <a:ext cx="9398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1050">
                <a:solidFill>
                  <a:srgbClr val="596578"/>
                </a:solidFill>
                <a:latin typeface="Pretendard"/>
                <a:ea typeface="Pretendard"/>
                <a:cs typeface="Pretendard"/>
              </a:rPr>
              <a:t>출처: Du et al., arXiv:2508.09194v1 (COLM 2025 표기) · Table 1, §1 · 변화율의 세부 산식은 원문 미명시</a:t>
            </a:r>
          </a:p>
        </p:txBody>
      </p:sp>
      <p:graphicFrame>
        <p:nvGraphicFramePr>
          <p:cNvPr id="12" name="EditableTable"/>
          <p:cNvGraphicFramePr>
            <a:graphicFrameLocks noGrp="1"/>
          </p:cNvGraphicFramePr>
          <p:nvPr/>
        </p:nvGraphicFramePr>
        <p:xfrm>
          <a:off x="476250" y="1162050"/>
          <a:ext cx="11239500" cy="30289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18000"/>
                <a:gridCol w="2286000"/>
                <a:gridCol w="2349500"/>
                <a:gridCol w="2286000"/>
              </a:tblGrid>
              <a:tr h="605790"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1700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모델</a:t>
                      </a:r>
                    </a:p>
                  </a:txBody>
                  <a:tcPr marL="101600" marR="101600" marT="25400" marB="25400" anchor="ctr">
                    <a:solidFill>
                      <a:srgbClr val="1C50B3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1700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Chunked prefill</a:t>
                      </a:r>
                    </a:p>
                  </a:txBody>
                  <a:tcPr marL="101600" marR="101600" marT="25400" marB="25400" anchor="ctr">
                    <a:solidFill>
                      <a:srgbClr val="1C50B3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1700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Prefix caching</a:t>
                      </a:r>
                    </a:p>
                  </a:txBody>
                  <a:tcPr marL="101600" marR="101600" marT="25400" marB="25400" anchor="ctr">
                    <a:solidFill>
                      <a:srgbClr val="1C50B3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1700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All</a:t>
                      </a:r>
                    </a:p>
                  </a:txBody>
                  <a:tcPr marL="101600" marR="101600" marT="25400" marB="25400" anchor="ctr">
                    <a:solidFill>
                      <a:srgbClr val="1C50B3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05790"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1600">
                          <a:solidFill>
                            <a:srgbClr val="080808"/>
                          </a:solidFill>
                          <a:latin typeface="Pretendard"/>
                          <a:ea typeface="Pretendard"/>
                          <a:cs typeface="Pretendard"/>
                        </a:rPr>
                        <a:t>Baichuan2-7B-Chat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1600">
                          <a:solidFill>
                            <a:srgbClr val="080808"/>
                          </a:solidFill>
                          <a:latin typeface="Pretendard"/>
                          <a:ea typeface="Pretendard"/>
                          <a:cs typeface="Pretendard"/>
                        </a:rPr>
                        <a:t>+3.82%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1600">
                          <a:solidFill>
                            <a:srgbClr val="276B54"/>
                          </a:solidFill>
                          <a:latin typeface="Pretendard"/>
                          <a:ea typeface="Pretendard"/>
                          <a:cs typeface="Pretendard"/>
                        </a:rPr>
                        <a:t>+37.63%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1600">
                          <a:solidFill>
                            <a:srgbClr val="080808"/>
                          </a:solidFill>
                          <a:latin typeface="Pretendard"/>
                          <a:ea typeface="Pretendard"/>
                          <a:cs typeface="Pretendard"/>
                        </a:rPr>
                        <a:t>+7.96%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05790"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1600">
                          <a:solidFill>
                            <a:srgbClr val="080808"/>
                          </a:solidFill>
                          <a:latin typeface="Pretendard"/>
                          <a:ea typeface="Pretendard"/>
                          <a:cs typeface="Pretendard"/>
                        </a:rPr>
                        <a:t>Qwen2.5-7B-Instruct-1M</a:t>
                      </a:r>
                    </a:p>
                  </a:txBody>
                  <a:tcPr marL="101600" marR="101600" marT="25400" marB="25400" anchor="ctr">
                    <a:solidFill>
                      <a:srgbClr val="EEF3FB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1600">
                          <a:solidFill>
                            <a:srgbClr val="080808"/>
                          </a:solidFill>
                          <a:latin typeface="Pretendard"/>
                          <a:ea typeface="Pretendard"/>
                          <a:cs typeface="Pretendard"/>
                        </a:rPr>
                        <a:t>+4.15%</a:t>
                      </a:r>
                    </a:p>
                  </a:txBody>
                  <a:tcPr marL="101600" marR="101600" marT="25400" marB="25400" anchor="ctr">
                    <a:solidFill>
                      <a:srgbClr val="EEF3FB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1600">
                          <a:solidFill>
                            <a:srgbClr val="080808"/>
                          </a:solidFill>
                          <a:latin typeface="Pretendard"/>
                          <a:ea typeface="Pretendard"/>
                          <a:cs typeface="Pretendard"/>
                        </a:rPr>
                        <a:t>−10.66%</a:t>
                      </a:r>
                    </a:p>
                  </a:txBody>
                  <a:tcPr marL="101600" marR="101600" marT="25400" marB="25400" anchor="ctr">
                    <a:solidFill>
                      <a:srgbClr val="EEF3FB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1600">
                          <a:solidFill>
                            <a:srgbClr val="080808"/>
                          </a:solidFill>
                          <a:latin typeface="Pretendard"/>
                          <a:ea typeface="Pretendard"/>
                          <a:cs typeface="Pretendard"/>
                        </a:rPr>
                        <a:t>−7.20%</a:t>
                      </a:r>
                    </a:p>
                  </a:txBody>
                  <a:tcPr marL="101600" marR="101600" marT="25400" marB="25400" anchor="ctr">
                    <a:solidFill>
                      <a:srgbClr val="EEF3FB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05790"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1600">
                          <a:solidFill>
                            <a:srgbClr val="080808"/>
                          </a:solidFill>
                          <a:latin typeface="Pretendard"/>
                          <a:ea typeface="Pretendard"/>
                          <a:cs typeface="Pretendard"/>
                        </a:rPr>
                        <a:t>Phi-2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1600">
                          <a:solidFill>
                            <a:srgbClr val="080808"/>
                          </a:solidFill>
                          <a:latin typeface="Pretendard"/>
                          <a:ea typeface="Pretendard"/>
                          <a:cs typeface="Pretendard"/>
                        </a:rPr>
                        <a:t>−0.90%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1600">
                          <a:solidFill>
                            <a:srgbClr val="BE1551"/>
                          </a:solidFill>
                          <a:latin typeface="Pretendard"/>
                          <a:ea typeface="Pretendard"/>
                          <a:cs typeface="Pretendard"/>
                        </a:rPr>
                        <a:t>−56.79%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1600">
                          <a:solidFill>
                            <a:srgbClr val="080808"/>
                          </a:solidFill>
                          <a:latin typeface="Pretendard"/>
                          <a:ea typeface="Pretendard"/>
                          <a:cs typeface="Pretendard"/>
                        </a:rPr>
                        <a:t>−11.39%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05790"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1600">
                          <a:solidFill>
                            <a:srgbClr val="080808"/>
                          </a:solidFill>
                          <a:latin typeface="Pretendard"/>
                          <a:ea typeface="Pretendard"/>
                          <a:cs typeface="Pretendard"/>
                        </a:rPr>
                        <a:t>Meta-Llama-3.1-8B-Instruct</a:t>
                      </a:r>
                    </a:p>
                  </a:txBody>
                  <a:tcPr marL="101600" marR="101600" marT="25400" marB="25400" anchor="ctr">
                    <a:solidFill>
                      <a:srgbClr val="EEF3FB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1600">
                          <a:solidFill>
                            <a:srgbClr val="080808"/>
                          </a:solidFill>
                          <a:latin typeface="Pretendard"/>
                          <a:ea typeface="Pretendard"/>
                          <a:cs typeface="Pretendard"/>
                        </a:rPr>
                        <a:t>+5.40%</a:t>
                      </a:r>
                    </a:p>
                  </a:txBody>
                  <a:tcPr marL="101600" marR="101600" marT="25400" marB="25400" anchor="ctr">
                    <a:solidFill>
                      <a:srgbClr val="EEF3FB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1600">
                          <a:solidFill>
                            <a:srgbClr val="080808"/>
                          </a:solidFill>
                          <a:latin typeface="Pretendard"/>
                          <a:ea typeface="Pretendard"/>
                          <a:cs typeface="Pretendard"/>
                        </a:rPr>
                        <a:t>−4.03%</a:t>
                      </a:r>
                    </a:p>
                  </a:txBody>
                  <a:tcPr marL="101600" marR="101600" marT="25400" marB="25400" anchor="ctr">
                    <a:solidFill>
                      <a:srgbClr val="EEF3FB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1600">
                          <a:solidFill>
                            <a:srgbClr val="080808"/>
                          </a:solidFill>
                          <a:latin typeface="Pretendard"/>
                          <a:ea typeface="Pretendard"/>
                          <a:cs typeface="Pretendard"/>
                        </a:rPr>
                        <a:t>+0.33%</a:t>
                      </a:r>
                    </a:p>
                  </a:txBody>
                  <a:tcPr marL="101600" marR="101600" marT="25400" marB="25400" anchor="ctr">
                    <a:solidFill>
                      <a:srgbClr val="EEF3FB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eader"/>
          <p:cNvSpPr/>
          <p:nvPr/>
        </p:nvSpPr>
        <p:spPr>
          <a:xfrm>
            <a:off x="0" y="0"/>
            <a:ext cx="12192000" cy="781050"/>
          </a:xfrm>
          <a:prstGeom prst="rect">
            <a:avLst/>
          </a:prstGeom>
          <a:solidFill>
            <a:srgbClr val="1C50B3"/>
          </a:solidFill>
          <a:ln>
            <a:noFill/>
          </a:ln>
          <a:effectLst>
            <a:outerShdw blurRad="38100" dist="19050" dir="5400000" algn="ctr" rotWithShape="0">
              <a:srgbClr val="000000">
                <a:alpha val="3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itle"/>
          <p:cNvSpPr txBox="1"/>
          <p:nvPr/>
        </p:nvSpPr>
        <p:spPr>
          <a:xfrm>
            <a:off x="257175" y="38100"/>
            <a:ext cx="11677650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300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GPU를 두 배로 늘려도 개선 폭은 제한적</a:t>
            </a:r>
          </a:p>
        </p:txBody>
      </p:sp>
      <p:sp>
        <p:nvSpPr>
          <p:cNvPr id="4" name="Page"/>
          <p:cNvSpPr txBox="1"/>
          <p:nvPr/>
        </p:nvSpPr>
        <p:spPr>
          <a:xfrm>
            <a:off x="247650" y="6553200"/>
            <a:ext cx="1016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1128">
                <a:solidFill>
                  <a:srgbClr val="777777"/>
                </a:solidFill>
                <a:latin typeface="Pretendard"/>
                <a:ea typeface="Pretendard"/>
                <a:cs typeface="Pretendard"/>
              </a:rPr>
              <a:t>11</a:t>
            </a:r>
          </a:p>
        </p:txBody>
      </p:sp>
      <p:sp>
        <p:nvSpPr>
          <p:cNvPr id="5" name="Logo"/>
          <p:cNvSpPr txBox="1"/>
          <p:nvPr/>
        </p:nvSpPr>
        <p:spPr>
          <a:xfrm>
            <a:off x="11163300" y="6413500"/>
            <a:ext cx="1028700" cy="44450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r">
              <a:lnSpc>
                <a:spcPct val="130000"/>
              </a:lnSpc>
              <a:spcAft>
                <a:spcPts val="800"/>
              </a:spcAft>
            </a:pPr>
            <a:r>
              <a:rPr sz="2258" b="1">
                <a:solidFill>
                  <a:srgbClr val="BE1551"/>
                </a:solidFill>
                <a:latin typeface="Pretendard"/>
                <a:ea typeface="Pretendard"/>
              </a:rPr>
              <a:t>CBNU</a:t>
            </a:r>
          </a:p>
        </p:txBody>
      </p:sp>
      <p:sp>
        <p:nvSpPr>
          <p:cNvPr id="7" name="Panel"/>
          <p:cNvSpPr/>
          <p:nvPr/>
        </p:nvSpPr>
        <p:spPr>
          <a:xfrm>
            <a:off x="476250" y="4457700"/>
            <a:ext cx="11239500" cy="1981200"/>
          </a:xfrm>
          <a:prstGeom prst="roundRect">
            <a:avLst>
              <a:gd name="adj" fmla="val 6000"/>
            </a:avLst>
          </a:prstGeom>
          <a:solidFill>
            <a:srgbClr val="1C50B3"/>
          </a:solidFill>
          <a:ln>
            <a:noFill/>
          </a:ln>
          <a:effectLst>
            <a:outerShdw blurRad="38100" dist="19050" dir="5400000" algn="ctr" rotWithShape="0">
              <a:srgbClr val="000000">
                <a:alpha val="3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PanelInterior"/>
          <p:cNvSpPr/>
          <p:nvPr/>
        </p:nvSpPr>
        <p:spPr>
          <a:xfrm>
            <a:off x="628650" y="4972050"/>
            <a:ext cx="10934700" cy="13144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PanelTitle"/>
          <p:cNvSpPr txBox="1"/>
          <p:nvPr/>
        </p:nvSpPr>
        <p:spPr>
          <a:xfrm>
            <a:off x="685800" y="4495800"/>
            <a:ext cx="108204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173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• 하드웨어 증설과 가속 기법 선택을 함께 고려</a:t>
            </a:r>
          </a:p>
        </p:txBody>
      </p:sp>
      <p:sp>
        <p:nvSpPr>
          <p:cNvPr id="10" name="PanelBody"/>
          <p:cNvSpPr txBox="1"/>
          <p:nvPr/>
        </p:nvSpPr>
        <p:spPr>
          <a:xfrm>
            <a:off x="781050" y="5124450"/>
            <a:ext cx="10629900" cy="1009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b="1" sz="1655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• 4→8 GPU 시간 감소: 약 2.6~3.7% (표 수치로 계산)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b="1" sz="1655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• 괄호 값은 원문 그대로 · 분산/표준편차 중 어떤 정의인지 미명시</a:t>
            </a:r>
          </a:p>
        </p:txBody>
      </p:sp>
      <p:sp>
        <p:nvSpPr>
          <p:cNvPr id="11" name="Source"/>
          <p:cNvSpPr txBox="1"/>
          <p:nvPr/>
        </p:nvSpPr>
        <p:spPr>
          <a:xfrm>
            <a:off x="1397000" y="6565900"/>
            <a:ext cx="9398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1050">
                <a:solidFill>
                  <a:srgbClr val="596578"/>
                </a:solidFill>
                <a:latin typeface="Pretendard"/>
                <a:ea typeface="Pretendard"/>
                <a:cs typeface="Pretendard"/>
              </a:rPr>
              <a:t>출처: Du et al., arXiv:2508.09194v1 (COLM 2025 표기) · Table 3, §3.1–3.2 · 본문은 처리량 개선을 약 5%로 서술</a:t>
            </a:r>
          </a:p>
        </p:txBody>
      </p:sp>
      <p:graphicFrame>
        <p:nvGraphicFramePr>
          <p:cNvPr id="12" name="EditableTable"/>
          <p:cNvGraphicFramePr>
            <a:graphicFrameLocks noGrp="1"/>
          </p:cNvGraphicFramePr>
          <p:nvPr/>
        </p:nvGraphicFramePr>
        <p:xfrm>
          <a:off x="476250" y="1162050"/>
          <a:ext cx="11239500" cy="30289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35500"/>
                <a:gridCol w="3302000"/>
                <a:gridCol w="3302000"/>
              </a:tblGrid>
              <a:tr h="605790"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1700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가속 조합</a:t>
                      </a:r>
                    </a:p>
                  </a:txBody>
                  <a:tcPr marL="101600" marR="101600" marT="25400" marB="25400" anchor="ctr">
                    <a:solidFill>
                      <a:srgbClr val="1C50B3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1700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4 GPU 시간 (초)</a:t>
                      </a:r>
                    </a:p>
                  </a:txBody>
                  <a:tcPr marL="101600" marR="101600" marT="25400" marB="25400" anchor="ctr">
                    <a:solidFill>
                      <a:srgbClr val="1C50B3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1700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8 GPU 시간 (초)</a:t>
                      </a:r>
                    </a:p>
                  </a:txBody>
                  <a:tcPr marL="101600" marR="101600" marT="25400" marB="25400" anchor="ctr">
                    <a:solidFill>
                      <a:srgbClr val="1C50B3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05790"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1900">
                          <a:solidFill>
                            <a:srgbClr val="080808"/>
                          </a:solidFill>
                          <a:latin typeface="Pretendard"/>
                          <a:ea typeface="Pretendard"/>
                          <a:cs typeface="Pretendard"/>
                        </a:rPr>
                        <a:t>Chunked prefill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1900">
                          <a:solidFill>
                            <a:srgbClr val="080808"/>
                          </a:solidFill>
                          <a:latin typeface="Pretendard"/>
                          <a:ea typeface="Pretendard"/>
                          <a:cs typeface="Pretendard"/>
                        </a:rPr>
                        <a:t>120.89 (5.43)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1900">
                          <a:solidFill>
                            <a:srgbClr val="080808"/>
                          </a:solidFill>
                          <a:latin typeface="Pretendard"/>
                          <a:ea typeface="Pretendard"/>
                          <a:cs typeface="Pretendard"/>
                        </a:rPr>
                        <a:t>117.21 (5.15)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05790"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1900">
                          <a:solidFill>
                            <a:srgbClr val="080808"/>
                          </a:solidFill>
                          <a:latin typeface="Pretendard"/>
                          <a:ea typeface="Pretendard"/>
                          <a:cs typeface="Pretendard"/>
                        </a:rPr>
                        <a:t>Continuous batching</a:t>
                      </a:r>
                    </a:p>
                  </a:txBody>
                  <a:tcPr marL="101600" marR="101600" marT="25400" marB="25400" anchor="ctr">
                    <a:solidFill>
                      <a:srgbClr val="EEF3FB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1900">
                          <a:solidFill>
                            <a:srgbClr val="080808"/>
                          </a:solidFill>
                          <a:latin typeface="Pretendard"/>
                          <a:ea typeface="Pretendard"/>
                          <a:cs typeface="Pretendard"/>
                        </a:rPr>
                        <a:t>122.73 (12.75)</a:t>
                      </a:r>
                    </a:p>
                  </a:txBody>
                  <a:tcPr marL="101600" marR="101600" marT="25400" marB="25400" anchor="ctr">
                    <a:solidFill>
                      <a:srgbClr val="EEF3FB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1900">
                          <a:solidFill>
                            <a:srgbClr val="080808"/>
                          </a:solidFill>
                          <a:latin typeface="Pretendard"/>
                          <a:ea typeface="Pretendard"/>
                          <a:cs typeface="Pretendard"/>
                        </a:rPr>
                        <a:t>118.19 (13.87)</a:t>
                      </a:r>
                    </a:p>
                  </a:txBody>
                  <a:tcPr marL="101600" marR="101600" marT="25400" marB="25400" anchor="ctr">
                    <a:solidFill>
                      <a:srgbClr val="EEF3FB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05790"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1900">
                          <a:solidFill>
                            <a:srgbClr val="080808"/>
                          </a:solidFill>
                          <a:latin typeface="Pretendard"/>
                          <a:ea typeface="Pretendard"/>
                          <a:cs typeface="Pretendard"/>
                        </a:rPr>
                        <a:t>Prefix caching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1900">
                          <a:solidFill>
                            <a:srgbClr val="080808"/>
                          </a:solidFill>
                          <a:latin typeface="Pretendard"/>
                          <a:ea typeface="Pretendard"/>
                          <a:cs typeface="Pretendard"/>
                        </a:rPr>
                        <a:t>79.18 (11.86)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1900">
                          <a:solidFill>
                            <a:srgbClr val="080808"/>
                          </a:solidFill>
                          <a:latin typeface="Pretendard"/>
                          <a:ea typeface="Pretendard"/>
                          <a:cs typeface="Pretendard"/>
                        </a:rPr>
                        <a:t>76.33 (11.92)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05790"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1900">
                          <a:solidFill>
                            <a:srgbClr val="080808"/>
                          </a:solidFill>
                          <a:latin typeface="Pretendard"/>
                          <a:ea typeface="Pretendard"/>
                          <a:cs typeface="Pretendard"/>
                        </a:rPr>
                        <a:t>All</a:t>
                      </a:r>
                    </a:p>
                  </a:txBody>
                  <a:tcPr marL="101600" marR="101600" marT="25400" marB="25400" anchor="ctr">
                    <a:solidFill>
                      <a:srgbClr val="EEF3FB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1900">
                          <a:solidFill>
                            <a:srgbClr val="080808"/>
                          </a:solidFill>
                          <a:latin typeface="Pretendard"/>
                          <a:ea typeface="Pretendard"/>
                          <a:cs typeface="Pretendard"/>
                        </a:rPr>
                        <a:t>85.07 (6.04)</a:t>
                      </a:r>
                    </a:p>
                  </a:txBody>
                  <a:tcPr marL="101600" marR="101600" marT="25400" marB="25400" anchor="ctr">
                    <a:solidFill>
                      <a:srgbClr val="EEF3FB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1900">
                          <a:solidFill>
                            <a:srgbClr val="080808"/>
                          </a:solidFill>
                          <a:latin typeface="Pretendard"/>
                          <a:ea typeface="Pretendard"/>
                          <a:cs typeface="Pretendard"/>
                        </a:rPr>
                        <a:t>82.90 (5.96)</a:t>
                      </a:r>
                    </a:p>
                  </a:txBody>
                  <a:tcPr marL="101600" marR="101600" marT="25400" marB="25400" anchor="ctr">
                    <a:solidFill>
                      <a:srgbClr val="EEF3FB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eader"/>
          <p:cNvSpPr/>
          <p:nvPr/>
        </p:nvSpPr>
        <p:spPr>
          <a:xfrm>
            <a:off x="0" y="0"/>
            <a:ext cx="12192000" cy="781050"/>
          </a:xfrm>
          <a:prstGeom prst="rect">
            <a:avLst/>
          </a:prstGeom>
          <a:solidFill>
            <a:srgbClr val="1C50B3"/>
          </a:solidFill>
          <a:ln>
            <a:noFill/>
          </a:ln>
          <a:effectLst>
            <a:outerShdw blurRad="38100" dist="19050" dir="5400000" algn="ctr" rotWithShape="0">
              <a:srgbClr val="000000">
                <a:alpha val="3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itle"/>
          <p:cNvSpPr txBox="1"/>
          <p:nvPr/>
        </p:nvSpPr>
        <p:spPr>
          <a:xfrm>
            <a:off x="257175" y="38100"/>
            <a:ext cx="11677650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300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MetaInf 전체 구조: 과거 성능으로 새 조합을 예측</a:t>
            </a:r>
          </a:p>
        </p:txBody>
      </p:sp>
      <p:sp>
        <p:nvSpPr>
          <p:cNvPr id="4" name="Page"/>
          <p:cNvSpPr txBox="1"/>
          <p:nvPr/>
        </p:nvSpPr>
        <p:spPr>
          <a:xfrm>
            <a:off x="247650" y="6553200"/>
            <a:ext cx="1016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1128">
                <a:solidFill>
                  <a:srgbClr val="777777"/>
                </a:solidFill>
                <a:latin typeface="Pretendard"/>
                <a:ea typeface="Pretendard"/>
                <a:cs typeface="Pretendard"/>
              </a:rPr>
              <a:t>12</a:t>
            </a:r>
          </a:p>
        </p:txBody>
      </p:sp>
      <p:sp>
        <p:nvSpPr>
          <p:cNvPr id="5" name="Logo"/>
          <p:cNvSpPr txBox="1"/>
          <p:nvPr/>
        </p:nvSpPr>
        <p:spPr>
          <a:xfrm>
            <a:off x="11163300" y="6413500"/>
            <a:ext cx="1028700" cy="44450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r">
              <a:lnSpc>
                <a:spcPct val="130000"/>
              </a:lnSpc>
              <a:spcAft>
                <a:spcPts val="800"/>
              </a:spcAft>
            </a:pPr>
            <a:r>
              <a:rPr sz="2258" b="1">
                <a:solidFill>
                  <a:srgbClr val="BE1551"/>
                </a:solidFill>
                <a:latin typeface="Pretendard"/>
                <a:ea typeface="Pretendard"/>
              </a:rPr>
              <a:t>CBNU</a:t>
            </a:r>
          </a:p>
        </p:txBody>
      </p:sp>
      <p:sp>
        <p:nvSpPr>
          <p:cNvPr id="6" name="ExplanationBox"/>
          <p:cNvSpPr/>
          <p:nvPr/>
        </p:nvSpPr>
        <p:spPr>
          <a:xfrm>
            <a:off x="257175" y="1085850"/>
            <a:ext cx="11677650" cy="5257800"/>
          </a:xfrm>
          <a:prstGeom prst="roundRect">
            <a:avLst>
              <a:gd name="adj" fmla="val 6000"/>
            </a:avLst>
          </a:prstGeom>
          <a:solidFill>
            <a:srgbClr val="1C50B3"/>
          </a:solidFill>
          <a:ln>
            <a:noFill/>
          </a:ln>
          <a:effectLst>
            <a:outerShdw blurRad="38100" dist="19050" dir="5400000" algn="ctr" rotWithShape="0">
              <a:srgbClr val="000000">
                <a:alpha val="3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ExplanationBoxInterior"/>
          <p:cNvSpPr/>
          <p:nvPr/>
        </p:nvSpPr>
        <p:spPr>
          <a:xfrm>
            <a:off x="409575" y="1238250"/>
            <a:ext cx="11372850" cy="4953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ource"/>
          <p:cNvSpPr txBox="1"/>
          <p:nvPr/>
        </p:nvSpPr>
        <p:spPr>
          <a:xfrm>
            <a:off x="1397000" y="6565900"/>
            <a:ext cx="9398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1050">
                <a:solidFill>
                  <a:srgbClr val="596578"/>
                </a:solidFill>
                <a:latin typeface="Pretendard"/>
                <a:ea typeface="Pretendard"/>
                <a:cs typeface="Pretendard"/>
              </a:rPr>
              <a:t>출처: Du et al., arXiv:2508.09194v1 (COLM 2025 표기) · Figure 2, §3.3–3.5 · 편집 가능한 도식으로 재구성</a:t>
            </a:r>
          </a:p>
        </p:txBody>
      </p:sp>
      <p:sp>
        <p:nvSpPr>
          <p:cNvPr id="10" name="OfflineTitle"/>
          <p:cNvSpPr txBox="1"/>
          <p:nvPr/>
        </p:nvSpPr>
        <p:spPr>
          <a:xfrm>
            <a:off x="561975" y="1460500"/>
            <a:ext cx="10795000" cy="469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2200">
                <a:solidFill>
                  <a:srgbClr val="1C50B3"/>
                </a:solidFill>
                <a:latin typeface="Pretendard"/>
                <a:ea typeface="Pretendard"/>
                <a:cs typeface="Pretendard"/>
              </a:rPr>
              <a:t>① Offline: 과거 환경에서 성능을 학습</a:t>
            </a:r>
          </a:p>
        </p:txBody>
      </p:sp>
      <p:sp>
        <p:nvSpPr>
          <p:cNvPr id="11" name="Offline과거 실행 기록"/>
          <p:cNvSpPr/>
          <p:nvPr/>
        </p:nvSpPr>
        <p:spPr>
          <a:xfrm>
            <a:off x="571500" y="2120900"/>
            <a:ext cx="2159000" cy="1016000"/>
          </a:xfrm>
          <a:prstGeom prst="rect">
            <a:avLst/>
          </a:prstGeom>
          <a:solidFill>
            <a:srgbClr val="EE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1900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과거 실행 기록</a:t>
            </a:r>
          </a:p>
        </p:txBody>
      </p:sp>
      <p:sp>
        <p:nvSpPr>
          <p:cNvPr id="12" name="Offline설명 → 임베딩 → SVD"/>
          <p:cNvSpPr/>
          <p:nvPr/>
        </p:nvSpPr>
        <p:spPr>
          <a:xfrm>
            <a:off x="3289300" y="2120900"/>
            <a:ext cx="2413000" cy="1016000"/>
          </a:xfrm>
          <a:prstGeom prst="rect">
            <a:avLst/>
          </a:prstGeom>
          <a:solidFill>
            <a:srgbClr val="EE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1900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설명 → 임베딩</a:t>
            </a:r>
            <a:br/>
            <a:r>
              <a:rPr b="1" sz="1900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→ SVD</a:t>
            </a:r>
          </a:p>
        </p:txBody>
      </p:sp>
      <p:sp>
        <p:nvSpPr>
          <p:cNvPr id="13" name="OfflineXGBoost 성능 예측기 f"/>
          <p:cNvSpPr/>
          <p:nvPr/>
        </p:nvSpPr>
        <p:spPr>
          <a:xfrm>
            <a:off x="6261100" y="2120900"/>
            <a:ext cx="2286000" cy="1016000"/>
          </a:xfrm>
          <a:prstGeom prst="rect">
            <a:avLst/>
          </a:prstGeom>
          <a:solidFill>
            <a:srgbClr val="EE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1900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XGBoost</a:t>
            </a:r>
            <a:br/>
            <a:r>
              <a:rPr b="1" sz="1900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성능 예측기 f</a:t>
            </a:r>
          </a:p>
        </p:txBody>
      </p:sp>
      <p:sp>
        <p:nvSpPr>
          <p:cNvPr id="14" name="Offline성능 매핑 학습"/>
          <p:cNvSpPr/>
          <p:nvPr/>
        </p:nvSpPr>
        <p:spPr>
          <a:xfrm>
            <a:off x="9105900" y="2120900"/>
            <a:ext cx="2374900" cy="1016000"/>
          </a:xfrm>
          <a:prstGeom prst="rect">
            <a:avLst/>
          </a:prstGeom>
          <a:solidFill>
            <a:srgbClr val="EE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1900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성능 매핑 학습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730500" y="2628900"/>
            <a:ext cx="495300" cy="0"/>
          </a:xfrm>
          <a:prstGeom prst="line">
            <a:avLst/>
          </a:prstGeom>
          <a:ln w="25400">
            <a:solidFill>
              <a:srgbClr val="1C50B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702300" y="2628900"/>
            <a:ext cx="495300" cy="0"/>
          </a:xfrm>
          <a:prstGeom prst="line">
            <a:avLst/>
          </a:prstGeom>
          <a:ln w="25400">
            <a:solidFill>
              <a:srgbClr val="1C50B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8547100" y="2628900"/>
            <a:ext cx="495300" cy="0"/>
          </a:xfrm>
          <a:prstGeom prst="line">
            <a:avLst/>
          </a:prstGeom>
          <a:ln w="25400">
            <a:solidFill>
              <a:srgbClr val="1C50B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nlineTitle"/>
          <p:cNvSpPr txBox="1"/>
          <p:nvPr/>
        </p:nvSpPr>
        <p:spPr>
          <a:xfrm>
            <a:off x="561975" y="3644900"/>
            <a:ext cx="10795000" cy="469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2200">
                <a:solidFill>
                  <a:srgbClr val="1C50B3"/>
                </a:solidFill>
                <a:latin typeface="Pretendard"/>
                <a:ea typeface="Pretendard"/>
                <a:cs typeface="Pretendard"/>
              </a:rPr>
              <a:t>② Online: 새 환경의 가속 조합을 선택</a:t>
            </a:r>
          </a:p>
        </p:txBody>
      </p:sp>
      <p:sp>
        <p:nvSpPr>
          <p:cNvPr id="19" name="Online새 입력·모델 ·GPU"/>
          <p:cNvSpPr/>
          <p:nvPr/>
        </p:nvSpPr>
        <p:spPr>
          <a:xfrm>
            <a:off x="571500" y="4330700"/>
            <a:ext cx="2159000" cy="1016000"/>
          </a:xfrm>
          <a:prstGeom prst="rect">
            <a:avLst/>
          </a:prstGeom>
          <a:solidFill>
            <a:srgbClr val="EE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1900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새 입력·모델</a:t>
            </a:r>
            <a:br/>
            <a:r>
              <a:rPr b="1" sz="1900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·GPU</a:t>
            </a:r>
          </a:p>
        </p:txBody>
      </p:sp>
      <p:sp>
        <p:nvSpPr>
          <p:cNvPr id="20" name="Online동일한 임베딩 ·SVD 변환"/>
          <p:cNvSpPr/>
          <p:nvPr/>
        </p:nvSpPr>
        <p:spPr>
          <a:xfrm>
            <a:off x="3289300" y="4330700"/>
            <a:ext cx="2413000" cy="1016000"/>
          </a:xfrm>
          <a:prstGeom prst="rect">
            <a:avLst/>
          </a:prstGeom>
          <a:solidFill>
            <a:srgbClr val="EE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1900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동일한 임베딩</a:t>
            </a:r>
            <a:br/>
            <a:r>
              <a:rPr b="1" sz="1900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·SVD 변환</a:t>
            </a:r>
          </a:p>
        </p:txBody>
      </p:sp>
      <p:sp>
        <p:nvSpPr>
          <p:cNvPr id="21" name="Online후보별 시간 ·비용 예측"/>
          <p:cNvSpPr/>
          <p:nvPr/>
        </p:nvSpPr>
        <p:spPr>
          <a:xfrm>
            <a:off x="6261100" y="4330700"/>
            <a:ext cx="2286000" cy="1016000"/>
          </a:xfrm>
          <a:prstGeom prst="rect">
            <a:avLst/>
          </a:prstGeom>
          <a:solidFill>
            <a:srgbClr val="EE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1900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후보별 시간</a:t>
            </a:r>
            <a:br/>
            <a:r>
              <a:rPr b="1" sz="1900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·비용 예측</a:t>
            </a:r>
          </a:p>
        </p:txBody>
      </p:sp>
      <p:sp>
        <p:nvSpPr>
          <p:cNvPr id="22" name="Online예산 내 최적 조합 실행"/>
          <p:cNvSpPr/>
          <p:nvPr/>
        </p:nvSpPr>
        <p:spPr>
          <a:xfrm>
            <a:off x="9105900" y="4330700"/>
            <a:ext cx="2374900" cy="1016000"/>
          </a:xfrm>
          <a:prstGeom prst="rect">
            <a:avLst/>
          </a:prstGeom>
          <a:solidFill>
            <a:srgbClr val="EE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1900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예산 내</a:t>
            </a:r>
            <a:br/>
            <a:r>
              <a:rPr b="1" sz="1900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최적 조합 실행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730500" y="4838700"/>
            <a:ext cx="495300" cy="0"/>
          </a:xfrm>
          <a:prstGeom prst="line">
            <a:avLst/>
          </a:prstGeom>
          <a:ln w="25400">
            <a:solidFill>
              <a:srgbClr val="1C50B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702300" y="4838700"/>
            <a:ext cx="495300" cy="0"/>
          </a:xfrm>
          <a:prstGeom prst="line">
            <a:avLst/>
          </a:prstGeom>
          <a:ln w="25400">
            <a:solidFill>
              <a:srgbClr val="1C50B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8547100" y="4838700"/>
            <a:ext cx="495300" cy="0"/>
          </a:xfrm>
          <a:prstGeom prst="line">
            <a:avLst/>
          </a:prstGeom>
          <a:ln w="25400">
            <a:solidFill>
              <a:srgbClr val="1C50B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PipelineNote"/>
          <p:cNvSpPr txBox="1"/>
          <p:nvPr/>
        </p:nvSpPr>
        <p:spPr>
          <a:xfrm>
            <a:off x="571500" y="5588000"/>
            <a:ext cx="10922000" cy="444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2000">
                <a:solidFill>
                  <a:srgbClr val="1C50B3"/>
                </a:solidFill>
                <a:latin typeface="Pretendard"/>
                <a:ea typeface="Pretendard"/>
                <a:cs typeface="Pretendard"/>
              </a:rPr>
              <a:t>새 환경의 모든 후보를 실제로 실행하는 과정을 예측으로 대체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eader"/>
          <p:cNvSpPr/>
          <p:nvPr/>
        </p:nvSpPr>
        <p:spPr>
          <a:xfrm>
            <a:off x="0" y="0"/>
            <a:ext cx="12192000" cy="781050"/>
          </a:xfrm>
          <a:prstGeom prst="rect">
            <a:avLst/>
          </a:prstGeom>
          <a:solidFill>
            <a:srgbClr val="1C50B3"/>
          </a:solidFill>
          <a:ln>
            <a:noFill/>
          </a:ln>
          <a:effectLst>
            <a:outerShdw blurRad="38100" dist="19050" dir="5400000" algn="ctr" rotWithShape="0">
              <a:srgbClr val="000000">
                <a:alpha val="3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itle"/>
          <p:cNvSpPr txBox="1"/>
          <p:nvPr/>
        </p:nvSpPr>
        <p:spPr>
          <a:xfrm>
            <a:off x="257175" y="38100"/>
            <a:ext cx="11677650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300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문제 정의: 실행 성능과 배포 예산을 함께 고려</a:t>
            </a:r>
          </a:p>
        </p:txBody>
      </p:sp>
      <p:sp>
        <p:nvSpPr>
          <p:cNvPr id="4" name="Page"/>
          <p:cNvSpPr txBox="1"/>
          <p:nvPr/>
        </p:nvSpPr>
        <p:spPr>
          <a:xfrm>
            <a:off x="247650" y="6553200"/>
            <a:ext cx="1016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1128">
                <a:solidFill>
                  <a:srgbClr val="777777"/>
                </a:solidFill>
                <a:latin typeface="Pretendard"/>
                <a:ea typeface="Pretendard"/>
                <a:cs typeface="Pretendard"/>
              </a:rPr>
              <a:t>13</a:t>
            </a:r>
          </a:p>
        </p:txBody>
      </p:sp>
      <p:sp>
        <p:nvSpPr>
          <p:cNvPr id="5" name="Logo"/>
          <p:cNvSpPr txBox="1"/>
          <p:nvPr/>
        </p:nvSpPr>
        <p:spPr>
          <a:xfrm>
            <a:off x="11163300" y="6413500"/>
            <a:ext cx="1028700" cy="44450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r">
              <a:lnSpc>
                <a:spcPct val="130000"/>
              </a:lnSpc>
              <a:spcAft>
                <a:spcPts val="800"/>
              </a:spcAft>
            </a:pPr>
            <a:r>
              <a:rPr sz="2258" b="1">
                <a:solidFill>
                  <a:srgbClr val="BE1551"/>
                </a:solidFill>
                <a:latin typeface="Pretendard"/>
                <a:ea typeface="Pretendard"/>
              </a:rPr>
              <a:t>CBNU</a:t>
            </a:r>
          </a:p>
        </p:txBody>
      </p:sp>
      <p:sp>
        <p:nvSpPr>
          <p:cNvPr id="6" name="Equation"/>
          <p:cNvSpPr txBox="1"/>
          <p:nvPr/>
        </p:nvSpPr>
        <p:spPr>
          <a:xfrm>
            <a:off x="342900" y="1460500"/>
            <a:ext cx="11487150" cy="55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2200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M* = argmin t_pred(j, k)     subject to  r_k × t_pred(j, k) ≤ b</a:t>
            </a:r>
          </a:p>
        </p:txBody>
      </p:sp>
      <p:sp>
        <p:nvSpPr>
          <p:cNvPr id="7" name="ExplanationBox"/>
          <p:cNvSpPr/>
          <p:nvPr/>
        </p:nvSpPr>
        <p:spPr>
          <a:xfrm>
            <a:off x="257175" y="2413000"/>
            <a:ext cx="11677650" cy="3930650"/>
          </a:xfrm>
          <a:prstGeom prst="roundRect">
            <a:avLst>
              <a:gd name="adj" fmla="val 6000"/>
            </a:avLst>
          </a:prstGeom>
          <a:solidFill>
            <a:srgbClr val="1C50B3"/>
          </a:solidFill>
          <a:ln>
            <a:noFill/>
          </a:ln>
          <a:effectLst>
            <a:outerShdw blurRad="38100" dist="19050" dir="5400000" algn="ctr" rotWithShape="0">
              <a:srgbClr val="000000">
                <a:alpha val="3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xplanationBoxInterior"/>
          <p:cNvSpPr/>
          <p:nvPr/>
        </p:nvSpPr>
        <p:spPr>
          <a:xfrm>
            <a:off x="409575" y="2565400"/>
            <a:ext cx="11372850" cy="3625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Body"/>
          <p:cNvSpPr txBox="1"/>
          <p:nvPr/>
        </p:nvSpPr>
        <p:spPr>
          <a:xfrm>
            <a:off x="561975" y="2717800"/>
            <a:ext cx="11068050" cy="3321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400"/>
              </a:spcAft>
            </a:pPr>
            <a:r>
              <a:rPr b="1" sz="2200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• M_j: 가속 조합 / H_k: 실행 GPU 구성 / b: 허용 비용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400"/>
              </a:spcAft>
            </a:pPr>
            <a:r>
              <a:rPr b="1" sz="2200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• t_pred(j, k): 새 작업에서 후보 조합의 예측 실행 시간</a:t>
            </a:r>
            <a:br/>
            <a:r>
              <a:rPr b="1" sz="2200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  r_k: GPU 구성의 단위 시간당 비용 → C_pred = r_k × t_pred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400"/>
              </a:spcAft>
            </a:pPr>
            <a:r>
              <a:rPr b="1" sz="2200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• 원문 Eq. (2)는 성능 P의 argmax로 표현</a:t>
            </a:r>
            <a:br/>
            <a:r>
              <a:rPr b="1" sz="2200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  여기서는 시간을 목표로 두어 argmin 형태로 설명</a:t>
            </a:r>
          </a:p>
        </p:txBody>
      </p:sp>
      <p:sp>
        <p:nvSpPr>
          <p:cNvPr id="10" name="Source"/>
          <p:cNvSpPr txBox="1"/>
          <p:nvPr/>
        </p:nvSpPr>
        <p:spPr>
          <a:xfrm>
            <a:off x="1397000" y="6565900"/>
            <a:ext cx="9398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1050">
                <a:solidFill>
                  <a:srgbClr val="596578"/>
                </a:solidFill>
                <a:latin typeface="Pretendard"/>
                <a:ea typeface="Pretendard"/>
                <a:cs typeface="Pretendard"/>
              </a:rPr>
              <a:t>출처: Du et al., arXiv:2508.09194v1 (COLM 2025 표기) · §3.3, Eq. (2) · 시간 최소화 형태로 풀어 쓴 설명식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eader"/>
          <p:cNvSpPr/>
          <p:nvPr/>
        </p:nvSpPr>
        <p:spPr>
          <a:xfrm>
            <a:off x="0" y="0"/>
            <a:ext cx="12192000" cy="781050"/>
          </a:xfrm>
          <a:prstGeom prst="rect">
            <a:avLst/>
          </a:prstGeom>
          <a:solidFill>
            <a:srgbClr val="1C50B3"/>
          </a:solidFill>
          <a:ln>
            <a:noFill/>
          </a:ln>
          <a:effectLst>
            <a:outerShdw blurRad="38100" dist="19050" dir="5400000" algn="ctr" rotWithShape="0">
              <a:srgbClr val="000000">
                <a:alpha val="3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itle"/>
          <p:cNvSpPr txBox="1"/>
          <p:nvPr/>
        </p:nvSpPr>
        <p:spPr>
          <a:xfrm>
            <a:off x="257175" y="38100"/>
            <a:ext cx="11677650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300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메타학습 데이터: 작업 × 가속 조합 × 하드웨어</a:t>
            </a:r>
          </a:p>
        </p:txBody>
      </p:sp>
      <p:sp>
        <p:nvSpPr>
          <p:cNvPr id="4" name="Page"/>
          <p:cNvSpPr txBox="1"/>
          <p:nvPr/>
        </p:nvSpPr>
        <p:spPr>
          <a:xfrm>
            <a:off x="247650" y="6553200"/>
            <a:ext cx="1016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1128">
                <a:solidFill>
                  <a:srgbClr val="777777"/>
                </a:solidFill>
                <a:latin typeface="Pretendard"/>
                <a:ea typeface="Pretendard"/>
                <a:cs typeface="Pretendard"/>
              </a:rPr>
              <a:t>14</a:t>
            </a:r>
          </a:p>
        </p:txBody>
      </p:sp>
      <p:sp>
        <p:nvSpPr>
          <p:cNvPr id="5" name="Logo"/>
          <p:cNvSpPr txBox="1"/>
          <p:nvPr/>
        </p:nvSpPr>
        <p:spPr>
          <a:xfrm>
            <a:off x="11163300" y="6413500"/>
            <a:ext cx="1028700" cy="44450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r">
              <a:lnSpc>
                <a:spcPct val="130000"/>
              </a:lnSpc>
              <a:spcAft>
                <a:spcPts val="800"/>
              </a:spcAft>
            </a:pPr>
            <a:r>
              <a:rPr sz="2258" b="1">
                <a:solidFill>
                  <a:srgbClr val="BE1551"/>
                </a:solidFill>
                <a:latin typeface="Pretendard"/>
                <a:ea typeface="Pretendard"/>
              </a:rPr>
              <a:t>CBNU</a:t>
            </a:r>
          </a:p>
        </p:txBody>
      </p:sp>
      <p:sp>
        <p:nvSpPr>
          <p:cNvPr id="7" name="Panel"/>
          <p:cNvSpPr/>
          <p:nvPr/>
        </p:nvSpPr>
        <p:spPr>
          <a:xfrm>
            <a:off x="6115050" y="1266825"/>
            <a:ext cx="5715000" cy="4857750"/>
          </a:xfrm>
          <a:prstGeom prst="roundRect">
            <a:avLst>
              <a:gd name="adj" fmla="val 6000"/>
            </a:avLst>
          </a:prstGeom>
          <a:solidFill>
            <a:srgbClr val="1C50B3"/>
          </a:solidFill>
          <a:ln>
            <a:noFill/>
          </a:ln>
          <a:effectLst>
            <a:outerShdw blurRad="38100" dist="19050" dir="5400000" algn="ctr" rotWithShape="0">
              <a:srgbClr val="000000">
                <a:alpha val="3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PanelInterior"/>
          <p:cNvSpPr/>
          <p:nvPr/>
        </p:nvSpPr>
        <p:spPr>
          <a:xfrm>
            <a:off x="6267450" y="1781175"/>
            <a:ext cx="5410200" cy="4191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PanelTitle"/>
          <p:cNvSpPr txBox="1"/>
          <p:nvPr/>
        </p:nvSpPr>
        <p:spPr>
          <a:xfrm>
            <a:off x="6324600" y="1314450"/>
            <a:ext cx="52578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173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• 새 작업에 이전 경험을 전이</a:t>
            </a:r>
          </a:p>
        </p:txBody>
      </p:sp>
      <p:sp>
        <p:nvSpPr>
          <p:cNvPr id="10" name="PanelBody"/>
          <p:cNvSpPr txBox="1"/>
          <p:nvPr/>
        </p:nvSpPr>
        <p:spPr>
          <a:xfrm>
            <a:off x="6419850" y="1933575"/>
            <a:ext cx="5105400" cy="3886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800"/>
              </a:spcAft>
            </a:pPr>
            <a:r>
              <a:rPr b="1" sz="1572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• 과거: 여러 작업·가속 조합·GPU에서</a:t>
            </a:r>
            <a:br/>
            <a:r>
              <a:rPr b="1" sz="1572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실제 실행 성능을 측정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800"/>
              </a:spcAft>
            </a:pPr>
            <a:r>
              <a:rPr b="1" sz="1572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• 학습: 환경 설명을 입력으로 받아</a:t>
            </a:r>
            <a:br/>
            <a:r>
              <a:rPr b="1" sz="1572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관측 실행 시간을 맞추도록 회귀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800"/>
              </a:spcAft>
            </a:pPr>
            <a:r>
              <a:rPr b="1" sz="1572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• 새 작업: 유사한 과거 환경의</a:t>
            </a:r>
            <a:br/>
            <a:r>
              <a:rPr b="1" sz="1572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성능 관계를 활용해 후보를 비교</a:t>
            </a:r>
          </a:p>
        </p:txBody>
      </p:sp>
      <p:sp>
        <p:nvSpPr>
          <p:cNvPr id="11" name="Source"/>
          <p:cNvSpPr txBox="1"/>
          <p:nvPr/>
        </p:nvSpPr>
        <p:spPr>
          <a:xfrm>
            <a:off x="1397000" y="6565900"/>
            <a:ext cx="9398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1050">
                <a:solidFill>
                  <a:srgbClr val="596578"/>
                </a:solidFill>
                <a:latin typeface="Pretendard"/>
                <a:ea typeface="Pretendard"/>
                <a:cs typeface="Pretendard"/>
              </a:rPr>
              <a:t>출처: Du et al., arXiv:2508.09194v1 (COLM 2025 표기) · §3.3–3.4, Eq. (1) · 표는 데이터 구조 설명용</a:t>
            </a:r>
          </a:p>
        </p:txBody>
      </p:sp>
      <p:sp>
        <p:nvSpPr>
          <p:cNvPr id="12" name="TensorTitle"/>
          <p:cNvSpPr txBox="1"/>
          <p:nvPr/>
        </p:nvSpPr>
        <p:spPr>
          <a:xfrm>
            <a:off x="508000" y="1435100"/>
            <a:ext cx="4953000" cy="469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2100">
                <a:solidFill>
                  <a:srgbClr val="1C50B3"/>
                </a:solidFill>
                <a:latin typeface="Pretendard"/>
                <a:ea typeface="Pretendard"/>
                <a:cs typeface="Pretendard"/>
              </a:rPr>
              <a:t>성능 텐서 P: n × m × h 배열</a:t>
            </a:r>
          </a:p>
        </p:txBody>
      </p:sp>
      <p:graphicFrame>
        <p:nvGraphicFramePr>
          <p:cNvPr id="13" name="EditableTable"/>
          <p:cNvGraphicFramePr>
            <a:graphicFrameLocks noGrp="1"/>
          </p:cNvGraphicFramePr>
          <p:nvPr/>
        </p:nvGraphicFramePr>
        <p:xfrm>
          <a:off x="444500" y="2235200"/>
          <a:ext cx="5105400" cy="2235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000"/>
                <a:gridCol w="3454400"/>
              </a:tblGrid>
              <a:tr h="447040"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1600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기록 축</a:t>
                      </a:r>
                    </a:p>
                  </a:txBody>
                  <a:tcPr marL="101600" marR="101600" marT="25400" marB="25400" anchor="ctr">
                    <a:solidFill>
                      <a:srgbClr val="1C50B3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1600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저장 내용</a:t>
                      </a:r>
                    </a:p>
                  </a:txBody>
                  <a:tcPr marL="101600" marR="101600" marT="25400" marB="25400" anchor="ctr">
                    <a:solidFill>
                      <a:srgbClr val="1C50B3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47040"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1600">
                          <a:solidFill>
                            <a:srgbClr val="080808"/>
                          </a:solidFill>
                          <a:latin typeface="Pretendard"/>
                          <a:ea typeface="Pretendard"/>
                          <a:cs typeface="Pretendard"/>
                        </a:rPr>
                        <a:t>작업 D_i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1600">
                          <a:solidFill>
                            <a:srgbClr val="080808"/>
                          </a:solidFill>
                          <a:latin typeface="Pretendard"/>
                          <a:ea typeface="Pretendard"/>
                          <a:cs typeface="Pretendard"/>
                        </a:rPr>
                        <a:t>입력·데이터 특성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47040"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1600">
                          <a:solidFill>
                            <a:srgbClr val="080808"/>
                          </a:solidFill>
                          <a:latin typeface="Pretendard"/>
                          <a:ea typeface="Pretendard"/>
                          <a:cs typeface="Pretendard"/>
                        </a:rPr>
                        <a:t>조합 M_j</a:t>
                      </a:r>
                    </a:p>
                  </a:txBody>
                  <a:tcPr marL="101600" marR="101600" marT="25400" marB="25400" anchor="ctr">
                    <a:solidFill>
                      <a:srgbClr val="EEF3FB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1600">
                          <a:solidFill>
                            <a:srgbClr val="080808"/>
                          </a:solidFill>
                          <a:latin typeface="Pretendard"/>
                          <a:ea typeface="Pretendard"/>
                          <a:cs typeface="Pretendard"/>
                        </a:rPr>
                        <a:t>가속 기법 ON/OFF</a:t>
                      </a:r>
                    </a:p>
                  </a:txBody>
                  <a:tcPr marL="101600" marR="101600" marT="25400" marB="25400" anchor="ctr">
                    <a:solidFill>
                      <a:srgbClr val="EEF3FB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47040"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1600">
                          <a:solidFill>
                            <a:srgbClr val="080808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하드웨어 H_k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1600">
                          <a:solidFill>
                            <a:srgbClr val="080808"/>
                          </a:solidFill>
                          <a:latin typeface="Pretendard"/>
                          <a:ea typeface="Pretendard"/>
                          <a:cs typeface="Pretendard"/>
                        </a:rPr>
                        <a:t>GPU / 실행 구성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47040"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1600">
                          <a:solidFill>
                            <a:srgbClr val="080808"/>
                          </a:solidFill>
                          <a:latin typeface="Pretendard"/>
                          <a:ea typeface="Pretendard"/>
                          <a:cs typeface="Pretendard"/>
                        </a:rPr>
                        <a:t>관측값 P_i,j,k</a:t>
                      </a:r>
                    </a:p>
                  </a:txBody>
                  <a:tcPr marL="101600" marR="101600" marT="25400" marB="25400" anchor="ctr">
                    <a:solidFill>
                      <a:srgbClr val="EEF3FB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1600">
                          <a:solidFill>
                            <a:srgbClr val="080808"/>
                          </a:solidFill>
                          <a:latin typeface="Pretendard"/>
                          <a:ea typeface="Pretendard"/>
                          <a:cs typeface="Pretendard"/>
                        </a:rPr>
                        <a:t>시간 등 성능 지표</a:t>
                      </a:r>
                    </a:p>
                  </a:txBody>
                  <a:tcPr marL="101600" marR="101600" marT="25400" marB="25400" anchor="ctr">
                    <a:solidFill>
                      <a:srgbClr val="EEF3FB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14" name="TensorNote"/>
          <p:cNvSpPr txBox="1"/>
          <p:nvPr/>
        </p:nvSpPr>
        <p:spPr>
          <a:xfrm>
            <a:off x="533400" y="4940300"/>
            <a:ext cx="4953000" cy="889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2000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하나의 학습 샘플</a:t>
            </a:r>
            <a:br/>
            <a:r>
              <a:rPr b="1" sz="2000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(환경 표현, 실제 성능)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eader"/>
          <p:cNvSpPr/>
          <p:nvPr/>
        </p:nvSpPr>
        <p:spPr>
          <a:xfrm>
            <a:off x="0" y="0"/>
            <a:ext cx="12192000" cy="781050"/>
          </a:xfrm>
          <a:prstGeom prst="rect">
            <a:avLst/>
          </a:prstGeom>
          <a:solidFill>
            <a:srgbClr val="1C50B3"/>
          </a:solidFill>
          <a:ln>
            <a:noFill/>
          </a:ln>
          <a:effectLst>
            <a:outerShdw blurRad="38100" dist="19050" dir="5400000" algn="ctr" rotWithShape="0">
              <a:srgbClr val="000000">
                <a:alpha val="3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itle"/>
          <p:cNvSpPr txBox="1"/>
          <p:nvPr/>
        </p:nvSpPr>
        <p:spPr>
          <a:xfrm>
            <a:off x="257175" y="38100"/>
            <a:ext cx="11677650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300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LLM 임베딩: 환경 설명을 의미 있는 벡터로</a:t>
            </a:r>
          </a:p>
        </p:txBody>
      </p:sp>
      <p:sp>
        <p:nvSpPr>
          <p:cNvPr id="4" name="Page"/>
          <p:cNvSpPr txBox="1"/>
          <p:nvPr/>
        </p:nvSpPr>
        <p:spPr>
          <a:xfrm>
            <a:off x="247650" y="6553200"/>
            <a:ext cx="1016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1128">
                <a:solidFill>
                  <a:srgbClr val="777777"/>
                </a:solidFill>
                <a:latin typeface="Pretendard"/>
                <a:ea typeface="Pretendard"/>
                <a:cs typeface="Pretendard"/>
              </a:rPr>
              <a:t>15</a:t>
            </a:r>
          </a:p>
        </p:txBody>
      </p:sp>
      <p:sp>
        <p:nvSpPr>
          <p:cNvPr id="5" name="Logo"/>
          <p:cNvSpPr txBox="1"/>
          <p:nvPr/>
        </p:nvSpPr>
        <p:spPr>
          <a:xfrm>
            <a:off x="11163300" y="6413500"/>
            <a:ext cx="1028700" cy="44450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r">
              <a:lnSpc>
                <a:spcPct val="130000"/>
              </a:lnSpc>
              <a:spcAft>
                <a:spcPts val="800"/>
              </a:spcAft>
            </a:pPr>
            <a:r>
              <a:rPr sz="2258" b="1">
                <a:solidFill>
                  <a:srgbClr val="BE1551"/>
                </a:solidFill>
                <a:latin typeface="Pretendard"/>
                <a:ea typeface="Pretendard"/>
              </a:rPr>
              <a:t>CBNU</a:t>
            </a:r>
          </a:p>
        </p:txBody>
      </p:sp>
      <p:sp>
        <p:nvSpPr>
          <p:cNvPr id="7" name="Panel"/>
          <p:cNvSpPr/>
          <p:nvPr/>
        </p:nvSpPr>
        <p:spPr>
          <a:xfrm>
            <a:off x="6115050" y="1266825"/>
            <a:ext cx="5715000" cy="4857750"/>
          </a:xfrm>
          <a:prstGeom prst="roundRect">
            <a:avLst>
              <a:gd name="adj" fmla="val 6000"/>
            </a:avLst>
          </a:prstGeom>
          <a:solidFill>
            <a:srgbClr val="1C50B3"/>
          </a:solidFill>
          <a:ln>
            <a:noFill/>
          </a:ln>
          <a:effectLst>
            <a:outerShdw blurRad="38100" dist="19050" dir="5400000" algn="ctr" rotWithShape="0">
              <a:srgbClr val="000000">
                <a:alpha val="3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PanelInterior"/>
          <p:cNvSpPr/>
          <p:nvPr/>
        </p:nvSpPr>
        <p:spPr>
          <a:xfrm>
            <a:off x="6267450" y="1781175"/>
            <a:ext cx="5410200" cy="4191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PanelTitle"/>
          <p:cNvSpPr txBox="1"/>
          <p:nvPr/>
        </p:nvSpPr>
        <p:spPr>
          <a:xfrm>
            <a:off x="6324600" y="1314450"/>
            <a:ext cx="52578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173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• One-hot과 무엇이 다른가?</a:t>
            </a:r>
          </a:p>
        </p:txBody>
      </p:sp>
      <p:sp>
        <p:nvSpPr>
          <p:cNvPr id="10" name="PanelBody"/>
          <p:cNvSpPr txBox="1"/>
          <p:nvPr/>
        </p:nvSpPr>
        <p:spPr>
          <a:xfrm>
            <a:off x="6419850" y="1933575"/>
            <a:ext cx="5105400" cy="3886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800"/>
              </a:spcAft>
            </a:pPr>
            <a:r>
              <a:rPr b="1" sz="1572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• One-hot: 범주의 식별자를 구분</a:t>
            </a:r>
            <a:br/>
            <a:r>
              <a:rPr b="1" sz="1572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범주 사이 의미적 관계를 직접 표현하지 않음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800"/>
              </a:spcAft>
            </a:pPr>
            <a:r>
              <a:rPr b="1" sz="1572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• LLM 표현: 설명 문장의 맥락 활용</a:t>
            </a:r>
            <a:br/>
            <a:r>
              <a:rPr b="1" sz="1572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구조·자원 제약의 유사성을 담도록 설계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800"/>
              </a:spcAft>
            </a:pPr>
            <a:r>
              <a:rPr b="1" sz="1572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• SVD: 벡터 차원을 줄여 효율 확보</a:t>
            </a:r>
            <a:br/>
            <a:r>
              <a:rPr b="1" sz="1572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온라인에도 학습 시 변환을 동일 적용</a:t>
            </a:r>
          </a:p>
        </p:txBody>
      </p:sp>
      <p:sp>
        <p:nvSpPr>
          <p:cNvPr id="11" name="Source"/>
          <p:cNvSpPr txBox="1"/>
          <p:nvPr/>
        </p:nvSpPr>
        <p:spPr>
          <a:xfrm>
            <a:off x="1397000" y="6565900"/>
            <a:ext cx="9398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1050">
                <a:solidFill>
                  <a:srgbClr val="596578"/>
                </a:solidFill>
                <a:latin typeface="Pretendard"/>
                <a:ea typeface="Pretendard"/>
                <a:cs typeface="Pretendard"/>
              </a:rPr>
              <a:t>출처: Du et al., arXiv:2508.09194v1 (COLM 2025 표기) · §3.4, §4.2 · 예시는 설명용 재작성</a:t>
            </a:r>
          </a:p>
        </p:txBody>
      </p:sp>
      <p:sp>
        <p:nvSpPr>
          <p:cNvPr id="12" name="Desc0"/>
          <p:cNvSpPr/>
          <p:nvPr/>
        </p:nvSpPr>
        <p:spPr>
          <a:xfrm>
            <a:off x="444500" y="1536700"/>
            <a:ext cx="5105400" cy="609600"/>
          </a:xfrm>
          <a:prstGeom prst="rect">
            <a:avLst/>
          </a:prstGeom>
          <a:solidFill>
            <a:srgbClr val="EE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1700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작업: 입력 규모·분포·복잡도</a:t>
            </a:r>
          </a:p>
        </p:txBody>
      </p:sp>
      <p:sp>
        <p:nvSpPr>
          <p:cNvPr id="13" name="Desc1"/>
          <p:cNvSpPr/>
          <p:nvPr/>
        </p:nvSpPr>
        <p:spPr>
          <a:xfrm>
            <a:off x="444500" y="2273300"/>
            <a:ext cx="5105400" cy="609600"/>
          </a:xfrm>
          <a:prstGeom prst="rect">
            <a:avLst/>
          </a:prstGeom>
          <a:solidFill>
            <a:srgbClr val="EE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1700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모델/기법: 구조·연산·가속 특성</a:t>
            </a:r>
          </a:p>
        </p:txBody>
      </p:sp>
      <p:sp>
        <p:nvSpPr>
          <p:cNvPr id="14" name="Desc2"/>
          <p:cNvSpPr/>
          <p:nvPr/>
        </p:nvSpPr>
        <p:spPr>
          <a:xfrm>
            <a:off x="444500" y="3009900"/>
            <a:ext cx="5105400" cy="609600"/>
          </a:xfrm>
          <a:prstGeom prst="rect">
            <a:avLst/>
          </a:prstGeom>
          <a:solidFill>
            <a:srgbClr val="EE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1700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GPU: 아키텍처·메모리·제약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997200" y="3721100"/>
            <a:ext cx="0" cy="368300"/>
          </a:xfrm>
          <a:prstGeom prst="line">
            <a:avLst/>
          </a:prstGeom>
          <a:ln w="25400">
            <a:solidFill>
              <a:srgbClr val="1C50B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Encoder"/>
          <p:cNvSpPr/>
          <p:nvPr/>
        </p:nvSpPr>
        <p:spPr>
          <a:xfrm>
            <a:off x="698500" y="4191000"/>
            <a:ext cx="4597400" cy="698500"/>
          </a:xfrm>
          <a:prstGeom prst="rect">
            <a:avLst/>
          </a:prstGeom>
          <a:solidFill>
            <a:srgbClr val="1C50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180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사전학습 LLM → Dense embedding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997200" y="4953000"/>
            <a:ext cx="0" cy="317500"/>
          </a:xfrm>
          <a:prstGeom prst="line">
            <a:avLst/>
          </a:prstGeom>
          <a:ln w="25400">
            <a:solidFill>
              <a:srgbClr val="1C50B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SVD"/>
          <p:cNvSpPr/>
          <p:nvPr/>
        </p:nvSpPr>
        <p:spPr>
          <a:xfrm>
            <a:off x="698500" y="5346700"/>
            <a:ext cx="4597400" cy="635000"/>
          </a:xfrm>
          <a:prstGeom prst="rect">
            <a:avLst/>
          </a:prstGeom>
          <a:solidFill>
            <a:srgbClr val="EE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1800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Truncated SVD → 저차원 표현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eader"/>
          <p:cNvSpPr/>
          <p:nvPr/>
        </p:nvSpPr>
        <p:spPr>
          <a:xfrm>
            <a:off x="0" y="0"/>
            <a:ext cx="12192000" cy="781050"/>
          </a:xfrm>
          <a:prstGeom prst="rect">
            <a:avLst/>
          </a:prstGeom>
          <a:solidFill>
            <a:srgbClr val="1C50B3"/>
          </a:solidFill>
          <a:ln>
            <a:noFill/>
          </a:ln>
          <a:effectLst>
            <a:outerShdw blurRad="38100" dist="19050" dir="5400000" algn="ctr" rotWithShape="0">
              <a:srgbClr val="000000">
                <a:alpha val="3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itle"/>
          <p:cNvSpPr txBox="1"/>
          <p:nvPr/>
        </p:nvSpPr>
        <p:spPr>
          <a:xfrm>
            <a:off x="257175" y="38100"/>
            <a:ext cx="11677650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300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성능 예측기 f: 임베딩을 XGBoost 회귀로 연결</a:t>
            </a:r>
          </a:p>
        </p:txBody>
      </p:sp>
      <p:sp>
        <p:nvSpPr>
          <p:cNvPr id="4" name="Page"/>
          <p:cNvSpPr txBox="1"/>
          <p:nvPr/>
        </p:nvSpPr>
        <p:spPr>
          <a:xfrm>
            <a:off x="247650" y="6553200"/>
            <a:ext cx="1016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1128">
                <a:solidFill>
                  <a:srgbClr val="777777"/>
                </a:solidFill>
                <a:latin typeface="Pretendard"/>
                <a:ea typeface="Pretendard"/>
                <a:cs typeface="Pretendard"/>
              </a:rPr>
              <a:t>16</a:t>
            </a:r>
          </a:p>
        </p:txBody>
      </p:sp>
      <p:sp>
        <p:nvSpPr>
          <p:cNvPr id="5" name="Logo"/>
          <p:cNvSpPr txBox="1"/>
          <p:nvPr/>
        </p:nvSpPr>
        <p:spPr>
          <a:xfrm>
            <a:off x="11163300" y="6413500"/>
            <a:ext cx="1028700" cy="44450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r">
              <a:lnSpc>
                <a:spcPct val="130000"/>
              </a:lnSpc>
              <a:spcAft>
                <a:spcPts val="800"/>
              </a:spcAft>
            </a:pPr>
            <a:r>
              <a:rPr sz="2258" b="1">
                <a:solidFill>
                  <a:srgbClr val="BE1551"/>
                </a:solidFill>
                <a:latin typeface="Pretendard"/>
                <a:ea typeface="Pretendard"/>
              </a:rPr>
              <a:t>CBNU</a:t>
            </a:r>
          </a:p>
        </p:txBody>
      </p:sp>
      <p:sp>
        <p:nvSpPr>
          <p:cNvPr id="6" name="Equation"/>
          <p:cNvSpPr txBox="1"/>
          <p:nvPr/>
        </p:nvSpPr>
        <p:spPr>
          <a:xfrm>
            <a:off x="342900" y="1460500"/>
            <a:ext cx="11487150" cy="55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2200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P_pred(i, j, k) = f(E_data(i), E_method(j), E_hardware(k))</a:t>
            </a:r>
          </a:p>
        </p:txBody>
      </p:sp>
      <p:sp>
        <p:nvSpPr>
          <p:cNvPr id="7" name="ExplanationBox"/>
          <p:cNvSpPr/>
          <p:nvPr/>
        </p:nvSpPr>
        <p:spPr>
          <a:xfrm>
            <a:off x="257175" y="2413000"/>
            <a:ext cx="11677650" cy="3930650"/>
          </a:xfrm>
          <a:prstGeom prst="roundRect">
            <a:avLst>
              <a:gd name="adj" fmla="val 6000"/>
            </a:avLst>
          </a:prstGeom>
          <a:solidFill>
            <a:srgbClr val="1C50B3"/>
          </a:solidFill>
          <a:ln>
            <a:noFill/>
          </a:ln>
          <a:effectLst>
            <a:outerShdw blurRad="38100" dist="19050" dir="5400000" algn="ctr" rotWithShape="0">
              <a:srgbClr val="000000">
                <a:alpha val="3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xplanationBoxInterior"/>
          <p:cNvSpPr/>
          <p:nvPr/>
        </p:nvSpPr>
        <p:spPr>
          <a:xfrm>
            <a:off x="409575" y="2565400"/>
            <a:ext cx="11372850" cy="3625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Body"/>
          <p:cNvSpPr txBox="1"/>
          <p:nvPr/>
        </p:nvSpPr>
        <p:spPr>
          <a:xfrm>
            <a:off x="561975" y="2717800"/>
            <a:ext cx="11068050" cy="3321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300"/>
              </a:spcAft>
            </a:pPr>
            <a:r>
              <a:rPr b="1" sz="2200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• 환경 임베딩을 묶어 회귀 예측기에 입력</a:t>
            </a:r>
            <a:br/>
            <a:r>
              <a:rPr b="1" sz="2200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  XGBoost로 후보별 실행 시간 등 성능을 예측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300"/>
              </a:spcAft>
            </a:pPr>
            <a:r>
              <a:rPr b="1" sz="2200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• 논문이 제시한 선택 이유: 이질적 입력에 대한 강건성</a:t>
            </a:r>
            <a:br/>
            <a:r>
              <a:rPr b="1" sz="2200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  특성 중요도를 통해 예측 관계를 해석할 수 있음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300"/>
              </a:spcAft>
            </a:pPr>
            <a:r>
              <a:rPr b="1" sz="2200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• Ablation의 구체적 입력 축은 5개</a:t>
            </a:r>
            <a:br/>
            <a:r>
              <a:rPr b="1" sz="2200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  모델 이름, GPU 아키텍처, 세 가속 기법의 boolean flag</a:t>
            </a:r>
          </a:p>
        </p:txBody>
      </p:sp>
      <p:sp>
        <p:nvSpPr>
          <p:cNvPr id="10" name="Source"/>
          <p:cNvSpPr txBox="1"/>
          <p:nvPr/>
        </p:nvSpPr>
        <p:spPr>
          <a:xfrm>
            <a:off x="1397000" y="6565900"/>
            <a:ext cx="9398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1050">
                <a:solidFill>
                  <a:srgbClr val="596578"/>
                </a:solidFill>
                <a:latin typeface="Pretendard"/>
                <a:ea typeface="Pretendard"/>
                <a:cs typeface="Pretendard"/>
              </a:rPr>
              <a:t>출처: Du et al., arXiv:2508.09194v1 (COLM 2025 표기) · Eq. (1), §3.4, §4.6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eader"/>
          <p:cNvSpPr/>
          <p:nvPr/>
        </p:nvSpPr>
        <p:spPr>
          <a:xfrm>
            <a:off x="0" y="0"/>
            <a:ext cx="12192000" cy="781050"/>
          </a:xfrm>
          <a:prstGeom prst="rect">
            <a:avLst/>
          </a:prstGeom>
          <a:solidFill>
            <a:srgbClr val="1C50B3"/>
          </a:solidFill>
          <a:ln>
            <a:noFill/>
          </a:ln>
          <a:effectLst>
            <a:outerShdw blurRad="38100" dist="19050" dir="5400000" algn="ctr" rotWithShape="0">
              <a:srgbClr val="000000">
                <a:alpha val="3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itle"/>
          <p:cNvSpPr txBox="1"/>
          <p:nvPr/>
        </p:nvSpPr>
        <p:spPr>
          <a:xfrm>
            <a:off x="257175" y="38100"/>
            <a:ext cx="11677650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300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Offline 학습: 성능 데이터와 예측기를 미리 준비</a:t>
            </a:r>
          </a:p>
        </p:txBody>
      </p:sp>
      <p:sp>
        <p:nvSpPr>
          <p:cNvPr id="4" name="Page"/>
          <p:cNvSpPr txBox="1"/>
          <p:nvPr/>
        </p:nvSpPr>
        <p:spPr>
          <a:xfrm>
            <a:off x="247650" y="6553200"/>
            <a:ext cx="1016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1128">
                <a:solidFill>
                  <a:srgbClr val="777777"/>
                </a:solidFill>
                <a:latin typeface="Pretendard"/>
                <a:ea typeface="Pretendard"/>
                <a:cs typeface="Pretendard"/>
              </a:rPr>
              <a:t>17</a:t>
            </a:r>
          </a:p>
        </p:txBody>
      </p:sp>
      <p:sp>
        <p:nvSpPr>
          <p:cNvPr id="5" name="Logo"/>
          <p:cNvSpPr txBox="1"/>
          <p:nvPr/>
        </p:nvSpPr>
        <p:spPr>
          <a:xfrm>
            <a:off x="11163300" y="6413500"/>
            <a:ext cx="1028700" cy="44450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r">
              <a:lnSpc>
                <a:spcPct val="130000"/>
              </a:lnSpc>
              <a:spcAft>
                <a:spcPts val="800"/>
              </a:spcAft>
            </a:pPr>
            <a:r>
              <a:rPr sz="2258" b="1">
                <a:solidFill>
                  <a:srgbClr val="BE1551"/>
                </a:solidFill>
                <a:latin typeface="Pretendard"/>
                <a:ea typeface="Pretendard"/>
              </a:rPr>
              <a:t>CBNU</a:t>
            </a:r>
          </a:p>
        </p:txBody>
      </p:sp>
      <p:sp>
        <p:nvSpPr>
          <p:cNvPr id="6" name="ExplanationBox"/>
          <p:cNvSpPr/>
          <p:nvPr/>
        </p:nvSpPr>
        <p:spPr>
          <a:xfrm>
            <a:off x="257175" y="1085850"/>
            <a:ext cx="11677650" cy="5257800"/>
          </a:xfrm>
          <a:prstGeom prst="roundRect">
            <a:avLst>
              <a:gd name="adj" fmla="val 6000"/>
            </a:avLst>
          </a:prstGeom>
          <a:solidFill>
            <a:srgbClr val="1C50B3"/>
          </a:solidFill>
          <a:ln>
            <a:noFill/>
          </a:ln>
          <a:effectLst>
            <a:outerShdw blurRad="38100" dist="19050" dir="5400000" algn="ctr" rotWithShape="0">
              <a:srgbClr val="000000">
                <a:alpha val="3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ExplanationBoxInterior"/>
          <p:cNvSpPr/>
          <p:nvPr/>
        </p:nvSpPr>
        <p:spPr>
          <a:xfrm>
            <a:off x="409575" y="1238250"/>
            <a:ext cx="11372850" cy="4953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ource"/>
          <p:cNvSpPr txBox="1"/>
          <p:nvPr/>
        </p:nvSpPr>
        <p:spPr>
          <a:xfrm>
            <a:off x="1397000" y="6565900"/>
            <a:ext cx="9398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1050">
                <a:solidFill>
                  <a:srgbClr val="596578"/>
                </a:solidFill>
                <a:latin typeface="Pretendard"/>
                <a:ea typeface="Pretendard"/>
                <a:cs typeface="Pretendard"/>
              </a:rPr>
              <a:t>출처: Du et al., arXiv:2508.09194v1 (COLM 2025 표기) · §3.4, Appendix A.1 Algorithm 1</a:t>
            </a:r>
          </a:p>
        </p:txBody>
      </p:sp>
      <p:sp>
        <p:nvSpPr>
          <p:cNvPr id="10" name="Step0"/>
          <p:cNvSpPr/>
          <p:nvPr/>
        </p:nvSpPr>
        <p:spPr>
          <a:xfrm>
            <a:off x="561975" y="1511300"/>
            <a:ext cx="1841500" cy="838200"/>
          </a:xfrm>
          <a:prstGeom prst="rect">
            <a:avLst/>
          </a:prstGeom>
          <a:solidFill>
            <a:srgbClr val="1C50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180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1. 성능 측정</a:t>
            </a:r>
          </a:p>
        </p:txBody>
      </p:sp>
      <p:sp>
        <p:nvSpPr>
          <p:cNvPr id="11" name="StepText0"/>
          <p:cNvSpPr txBox="1"/>
          <p:nvPr/>
        </p:nvSpPr>
        <p:spPr>
          <a:xfrm>
            <a:off x="2657475" y="1574800"/>
            <a:ext cx="8972550" cy="838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2000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여러 작업·모델·GPU에서 후보 조합을 실행</a:t>
            </a:r>
            <a:br/>
            <a:r>
              <a:rPr b="1" sz="2000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실제 실행 시간을 성능 데이터로 저장</a:t>
            </a:r>
          </a:p>
        </p:txBody>
      </p:sp>
      <p:sp>
        <p:nvSpPr>
          <p:cNvPr id="12" name="Step1"/>
          <p:cNvSpPr/>
          <p:nvPr/>
        </p:nvSpPr>
        <p:spPr>
          <a:xfrm>
            <a:off x="561975" y="2616200"/>
            <a:ext cx="1841500" cy="838200"/>
          </a:xfrm>
          <a:prstGeom prst="rect">
            <a:avLst/>
          </a:prstGeom>
          <a:solidFill>
            <a:srgbClr val="1C50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180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2. 환경 표현</a:t>
            </a:r>
          </a:p>
        </p:txBody>
      </p:sp>
      <p:sp>
        <p:nvSpPr>
          <p:cNvPr id="13" name="StepText1"/>
          <p:cNvSpPr txBox="1"/>
          <p:nvPr/>
        </p:nvSpPr>
        <p:spPr>
          <a:xfrm>
            <a:off x="2657475" y="2679700"/>
            <a:ext cx="8972550" cy="838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2000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작업·모델/기법·하드웨어 설명 → LLM 임베딩</a:t>
            </a:r>
            <a:br/>
            <a:r>
              <a:rPr b="1" sz="2000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SVD로 차원을 축소하고 입력 특성을 구성</a:t>
            </a:r>
          </a:p>
        </p:txBody>
      </p:sp>
      <p:sp>
        <p:nvSpPr>
          <p:cNvPr id="14" name="Step2"/>
          <p:cNvSpPr/>
          <p:nvPr/>
        </p:nvSpPr>
        <p:spPr>
          <a:xfrm>
            <a:off x="561975" y="3721100"/>
            <a:ext cx="1841500" cy="838200"/>
          </a:xfrm>
          <a:prstGeom prst="rect">
            <a:avLst/>
          </a:prstGeom>
          <a:solidFill>
            <a:srgbClr val="1C50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180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3. 예측기 학습</a:t>
            </a:r>
          </a:p>
        </p:txBody>
      </p:sp>
      <p:sp>
        <p:nvSpPr>
          <p:cNvPr id="15" name="StepText2"/>
          <p:cNvSpPr txBox="1"/>
          <p:nvPr/>
        </p:nvSpPr>
        <p:spPr>
          <a:xfrm>
            <a:off x="2657475" y="3784600"/>
            <a:ext cx="8972550" cy="838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2000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입력 표현과 관측 시간을 묶어 XGBoost 회귀 학습</a:t>
            </a:r>
            <a:br/>
            <a:r>
              <a:rPr b="1" sz="2000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새 환경의 후보 성능을 비교할 예측기 f 확보</a:t>
            </a:r>
          </a:p>
        </p:txBody>
      </p:sp>
      <p:sp>
        <p:nvSpPr>
          <p:cNvPr id="16" name="Step3"/>
          <p:cNvSpPr/>
          <p:nvPr/>
        </p:nvSpPr>
        <p:spPr>
          <a:xfrm>
            <a:off x="561975" y="4826000"/>
            <a:ext cx="1841500" cy="838200"/>
          </a:xfrm>
          <a:prstGeom prst="rect">
            <a:avLst/>
          </a:prstGeom>
          <a:solidFill>
            <a:srgbClr val="1C50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180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4. 온라인 준비</a:t>
            </a:r>
          </a:p>
        </p:txBody>
      </p:sp>
      <p:sp>
        <p:nvSpPr>
          <p:cNvPr id="17" name="StepText3"/>
          <p:cNvSpPr txBox="1"/>
          <p:nvPr/>
        </p:nvSpPr>
        <p:spPr>
          <a:xfrm>
            <a:off x="2657475" y="4889500"/>
            <a:ext cx="8972550" cy="838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2000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임베딩 방식·SVD 변환·예측기를 함께 유지</a:t>
            </a:r>
            <a:br/>
            <a:r>
              <a:rPr b="1" sz="2000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온라인 후보도 같은 표현 공간에서 평가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eader"/>
          <p:cNvSpPr/>
          <p:nvPr/>
        </p:nvSpPr>
        <p:spPr>
          <a:xfrm>
            <a:off x="0" y="0"/>
            <a:ext cx="12192000" cy="781050"/>
          </a:xfrm>
          <a:prstGeom prst="rect">
            <a:avLst/>
          </a:prstGeom>
          <a:solidFill>
            <a:srgbClr val="1C50B3"/>
          </a:solidFill>
          <a:ln>
            <a:noFill/>
          </a:ln>
          <a:effectLst>
            <a:outerShdw blurRad="38100" dist="19050" dir="5400000" algn="ctr" rotWithShape="0">
              <a:srgbClr val="000000">
                <a:alpha val="3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itle"/>
          <p:cNvSpPr txBox="1"/>
          <p:nvPr/>
        </p:nvSpPr>
        <p:spPr>
          <a:xfrm>
            <a:off x="257175" y="38100"/>
            <a:ext cx="11677650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300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Online 선택: 실제 후보 실행 없이 조합을 고르기</a:t>
            </a:r>
          </a:p>
        </p:txBody>
      </p:sp>
      <p:sp>
        <p:nvSpPr>
          <p:cNvPr id="4" name="Page"/>
          <p:cNvSpPr txBox="1"/>
          <p:nvPr/>
        </p:nvSpPr>
        <p:spPr>
          <a:xfrm>
            <a:off x="247650" y="6553200"/>
            <a:ext cx="1016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1128">
                <a:solidFill>
                  <a:srgbClr val="777777"/>
                </a:solidFill>
                <a:latin typeface="Pretendard"/>
                <a:ea typeface="Pretendard"/>
                <a:cs typeface="Pretendard"/>
              </a:rPr>
              <a:t>18</a:t>
            </a:r>
          </a:p>
        </p:txBody>
      </p:sp>
      <p:sp>
        <p:nvSpPr>
          <p:cNvPr id="5" name="Logo"/>
          <p:cNvSpPr txBox="1"/>
          <p:nvPr/>
        </p:nvSpPr>
        <p:spPr>
          <a:xfrm>
            <a:off x="11163300" y="6413500"/>
            <a:ext cx="1028700" cy="44450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r">
              <a:lnSpc>
                <a:spcPct val="130000"/>
              </a:lnSpc>
              <a:spcAft>
                <a:spcPts val="800"/>
              </a:spcAft>
            </a:pPr>
            <a:r>
              <a:rPr sz="2258" b="1">
                <a:solidFill>
                  <a:srgbClr val="BE1551"/>
                </a:solidFill>
                <a:latin typeface="Pretendard"/>
                <a:ea typeface="Pretendard"/>
              </a:rPr>
              <a:t>CBNU</a:t>
            </a:r>
          </a:p>
        </p:txBody>
      </p:sp>
      <p:sp>
        <p:nvSpPr>
          <p:cNvPr id="6" name="ExplanationBox"/>
          <p:cNvSpPr/>
          <p:nvPr/>
        </p:nvSpPr>
        <p:spPr>
          <a:xfrm>
            <a:off x="257175" y="1085850"/>
            <a:ext cx="11677650" cy="5257800"/>
          </a:xfrm>
          <a:prstGeom prst="roundRect">
            <a:avLst>
              <a:gd name="adj" fmla="val 6000"/>
            </a:avLst>
          </a:prstGeom>
          <a:solidFill>
            <a:srgbClr val="1C50B3"/>
          </a:solidFill>
          <a:ln>
            <a:noFill/>
          </a:ln>
          <a:effectLst>
            <a:outerShdw blurRad="38100" dist="19050" dir="5400000" algn="ctr" rotWithShape="0">
              <a:srgbClr val="000000">
                <a:alpha val="3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ExplanationBoxInterior"/>
          <p:cNvSpPr/>
          <p:nvPr/>
        </p:nvSpPr>
        <p:spPr>
          <a:xfrm>
            <a:off x="409575" y="1238250"/>
            <a:ext cx="11372850" cy="4953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ource"/>
          <p:cNvSpPr txBox="1"/>
          <p:nvPr/>
        </p:nvSpPr>
        <p:spPr>
          <a:xfrm>
            <a:off x="1397000" y="6565900"/>
            <a:ext cx="9398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1050">
                <a:solidFill>
                  <a:srgbClr val="596578"/>
                </a:solidFill>
                <a:latin typeface="Pretendard"/>
                <a:ea typeface="Pretendard"/>
                <a:cs typeface="Pretendard"/>
              </a:rPr>
              <a:t>출처: Du et al., arXiv:2508.09194v1 (COLM 2025 표기) · §3.5, Appendix A.1 Algorithm 2</a:t>
            </a:r>
          </a:p>
        </p:txBody>
      </p:sp>
      <p:sp>
        <p:nvSpPr>
          <p:cNvPr id="10" name="Step0"/>
          <p:cNvSpPr/>
          <p:nvPr/>
        </p:nvSpPr>
        <p:spPr>
          <a:xfrm>
            <a:off x="561975" y="1511300"/>
            <a:ext cx="1841500" cy="838200"/>
          </a:xfrm>
          <a:prstGeom prst="rect">
            <a:avLst/>
          </a:prstGeom>
          <a:solidFill>
            <a:srgbClr val="1C50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180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1. 새 환경 입력</a:t>
            </a:r>
          </a:p>
        </p:txBody>
      </p:sp>
      <p:sp>
        <p:nvSpPr>
          <p:cNvPr id="11" name="StepText0"/>
          <p:cNvSpPr txBox="1"/>
          <p:nvPr/>
        </p:nvSpPr>
        <p:spPr>
          <a:xfrm>
            <a:off x="2657475" y="1574800"/>
            <a:ext cx="8972550" cy="838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2000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새 작업, 사용할 모델과 GPU, 허용 예산 b 입력</a:t>
            </a:r>
            <a:br/>
            <a:r>
              <a:rPr b="1" sz="2000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오프라인과 동일한 임베딩·SVD 변환 적용</a:t>
            </a:r>
          </a:p>
        </p:txBody>
      </p:sp>
      <p:sp>
        <p:nvSpPr>
          <p:cNvPr id="12" name="Step1"/>
          <p:cNvSpPr/>
          <p:nvPr/>
        </p:nvSpPr>
        <p:spPr>
          <a:xfrm>
            <a:off x="561975" y="2616200"/>
            <a:ext cx="1841500" cy="838200"/>
          </a:xfrm>
          <a:prstGeom prst="rect">
            <a:avLst/>
          </a:prstGeom>
          <a:solidFill>
            <a:srgbClr val="1C50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180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2. 후보 평가</a:t>
            </a:r>
          </a:p>
        </p:txBody>
      </p:sp>
      <p:sp>
        <p:nvSpPr>
          <p:cNvPr id="13" name="StepText1"/>
          <p:cNvSpPr txBox="1"/>
          <p:nvPr/>
        </p:nvSpPr>
        <p:spPr>
          <a:xfrm>
            <a:off x="2657475" y="2679700"/>
            <a:ext cx="8972550" cy="838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2000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각 가속 조합에 대해 실행 시간을 예측</a:t>
            </a:r>
            <a:br/>
            <a:r>
              <a:rPr b="1" sz="2000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시간 × GPU 단가로 예상 배포 비용 산출</a:t>
            </a:r>
          </a:p>
        </p:txBody>
      </p:sp>
      <p:sp>
        <p:nvSpPr>
          <p:cNvPr id="14" name="Step2"/>
          <p:cNvSpPr/>
          <p:nvPr/>
        </p:nvSpPr>
        <p:spPr>
          <a:xfrm>
            <a:off x="561975" y="3721100"/>
            <a:ext cx="1841500" cy="838200"/>
          </a:xfrm>
          <a:prstGeom prst="rect">
            <a:avLst/>
          </a:prstGeom>
          <a:solidFill>
            <a:srgbClr val="1C50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180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3. 예산 필터</a:t>
            </a:r>
          </a:p>
        </p:txBody>
      </p:sp>
      <p:sp>
        <p:nvSpPr>
          <p:cNvPr id="15" name="StepText2"/>
          <p:cNvSpPr txBox="1"/>
          <p:nvPr/>
        </p:nvSpPr>
        <p:spPr>
          <a:xfrm>
            <a:off x="2657475" y="3784600"/>
            <a:ext cx="8972550" cy="838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2000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예상 비용이 b 이하인 후보만 비교</a:t>
            </a:r>
            <a:br/>
            <a:r>
              <a:rPr b="1" sz="2000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시간 목표라면 예상 실행 시간이 가장 짧은 후보 선택</a:t>
            </a:r>
          </a:p>
        </p:txBody>
      </p:sp>
      <p:sp>
        <p:nvSpPr>
          <p:cNvPr id="16" name="Step3"/>
          <p:cNvSpPr/>
          <p:nvPr/>
        </p:nvSpPr>
        <p:spPr>
          <a:xfrm>
            <a:off x="561975" y="4826000"/>
            <a:ext cx="1841500" cy="838200"/>
          </a:xfrm>
          <a:prstGeom prst="rect">
            <a:avLst/>
          </a:prstGeom>
          <a:solidFill>
            <a:srgbClr val="1C50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180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4. 조합 실행</a:t>
            </a:r>
          </a:p>
        </p:txBody>
      </p:sp>
      <p:sp>
        <p:nvSpPr>
          <p:cNvPr id="17" name="StepText3"/>
          <p:cNvSpPr txBox="1"/>
          <p:nvPr/>
        </p:nvSpPr>
        <p:spPr>
          <a:xfrm>
            <a:off x="2657475" y="4889500"/>
            <a:ext cx="8972550" cy="838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2000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선택한 조합으로 실제 추론 수행</a:t>
            </a:r>
            <a:br/>
            <a:r>
              <a:rPr b="1" sz="2000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새 환경에서 예측기 재학습은 요구하지 않음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eader"/>
          <p:cNvSpPr/>
          <p:nvPr/>
        </p:nvSpPr>
        <p:spPr>
          <a:xfrm>
            <a:off x="0" y="0"/>
            <a:ext cx="12192000" cy="781050"/>
          </a:xfrm>
          <a:prstGeom prst="rect">
            <a:avLst/>
          </a:prstGeom>
          <a:solidFill>
            <a:srgbClr val="1C50B3"/>
          </a:solidFill>
          <a:ln>
            <a:noFill/>
          </a:ln>
          <a:effectLst>
            <a:outerShdw blurRad="38100" dist="19050" dir="5400000" algn="ctr" rotWithShape="0">
              <a:srgbClr val="000000">
                <a:alpha val="3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itle"/>
          <p:cNvSpPr txBox="1"/>
          <p:nvPr/>
        </p:nvSpPr>
        <p:spPr>
          <a:xfrm>
            <a:off x="257175" y="38100"/>
            <a:ext cx="11677650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300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예산 제약의 의미: 가장 빠른 후보가 제외될 수 있음</a:t>
            </a:r>
          </a:p>
        </p:txBody>
      </p:sp>
      <p:sp>
        <p:nvSpPr>
          <p:cNvPr id="4" name="Page"/>
          <p:cNvSpPr txBox="1"/>
          <p:nvPr/>
        </p:nvSpPr>
        <p:spPr>
          <a:xfrm>
            <a:off x="247650" y="6553200"/>
            <a:ext cx="1016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1128">
                <a:solidFill>
                  <a:srgbClr val="777777"/>
                </a:solidFill>
                <a:latin typeface="Pretendard"/>
                <a:ea typeface="Pretendard"/>
                <a:cs typeface="Pretendard"/>
              </a:rPr>
              <a:t>19</a:t>
            </a:r>
          </a:p>
        </p:txBody>
      </p:sp>
      <p:sp>
        <p:nvSpPr>
          <p:cNvPr id="5" name="Logo"/>
          <p:cNvSpPr txBox="1"/>
          <p:nvPr/>
        </p:nvSpPr>
        <p:spPr>
          <a:xfrm>
            <a:off x="11163300" y="6413500"/>
            <a:ext cx="1028700" cy="44450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r">
              <a:lnSpc>
                <a:spcPct val="130000"/>
              </a:lnSpc>
              <a:spcAft>
                <a:spcPts val="800"/>
              </a:spcAft>
            </a:pPr>
            <a:r>
              <a:rPr sz="2258" b="1">
                <a:solidFill>
                  <a:srgbClr val="BE1551"/>
                </a:solidFill>
                <a:latin typeface="Pretendard"/>
                <a:ea typeface="Pretendard"/>
              </a:rPr>
              <a:t>CBNU</a:t>
            </a:r>
          </a:p>
        </p:txBody>
      </p:sp>
      <p:sp>
        <p:nvSpPr>
          <p:cNvPr id="7" name="Panel"/>
          <p:cNvSpPr/>
          <p:nvPr/>
        </p:nvSpPr>
        <p:spPr>
          <a:xfrm>
            <a:off x="476250" y="4457700"/>
            <a:ext cx="11239500" cy="1981200"/>
          </a:xfrm>
          <a:prstGeom prst="roundRect">
            <a:avLst>
              <a:gd name="adj" fmla="val 6000"/>
            </a:avLst>
          </a:prstGeom>
          <a:solidFill>
            <a:srgbClr val="1C50B3"/>
          </a:solidFill>
          <a:ln>
            <a:noFill/>
          </a:ln>
          <a:effectLst>
            <a:outerShdw blurRad="38100" dist="19050" dir="5400000" algn="ctr" rotWithShape="0">
              <a:srgbClr val="000000">
                <a:alpha val="3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PanelInterior"/>
          <p:cNvSpPr/>
          <p:nvPr/>
        </p:nvSpPr>
        <p:spPr>
          <a:xfrm>
            <a:off x="628650" y="4972050"/>
            <a:ext cx="10934700" cy="13144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PanelTitle"/>
          <p:cNvSpPr txBox="1"/>
          <p:nvPr/>
        </p:nvSpPr>
        <p:spPr>
          <a:xfrm>
            <a:off x="685800" y="4495800"/>
            <a:ext cx="108204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173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• 설명용 가상 예시: 예산 b=10원 → 후보 C 선택</a:t>
            </a:r>
          </a:p>
        </p:txBody>
      </p:sp>
      <p:sp>
        <p:nvSpPr>
          <p:cNvPr id="10" name="PanelBody"/>
          <p:cNvSpPr txBox="1"/>
          <p:nvPr/>
        </p:nvSpPr>
        <p:spPr>
          <a:xfrm>
            <a:off x="781050" y="5124450"/>
            <a:ext cx="10629900" cy="1009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b="1" sz="1655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• B가 가장 빠르지만 예산을 초과 · 허용 후보 A/C 중 C가 빠름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b="1" sz="1655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• 예측 오차가 있으면 실제 시간·비용이 달라질 수 있음</a:t>
            </a:r>
          </a:p>
        </p:txBody>
      </p:sp>
      <p:sp>
        <p:nvSpPr>
          <p:cNvPr id="11" name="Source"/>
          <p:cNvSpPr txBox="1"/>
          <p:nvPr/>
        </p:nvSpPr>
        <p:spPr>
          <a:xfrm>
            <a:off x="1397000" y="6565900"/>
            <a:ext cx="9398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1050">
                <a:solidFill>
                  <a:srgbClr val="596578"/>
                </a:solidFill>
                <a:latin typeface="Pretendard"/>
                <a:ea typeface="Pretendard"/>
                <a:cs typeface="Pretendard"/>
              </a:rPr>
              <a:t>출처: §3.5의 제약식에 대한 자체 설명 · 모든 숫자는 가상값, 실험 결과 아님</a:t>
            </a:r>
          </a:p>
        </p:txBody>
      </p:sp>
      <p:graphicFrame>
        <p:nvGraphicFramePr>
          <p:cNvPr id="12" name="EditableTable"/>
          <p:cNvGraphicFramePr>
            <a:graphicFrameLocks noGrp="1"/>
          </p:cNvGraphicFramePr>
          <p:nvPr/>
        </p:nvGraphicFramePr>
        <p:xfrm>
          <a:off x="476250" y="1162050"/>
          <a:ext cx="11239500" cy="30289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/>
                <a:gridCol w="2032000"/>
                <a:gridCol w="3175000"/>
                <a:gridCol w="1968500"/>
              </a:tblGrid>
              <a:tr h="757237"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1700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가상 후보</a:t>
                      </a:r>
                    </a:p>
                  </a:txBody>
                  <a:tcPr marL="101600" marR="101600" marT="25400" marB="25400" anchor="ctr">
                    <a:solidFill>
                      <a:srgbClr val="1C50B3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1700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예측 시간</a:t>
                      </a:r>
                    </a:p>
                  </a:txBody>
                  <a:tcPr marL="101600" marR="101600" marT="25400" marB="25400" anchor="ctr">
                    <a:solidFill>
                      <a:srgbClr val="1C50B3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1700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단가 / 비용</a:t>
                      </a:r>
                    </a:p>
                  </a:txBody>
                  <a:tcPr marL="101600" marR="101600" marT="25400" marB="25400" anchor="ctr">
                    <a:solidFill>
                      <a:srgbClr val="1C50B3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1700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예산 판정</a:t>
                      </a:r>
                    </a:p>
                  </a:txBody>
                  <a:tcPr marL="101600" marR="101600" marT="25400" marB="25400" anchor="ctr">
                    <a:solidFill>
                      <a:srgbClr val="1C50B3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757237"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1800">
                          <a:solidFill>
                            <a:srgbClr val="080808"/>
                          </a:solidFill>
                          <a:latin typeface="Pretendard"/>
                          <a:ea typeface="Pretendard"/>
                          <a:cs typeface="Pretendard"/>
                        </a:rPr>
                        <a:t>A: GPU 구성 1 + 조합 A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1800">
                          <a:solidFill>
                            <a:srgbClr val="080808"/>
                          </a:solidFill>
                          <a:latin typeface="Pretendard"/>
                          <a:ea typeface="Pretendard"/>
                          <a:cs typeface="Pretendard"/>
                        </a:rPr>
                        <a:t>8초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1800">
                          <a:solidFill>
                            <a:srgbClr val="080808"/>
                          </a:solidFill>
                          <a:latin typeface="Pretendard"/>
                          <a:ea typeface="Pretendard"/>
                          <a:cs typeface="Pretendard"/>
                        </a:rPr>
                        <a:t>1원/초 → 8원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1800">
                          <a:solidFill>
                            <a:srgbClr val="080808"/>
                          </a:solidFill>
                          <a:latin typeface="Pretendard"/>
                          <a:ea typeface="Pretendard"/>
                          <a:cs typeface="Pretendard"/>
                        </a:rPr>
                        <a:t>가능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757237"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1800">
                          <a:solidFill>
                            <a:srgbClr val="080808"/>
                          </a:solidFill>
                          <a:latin typeface="Pretendard"/>
                          <a:ea typeface="Pretendard"/>
                          <a:cs typeface="Pretendard"/>
                        </a:rPr>
                        <a:t>B: GPU 구성 2 + 조합 B</a:t>
                      </a:r>
                    </a:p>
                  </a:txBody>
                  <a:tcPr marL="101600" marR="101600" marT="25400" marB="25400" anchor="ctr">
                    <a:solidFill>
                      <a:srgbClr val="EEF3FB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1800">
                          <a:solidFill>
                            <a:srgbClr val="080808"/>
                          </a:solidFill>
                          <a:latin typeface="Pretendard"/>
                          <a:ea typeface="Pretendard"/>
                          <a:cs typeface="Pretendard"/>
                        </a:rPr>
                        <a:t>5초</a:t>
                      </a:r>
                    </a:p>
                  </a:txBody>
                  <a:tcPr marL="101600" marR="101600" marT="25400" marB="25400" anchor="ctr">
                    <a:solidFill>
                      <a:srgbClr val="EEF3FB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1800">
                          <a:solidFill>
                            <a:srgbClr val="080808"/>
                          </a:solidFill>
                          <a:latin typeface="Pretendard"/>
                          <a:ea typeface="Pretendard"/>
                          <a:cs typeface="Pretendard"/>
                        </a:rPr>
                        <a:t>3원/초 → 15원</a:t>
                      </a:r>
                    </a:p>
                  </a:txBody>
                  <a:tcPr marL="101600" marR="101600" marT="25400" marB="25400" anchor="ctr">
                    <a:solidFill>
                      <a:srgbClr val="EEF3FB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1800">
                          <a:solidFill>
                            <a:srgbClr val="BE1551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제외</a:t>
                      </a:r>
                    </a:p>
                  </a:txBody>
                  <a:tcPr marL="101600" marR="101600" marT="25400" marB="25400" anchor="ctr">
                    <a:solidFill>
                      <a:srgbClr val="EEF3FB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757237"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1800">
                          <a:solidFill>
                            <a:srgbClr val="080808"/>
                          </a:solidFill>
                          <a:latin typeface="Pretendard"/>
                          <a:ea typeface="Pretendard"/>
                          <a:cs typeface="Pretendard"/>
                        </a:rPr>
                        <a:t>C: GPU 구성 1 + 조합 C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1800">
                          <a:solidFill>
                            <a:srgbClr val="080808"/>
                          </a:solidFill>
                          <a:latin typeface="Pretendard"/>
                          <a:ea typeface="Pretendard"/>
                          <a:cs typeface="Pretendard"/>
                        </a:rPr>
                        <a:t>6초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1800">
                          <a:solidFill>
                            <a:srgbClr val="080808"/>
                          </a:solidFill>
                          <a:latin typeface="Pretendard"/>
                          <a:ea typeface="Pretendard"/>
                          <a:cs typeface="Pretendard"/>
                        </a:rPr>
                        <a:t>1원/초 → 6원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1800">
                          <a:solidFill>
                            <a:srgbClr val="276B54"/>
                          </a:solidFill>
                          <a:latin typeface="Pretendard"/>
                          <a:ea typeface="Pretendard"/>
                          <a:cs typeface="Pretendard"/>
                        </a:rPr>
                        <a:t>가능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eader"/>
          <p:cNvSpPr/>
          <p:nvPr/>
        </p:nvSpPr>
        <p:spPr>
          <a:xfrm>
            <a:off x="0" y="0"/>
            <a:ext cx="12192000" cy="781050"/>
          </a:xfrm>
          <a:prstGeom prst="rect">
            <a:avLst/>
          </a:prstGeom>
          <a:solidFill>
            <a:srgbClr val="1C50B3"/>
          </a:solidFill>
          <a:ln>
            <a:noFill/>
          </a:ln>
          <a:effectLst>
            <a:outerShdw blurRad="38100" dist="19050" dir="5400000" algn="ctr" rotWithShape="0">
              <a:srgbClr val="000000">
                <a:alpha val="3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itle"/>
          <p:cNvSpPr txBox="1"/>
          <p:nvPr/>
        </p:nvSpPr>
        <p:spPr>
          <a:xfrm>
            <a:off x="257175" y="38100"/>
            <a:ext cx="11677650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300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실험 설정: 무엇을 대상으로 선택 성능을 검증했나?</a:t>
            </a:r>
          </a:p>
        </p:txBody>
      </p:sp>
      <p:sp>
        <p:nvSpPr>
          <p:cNvPr id="4" name="Page"/>
          <p:cNvSpPr txBox="1"/>
          <p:nvPr/>
        </p:nvSpPr>
        <p:spPr>
          <a:xfrm>
            <a:off x="247650" y="6553200"/>
            <a:ext cx="1016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1128">
                <a:solidFill>
                  <a:srgbClr val="777777"/>
                </a:solidFill>
                <a:latin typeface="Pretendard"/>
                <a:ea typeface="Pretendard"/>
                <a:cs typeface="Pretendard"/>
              </a:rPr>
              <a:t>20</a:t>
            </a:r>
          </a:p>
        </p:txBody>
      </p:sp>
      <p:sp>
        <p:nvSpPr>
          <p:cNvPr id="5" name="Logo"/>
          <p:cNvSpPr txBox="1"/>
          <p:nvPr/>
        </p:nvSpPr>
        <p:spPr>
          <a:xfrm>
            <a:off x="11163300" y="6413500"/>
            <a:ext cx="1028700" cy="44450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r">
              <a:lnSpc>
                <a:spcPct val="130000"/>
              </a:lnSpc>
              <a:spcAft>
                <a:spcPts val="800"/>
              </a:spcAft>
            </a:pPr>
            <a:r>
              <a:rPr sz="2258" b="1">
                <a:solidFill>
                  <a:srgbClr val="BE1551"/>
                </a:solidFill>
                <a:latin typeface="Pretendard"/>
                <a:ea typeface="Pretendard"/>
              </a:rPr>
              <a:t>CBNU</a:t>
            </a:r>
          </a:p>
        </p:txBody>
      </p:sp>
      <p:sp>
        <p:nvSpPr>
          <p:cNvPr id="6" name="ExplanationBox"/>
          <p:cNvSpPr/>
          <p:nvPr/>
        </p:nvSpPr>
        <p:spPr>
          <a:xfrm>
            <a:off x="257175" y="1085850"/>
            <a:ext cx="11677650" cy="5257800"/>
          </a:xfrm>
          <a:prstGeom prst="roundRect">
            <a:avLst>
              <a:gd name="adj" fmla="val 6000"/>
            </a:avLst>
          </a:prstGeom>
          <a:solidFill>
            <a:srgbClr val="1C50B3"/>
          </a:solidFill>
          <a:ln>
            <a:noFill/>
          </a:ln>
          <a:effectLst>
            <a:outerShdw blurRad="38100" dist="19050" dir="5400000" algn="ctr" rotWithShape="0">
              <a:srgbClr val="000000">
                <a:alpha val="3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ExplanationBoxInterior"/>
          <p:cNvSpPr/>
          <p:nvPr/>
        </p:nvSpPr>
        <p:spPr>
          <a:xfrm>
            <a:off x="409575" y="1238250"/>
            <a:ext cx="11372850" cy="4953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Body"/>
          <p:cNvSpPr txBox="1"/>
          <p:nvPr/>
        </p:nvSpPr>
        <p:spPr>
          <a:xfrm>
            <a:off x="561975" y="1390650"/>
            <a:ext cx="11068050" cy="4648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900"/>
              </a:spcAft>
            </a:pPr>
            <a:r>
              <a:rPr b="1" sz="2200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• 모델: Baichuan2-7B-Chat, Qwen2.5-7B-Instruct-1M,</a:t>
            </a:r>
            <a:br/>
            <a:r>
              <a:rPr b="1" sz="2200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Phi-2, Meta-Llama-3.1-8B-Instruct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900"/>
              </a:spcAft>
            </a:pPr>
            <a:r>
              <a:rPr b="1" sz="2200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• 워크로드: reasoning-v1-20m + ShareGPT</a:t>
            </a:r>
            <a:br/>
            <a:r>
              <a:rPr b="1" sz="2200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구조화된 추론 입력과 실제 대화 입력을 함께 사용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900"/>
              </a:spcAft>
            </a:pPr>
            <a:r>
              <a:rPr b="1" sz="2200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• 하드웨어: NVIDIA T4 16GB, L4 24GB, A100 40GB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900"/>
              </a:spcAft>
            </a:pPr>
            <a:r>
              <a:rPr b="1" sz="2200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• 선택 대상: Prefix caching / Chunked prefill /</a:t>
            </a:r>
            <a:br/>
            <a:r>
              <a:rPr b="1" sz="2200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Continuous batching을 사용하는 가속 조합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900"/>
              </a:spcAft>
            </a:pPr>
            <a:r>
              <a:rPr b="1" sz="2200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• 평가: 미학습 입력 1,000개에서 모든 후보를 실행해 실제 최적 조합 확인</a:t>
            </a:r>
          </a:p>
        </p:txBody>
      </p:sp>
      <p:sp>
        <p:nvSpPr>
          <p:cNvPr id="9" name="Source"/>
          <p:cNvSpPr txBox="1"/>
          <p:nvPr/>
        </p:nvSpPr>
        <p:spPr>
          <a:xfrm>
            <a:off x="1397000" y="6565900"/>
            <a:ext cx="9398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1050">
                <a:solidFill>
                  <a:srgbClr val="596578"/>
                </a:solidFill>
                <a:latin typeface="Pretendard"/>
                <a:ea typeface="Pretendard"/>
                <a:cs typeface="Pretendard"/>
              </a:rPr>
              <a:t>출처: Du et al., arXiv:2508.09194v1 (COLM 2025 표기) · §4.1, Appendix A.2 · 2048/float16은 §3.1 동기 실험 조건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eader"/>
          <p:cNvSpPr/>
          <p:nvPr/>
        </p:nvSpPr>
        <p:spPr>
          <a:xfrm>
            <a:off x="0" y="0"/>
            <a:ext cx="12192000" cy="781050"/>
          </a:xfrm>
          <a:prstGeom prst="rect">
            <a:avLst/>
          </a:prstGeom>
          <a:solidFill>
            <a:srgbClr val="1C50B3"/>
          </a:solidFill>
          <a:ln>
            <a:noFill/>
          </a:ln>
          <a:effectLst>
            <a:outerShdw blurRad="38100" dist="19050" dir="5400000" algn="ctr" rotWithShape="0">
              <a:srgbClr val="000000">
                <a:alpha val="3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itle"/>
          <p:cNvSpPr txBox="1"/>
          <p:nvPr/>
        </p:nvSpPr>
        <p:spPr>
          <a:xfrm>
            <a:off x="257175" y="38100"/>
            <a:ext cx="11677650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300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평가 지표: “맞게 선택”과 “실제로 빠름”은 다르다</a:t>
            </a:r>
          </a:p>
        </p:txBody>
      </p:sp>
      <p:sp>
        <p:nvSpPr>
          <p:cNvPr id="4" name="Page"/>
          <p:cNvSpPr txBox="1"/>
          <p:nvPr/>
        </p:nvSpPr>
        <p:spPr>
          <a:xfrm>
            <a:off x="247650" y="6553200"/>
            <a:ext cx="1016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1128">
                <a:solidFill>
                  <a:srgbClr val="777777"/>
                </a:solidFill>
                <a:latin typeface="Pretendard"/>
                <a:ea typeface="Pretendard"/>
                <a:cs typeface="Pretendard"/>
              </a:rPr>
              <a:t>21</a:t>
            </a:r>
          </a:p>
        </p:txBody>
      </p:sp>
      <p:sp>
        <p:nvSpPr>
          <p:cNvPr id="5" name="Logo"/>
          <p:cNvSpPr txBox="1"/>
          <p:nvPr/>
        </p:nvSpPr>
        <p:spPr>
          <a:xfrm>
            <a:off x="11163300" y="6413500"/>
            <a:ext cx="1028700" cy="44450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r">
              <a:lnSpc>
                <a:spcPct val="130000"/>
              </a:lnSpc>
              <a:spcAft>
                <a:spcPts val="800"/>
              </a:spcAft>
            </a:pPr>
            <a:r>
              <a:rPr sz="2258" b="1">
                <a:solidFill>
                  <a:srgbClr val="BE1551"/>
                </a:solidFill>
                <a:latin typeface="Pretendard"/>
                <a:ea typeface="Pretendard"/>
              </a:rPr>
              <a:t>CBNU</a:t>
            </a:r>
          </a:p>
        </p:txBody>
      </p:sp>
      <p:sp>
        <p:nvSpPr>
          <p:cNvPr id="6" name="ExplanationBox"/>
          <p:cNvSpPr/>
          <p:nvPr/>
        </p:nvSpPr>
        <p:spPr>
          <a:xfrm>
            <a:off x="257175" y="1085850"/>
            <a:ext cx="11677650" cy="5257800"/>
          </a:xfrm>
          <a:prstGeom prst="roundRect">
            <a:avLst>
              <a:gd name="adj" fmla="val 6000"/>
            </a:avLst>
          </a:prstGeom>
          <a:solidFill>
            <a:srgbClr val="1C50B3"/>
          </a:solidFill>
          <a:ln>
            <a:noFill/>
          </a:ln>
          <a:effectLst>
            <a:outerShdw blurRad="38100" dist="19050" dir="5400000" algn="ctr" rotWithShape="0">
              <a:srgbClr val="000000">
                <a:alpha val="3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ExplanationBoxInterior"/>
          <p:cNvSpPr/>
          <p:nvPr/>
        </p:nvSpPr>
        <p:spPr>
          <a:xfrm>
            <a:off x="409575" y="1238250"/>
            <a:ext cx="11372850" cy="4953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Body"/>
          <p:cNvSpPr txBox="1"/>
          <p:nvPr/>
        </p:nvSpPr>
        <p:spPr>
          <a:xfrm>
            <a:off x="561975" y="1390650"/>
            <a:ext cx="11068050" cy="4648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900"/>
              </a:spcAft>
            </a:pPr>
            <a:r>
              <a:rPr b="1" sz="2200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• Selection accuracy: 예측 선택이 실제 최단 시간 조합과 일치한 비율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900"/>
              </a:spcAft>
            </a:pPr>
            <a:r>
              <a:rPr b="1" sz="2200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• F1: 조합 선택의 precision/recall을 요약</a:t>
            </a:r>
            <a:br/>
            <a:r>
              <a:rPr b="1" sz="2200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클래스별 집계 방식(macro/weighted 등)은 원문 미명시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900"/>
              </a:spcAft>
            </a:pPr>
            <a:r>
              <a:rPr b="1" sz="2200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• Mean rank: 예측 시간 순위에서 실제 최적 조합의 평균 위치</a:t>
            </a:r>
            <a:br/>
            <a:r>
              <a:rPr b="1" sz="2200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작을수록 좋음 · 최선은 1위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900"/>
              </a:spcAft>
            </a:pPr>
            <a:r>
              <a:rPr b="1" sz="2200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• Accel.: 원문 Table 4에서 MetaInf는 1.55로 보고</a:t>
            </a:r>
            <a:br/>
            <a:r>
              <a:rPr b="1" sz="2200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§4.3의 비율 설명과 “클수록 좋음” 해석 사이에 불일치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900"/>
              </a:spcAft>
            </a:pPr>
            <a:r>
              <a:rPr b="1" sz="2200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• 발표 시 1.55를 특정 기준 대비 “정확히 55% 빨라짐”으로 단정하지 않음</a:t>
            </a:r>
          </a:p>
        </p:txBody>
      </p:sp>
      <p:sp>
        <p:nvSpPr>
          <p:cNvPr id="9" name="Source"/>
          <p:cNvSpPr txBox="1"/>
          <p:nvPr/>
        </p:nvSpPr>
        <p:spPr>
          <a:xfrm>
            <a:off x="1397000" y="6565900"/>
            <a:ext cx="9398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1050">
                <a:solidFill>
                  <a:srgbClr val="596578"/>
                </a:solidFill>
                <a:latin typeface="Pretendard"/>
                <a:ea typeface="Pretendard"/>
                <a:cs typeface="Pretendard"/>
              </a:rPr>
              <a:t>출처: Du et al., arXiv:2508.09194v1 (COLM 2025 표기) · Table 4, §4.3, §4.5, Appendix A.2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eader"/>
          <p:cNvSpPr/>
          <p:nvPr/>
        </p:nvSpPr>
        <p:spPr>
          <a:xfrm>
            <a:off x="0" y="0"/>
            <a:ext cx="12192000" cy="781050"/>
          </a:xfrm>
          <a:prstGeom prst="rect">
            <a:avLst/>
          </a:prstGeom>
          <a:solidFill>
            <a:srgbClr val="1C50B3"/>
          </a:solidFill>
          <a:ln>
            <a:noFill/>
          </a:ln>
          <a:effectLst>
            <a:outerShdw blurRad="38100" dist="19050" dir="5400000" algn="ctr" rotWithShape="0">
              <a:srgbClr val="000000">
                <a:alpha val="3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itle"/>
          <p:cNvSpPr txBox="1"/>
          <p:nvPr/>
        </p:nvSpPr>
        <p:spPr>
          <a:xfrm>
            <a:off x="257175" y="38100"/>
            <a:ext cx="11677650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300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선택 정확도: MetaInf 89.8%, 가장 높은 보고값</a:t>
            </a:r>
          </a:p>
        </p:txBody>
      </p:sp>
      <p:sp>
        <p:nvSpPr>
          <p:cNvPr id="4" name="Page"/>
          <p:cNvSpPr txBox="1"/>
          <p:nvPr/>
        </p:nvSpPr>
        <p:spPr>
          <a:xfrm>
            <a:off x="247650" y="6553200"/>
            <a:ext cx="1016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1128">
                <a:solidFill>
                  <a:srgbClr val="777777"/>
                </a:solidFill>
                <a:latin typeface="Pretendard"/>
                <a:ea typeface="Pretendard"/>
                <a:cs typeface="Pretendard"/>
              </a:rPr>
              <a:t>22</a:t>
            </a:r>
          </a:p>
        </p:txBody>
      </p:sp>
      <p:sp>
        <p:nvSpPr>
          <p:cNvPr id="5" name="Logo"/>
          <p:cNvSpPr txBox="1"/>
          <p:nvPr/>
        </p:nvSpPr>
        <p:spPr>
          <a:xfrm>
            <a:off x="11163300" y="6413500"/>
            <a:ext cx="1028700" cy="44450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r">
              <a:lnSpc>
                <a:spcPct val="130000"/>
              </a:lnSpc>
              <a:spcAft>
                <a:spcPts val="800"/>
              </a:spcAft>
            </a:pPr>
            <a:r>
              <a:rPr sz="2258" b="1">
                <a:solidFill>
                  <a:srgbClr val="BE1551"/>
                </a:solidFill>
                <a:latin typeface="Pretendard"/>
                <a:ea typeface="Pretendard"/>
              </a:rPr>
              <a:t>CBNU</a:t>
            </a:r>
          </a:p>
        </p:txBody>
      </p:sp>
      <p:sp>
        <p:nvSpPr>
          <p:cNvPr id="7" name="Panel"/>
          <p:cNvSpPr/>
          <p:nvPr/>
        </p:nvSpPr>
        <p:spPr>
          <a:xfrm>
            <a:off x="6115050" y="1266825"/>
            <a:ext cx="5715000" cy="4857750"/>
          </a:xfrm>
          <a:prstGeom prst="roundRect">
            <a:avLst>
              <a:gd name="adj" fmla="val 6000"/>
            </a:avLst>
          </a:prstGeom>
          <a:solidFill>
            <a:srgbClr val="1C50B3"/>
          </a:solidFill>
          <a:ln>
            <a:noFill/>
          </a:ln>
          <a:effectLst>
            <a:outerShdw blurRad="38100" dist="19050" dir="5400000" algn="ctr" rotWithShape="0">
              <a:srgbClr val="000000">
                <a:alpha val="3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PanelInterior"/>
          <p:cNvSpPr/>
          <p:nvPr/>
        </p:nvSpPr>
        <p:spPr>
          <a:xfrm>
            <a:off x="6267450" y="1781175"/>
            <a:ext cx="5410200" cy="4191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PanelTitle"/>
          <p:cNvSpPr txBox="1"/>
          <p:nvPr/>
        </p:nvSpPr>
        <p:spPr>
          <a:xfrm>
            <a:off x="6324600" y="1314450"/>
            <a:ext cx="52578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173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• 핵심 비교</a:t>
            </a:r>
          </a:p>
        </p:txBody>
      </p:sp>
      <p:sp>
        <p:nvSpPr>
          <p:cNvPr id="10" name="PanelBody"/>
          <p:cNvSpPr txBox="1"/>
          <p:nvPr/>
        </p:nvSpPr>
        <p:spPr>
          <a:xfrm>
            <a:off x="6419850" y="1933575"/>
            <a:ext cx="5105400" cy="3886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800"/>
              </a:spcAft>
            </a:pPr>
            <a:r>
              <a:rPr b="1" sz="1572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• MetaInf: 89.8%</a:t>
            </a:r>
            <a:br/>
            <a:r>
              <a:rPr b="1" sz="1572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Gradient Boosting: 81.5%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800"/>
              </a:spcAft>
            </a:pPr>
            <a:r>
              <a:rPr b="1" sz="1572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• 절대 차이 +8.3%p</a:t>
            </a:r>
            <a:br/>
            <a:r>
              <a:rPr b="1" sz="1572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환경을 보고 조합을 고르는 능력 개선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800"/>
              </a:spcAft>
            </a:pPr>
            <a:r>
              <a:rPr b="1" sz="1572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• 정확도는 조합 선택의 일치율</a:t>
            </a:r>
            <a:br/>
            <a:r>
              <a:rPr b="1" sz="1572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LLM 답변의 정답률을 뜻하지 않음</a:t>
            </a:r>
          </a:p>
        </p:txBody>
      </p:sp>
      <p:sp>
        <p:nvSpPr>
          <p:cNvPr id="11" name="Source"/>
          <p:cNvSpPr txBox="1"/>
          <p:nvPr/>
        </p:nvSpPr>
        <p:spPr>
          <a:xfrm>
            <a:off x="1397000" y="6565900"/>
            <a:ext cx="9398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1050">
                <a:solidFill>
                  <a:srgbClr val="596578"/>
                </a:solidFill>
                <a:latin typeface="Pretendard"/>
                <a:ea typeface="Pretendard"/>
                <a:cs typeface="Pretendard"/>
              </a:rPr>
              <a:t>출처: Du et al., arXiv:2508.09194v1 (COLM 2025 표기) · Table 4 · 그래프는 원문 수치 재작성</a:t>
            </a: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342900" y="1612900"/>
          <a:ext cx="5334000" cy="42799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eader"/>
          <p:cNvSpPr/>
          <p:nvPr/>
        </p:nvSpPr>
        <p:spPr>
          <a:xfrm>
            <a:off x="0" y="0"/>
            <a:ext cx="12192000" cy="781050"/>
          </a:xfrm>
          <a:prstGeom prst="rect">
            <a:avLst/>
          </a:prstGeom>
          <a:solidFill>
            <a:srgbClr val="1C50B3"/>
          </a:solidFill>
          <a:ln>
            <a:noFill/>
          </a:ln>
          <a:effectLst>
            <a:outerShdw blurRad="38100" dist="19050" dir="5400000" algn="ctr" rotWithShape="0">
              <a:srgbClr val="000000">
                <a:alpha val="3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itle"/>
          <p:cNvSpPr txBox="1"/>
          <p:nvPr/>
        </p:nvSpPr>
        <p:spPr>
          <a:xfrm>
            <a:off x="257175" y="38100"/>
            <a:ext cx="11677650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300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종합 결과: 정확도·F1·보고 가속 지표 모두 우수</a:t>
            </a:r>
          </a:p>
        </p:txBody>
      </p:sp>
      <p:sp>
        <p:nvSpPr>
          <p:cNvPr id="4" name="Page"/>
          <p:cNvSpPr txBox="1"/>
          <p:nvPr/>
        </p:nvSpPr>
        <p:spPr>
          <a:xfrm>
            <a:off x="247650" y="6553200"/>
            <a:ext cx="1016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1128">
                <a:solidFill>
                  <a:srgbClr val="777777"/>
                </a:solidFill>
                <a:latin typeface="Pretendard"/>
                <a:ea typeface="Pretendard"/>
                <a:cs typeface="Pretendard"/>
              </a:rPr>
              <a:t>23</a:t>
            </a:r>
          </a:p>
        </p:txBody>
      </p:sp>
      <p:sp>
        <p:nvSpPr>
          <p:cNvPr id="5" name="Logo"/>
          <p:cNvSpPr txBox="1"/>
          <p:nvPr/>
        </p:nvSpPr>
        <p:spPr>
          <a:xfrm>
            <a:off x="11163300" y="6413500"/>
            <a:ext cx="1028700" cy="44450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r">
              <a:lnSpc>
                <a:spcPct val="130000"/>
              </a:lnSpc>
              <a:spcAft>
                <a:spcPts val="800"/>
              </a:spcAft>
            </a:pPr>
            <a:r>
              <a:rPr sz="2258" b="1">
                <a:solidFill>
                  <a:srgbClr val="BE1551"/>
                </a:solidFill>
                <a:latin typeface="Pretendard"/>
                <a:ea typeface="Pretendard"/>
              </a:rPr>
              <a:t>CBNU</a:t>
            </a:r>
          </a:p>
        </p:txBody>
      </p:sp>
      <p:sp>
        <p:nvSpPr>
          <p:cNvPr id="7" name="Panel"/>
          <p:cNvSpPr/>
          <p:nvPr/>
        </p:nvSpPr>
        <p:spPr>
          <a:xfrm>
            <a:off x="476250" y="4457700"/>
            <a:ext cx="11239500" cy="1981200"/>
          </a:xfrm>
          <a:prstGeom prst="roundRect">
            <a:avLst>
              <a:gd name="adj" fmla="val 6000"/>
            </a:avLst>
          </a:prstGeom>
          <a:solidFill>
            <a:srgbClr val="1C50B3"/>
          </a:solidFill>
          <a:ln>
            <a:noFill/>
          </a:ln>
          <a:effectLst>
            <a:outerShdw blurRad="38100" dist="19050" dir="5400000" algn="ctr" rotWithShape="0">
              <a:srgbClr val="000000">
                <a:alpha val="3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PanelInterior"/>
          <p:cNvSpPr/>
          <p:nvPr/>
        </p:nvSpPr>
        <p:spPr>
          <a:xfrm>
            <a:off x="628650" y="4972050"/>
            <a:ext cx="10934700" cy="13144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PanelTitle"/>
          <p:cNvSpPr txBox="1"/>
          <p:nvPr/>
        </p:nvSpPr>
        <p:spPr>
          <a:xfrm>
            <a:off x="685800" y="4495800"/>
            <a:ext cx="108204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173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• 전체 비교 11개 방법 중 MetaInf가 최고 보고값</a:t>
            </a:r>
          </a:p>
        </p:txBody>
      </p:sp>
      <p:sp>
        <p:nvSpPr>
          <p:cNvPr id="10" name="PanelBody"/>
          <p:cNvSpPr txBox="1"/>
          <p:nvPr/>
        </p:nvSpPr>
        <p:spPr>
          <a:xfrm>
            <a:off x="781050" y="5124450"/>
            <a:ext cx="10629900" cy="1009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b="1" sz="1655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• F1 0.85 · 다음으로 높은 SVM의 F1은 0.79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b="1" sz="1655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• Accel. 1.55는 원문 값 그대로 · 전체 baseline 표는 부록 31장</a:t>
            </a:r>
          </a:p>
        </p:txBody>
      </p:sp>
      <p:sp>
        <p:nvSpPr>
          <p:cNvPr id="11" name="Source"/>
          <p:cNvSpPr txBox="1"/>
          <p:nvPr/>
        </p:nvSpPr>
        <p:spPr>
          <a:xfrm>
            <a:off x="1397000" y="6565900"/>
            <a:ext cx="9398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1050">
                <a:solidFill>
                  <a:srgbClr val="596578"/>
                </a:solidFill>
                <a:latin typeface="Pretendard"/>
                <a:ea typeface="Pretendard"/>
                <a:cs typeface="Pretendard"/>
              </a:rPr>
              <a:t>출처: Du et al., arXiv:2508.09194v1 (COLM 2025 표기) · Table 4 · Accel. 정의 불일치는 21·28장에서 설명</a:t>
            </a:r>
          </a:p>
        </p:txBody>
      </p:sp>
      <p:graphicFrame>
        <p:nvGraphicFramePr>
          <p:cNvPr id="12" name="EditableTable"/>
          <p:cNvGraphicFramePr>
            <a:graphicFrameLocks noGrp="1"/>
          </p:cNvGraphicFramePr>
          <p:nvPr/>
        </p:nvGraphicFramePr>
        <p:xfrm>
          <a:off x="476250" y="1162050"/>
          <a:ext cx="11239500" cy="30289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35500"/>
                <a:gridCol w="3302000"/>
                <a:gridCol w="3302000"/>
              </a:tblGrid>
              <a:tr h="504825"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1700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선택 방법</a:t>
                      </a:r>
                    </a:p>
                  </a:txBody>
                  <a:tcPr marL="101600" marR="101600" marT="25400" marB="25400" anchor="ctr">
                    <a:solidFill>
                      <a:srgbClr val="1C50B3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1700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Accuracy / F1</a:t>
                      </a:r>
                    </a:p>
                  </a:txBody>
                  <a:tcPr marL="101600" marR="101600" marT="25400" marB="25400" anchor="ctr">
                    <a:solidFill>
                      <a:srgbClr val="1C50B3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1700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Accel. (원문)</a:t>
                      </a:r>
                    </a:p>
                  </a:txBody>
                  <a:tcPr marL="101600" marR="101600" marT="25400" marB="25400" anchor="ctr">
                    <a:solidFill>
                      <a:srgbClr val="1C50B3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04825"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1900">
                          <a:solidFill>
                            <a:srgbClr val="080808"/>
                          </a:solidFill>
                          <a:latin typeface="Pretendard"/>
                          <a:ea typeface="Pretendard"/>
                          <a:cs typeface="Pretendard"/>
                        </a:rPr>
                        <a:t>Global Best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1900">
                          <a:solidFill>
                            <a:srgbClr val="080808"/>
                          </a:solidFill>
                          <a:latin typeface="Pretendard"/>
                          <a:ea typeface="Pretendard"/>
                          <a:cs typeface="Pretendard"/>
                        </a:rPr>
                        <a:t>0.629 / 0.63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1900">
                          <a:solidFill>
                            <a:srgbClr val="080808"/>
                          </a:solidFill>
                          <a:latin typeface="Pretendard"/>
                          <a:ea typeface="Pretendard"/>
                          <a:cs typeface="Pretendard"/>
                        </a:rPr>
                        <a:t>1.16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04825"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1900">
                          <a:solidFill>
                            <a:srgbClr val="080808"/>
                          </a:solidFill>
                          <a:latin typeface="Pretendard"/>
                          <a:ea typeface="Pretendard"/>
                          <a:cs typeface="Pretendard"/>
                        </a:rPr>
                        <a:t>ALORS</a:t>
                      </a:r>
                    </a:p>
                  </a:txBody>
                  <a:tcPr marL="101600" marR="101600" marT="25400" marB="25400" anchor="ctr">
                    <a:solidFill>
                      <a:srgbClr val="EEF3FB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1900">
                          <a:solidFill>
                            <a:srgbClr val="080808"/>
                          </a:solidFill>
                          <a:latin typeface="Pretendard"/>
                          <a:ea typeface="Pretendard"/>
                          <a:cs typeface="Pretendard"/>
                        </a:rPr>
                        <a:t>0.725 / 0.71</a:t>
                      </a:r>
                    </a:p>
                  </a:txBody>
                  <a:tcPr marL="101600" marR="101600" marT="25400" marB="25400" anchor="ctr">
                    <a:solidFill>
                      <a:srgbClr val="EEF3FB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1900">
                          <a:solidFill>
                            <a:srgbClr val="080808"/>
                          </a:solidFill>
                          <a:latin typeface="Pretendard"/>
                          <a:ea typeface="Pretendard"/>
                          <a:cs typeface="Pretendard"/>
                        </a:rPr>
                        <a:t>1.20</a:t>
                      </a:r>
                    </a:p>
                  </a:txBody>
                  <a:tcPr marL="101600" marR="101600" marT="25400" marB="25400" anchor="ctr">
                    <a:solidFill>
                      <a:srgbClr val="EEF3FB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04825"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1900">
                          <a:solidFill>
                            <a:srgbClr val="080808"/>
                          </a:solidFill>
                          <a:latin typeface="Pretendard"/>
                          <a:ea typeface="Pretendard"/>
                          <a:cs typeface="Pretendard"/>
                        </a:rPr>
                        <a:t>SVM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1900">
                          <a:solidFill>
                            <a:srgbClr val="080808"/>
                          </a:solidFill>
                          <a:latin typeface="Pretendard"/>
                          <a:ea typeface="Pretendard"/>
                          <a:cs typeface="Pretendard"/>
                        </a:rPr>
                        <a:t>0.802 / 0.79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1900">
                          <a:solidFill>
                            <a:srgbClr val="080808"/>
                          </a:solidFill>
                          <a:latin typeface="Pretendard"/>
                          <a:ea typeface="Pretendard"/>
                          <a:cs typeface="Pretendard"/>
                        </a:rPr>
                        <a:t>1.28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04825"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1900">
                          <a:solidFill>
                            <a:srgbClr val="080808"/>
                          </a:solidFill>
                          <a:latin typeface="Pretendard"/>
                          <a:ea typeface="Pretendard"/>
                          <a:cs typeface="Pretendard"/>
                        </a:rPr>
                        <a:t>Gradient Boosting</a:t>
                      </a:r>
                    </a:p>
                  </a:txBody>
                  <a:tcPr marL="101600" marR="101600" marT="25400" marB="25400" anchor="ctr">
                    <a:solidFill>
                      <a:srgbClr val="EEF3FB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1900">
                          <a:solidFill>
                            <a:srgbClr val="080808"/>
                          </a:solidFill>
                          <a:latin typeface="Pretendard"/>
                          <a:ea typeface="Pretendard"/>
                          <a:cs typeface="Pretendard"/>
                        </a:rPr>
                        <a:t>0.815 / 0.78</a:t>
                      </a:r>
                    </a:p>
                  </a:txBody>
                  <a:tcPr marL="101600" marR="101600" marT="25400" marB="25400" anchor="ctr">
                    <a:solidFill>
                      <a:srgbClr val="EEF3FB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1900">
                          <a:solidFill>
                            <a:srgbClr val="080808"/>
                          </a:solidFill>
                          <a:latin typeface="Pretendard"/>
                          <a:ea typeface="Pretendard"/>
                          <a:cs typeface="Pretendard"/>
                        </a:rPr>
                        <a:t>1.30</a:t>
                      </a:r>
                    </a:p>
                  </a:txBody>
                  <a:tcPr marL="101600" marR="101600" marT="25400" marB="25400" anchor="ctr">
                    <a:solidFill>
                      <a:srgbClr val="EEF3FB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04825"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1900">
                          <a:solidFill>
                            <a:srgbClr val="080808"/>
                          </a:solidFill>
                          <a:latin typeface="Pretendard"/>
                          <a:ea typeface="Pretendard"/>
                          <a:cs typeface="Pretendard"/>
                        </a:rPr>
                        <a:t>MetaInf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1900">
                          <a:solidFill>
                            <a:srgbClr val="1C50B3"/>
                          </a:solidFill>
                          <a:latin typeface="Pretendard"/>
                          <a:ea typeface="Pretendard"/>
                          <a:cs typeface="Pretendard"/>
                        </a:rPr>
                        <a:t>0.898 / 0.85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1900">
                          <a:solidFill>
                            <a:srgbClr val="1C50B3"/>
                          </a:solidFill>
                          <a:latin typeface="Pretendard"/>
                          <a:ea typeface="Pretendard"/>
                          <a:cs typeface="Pretendard"/>
                        </a:rPr>
                        <a:t>1.55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eader"/>
          <p:cNvSpPr/>
          <p:nvPr/>
        </p:nvSpPr>
        <p:spPr>
          <a:xfrm>
            <a:off x="0" y="0"/>
            <a:ext cx="12192000" cy="781050"/>
          </a:xfrm>
          <a:prstGeom prst="rect">
            <a:avLst/>
          </a:prstGeom>
          <a:solidFill>
            <a:srgbClr val="1C50B3"/>
          </a:solidFill>
          <a:ln>
            <a:noFill/>
          </a:ln>
          <a:effectLst>
            <a:outerShdw blurRad="38100" dist="19050" dir="5400000" algn="ctr" rotWithShape="0">
              <a:srgbClr val="000000">
                <a:alpha val="3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itle"/>
          <p:cNvSpPr txBox="1"/>
          <p:nvPr/>
        </p:nvSpPr>
        <p:spPr>
          <a:xfrm>
            <a:off x="257175" y="38100"/>
            <a:ext cx="11677650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300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실제 최적 조합을 예측 순위의 상단에 배치</a:t>
            </a:r>
          </a:p>
        </p:txBody>
      </p:sp>
      <p:sp>
        <p:nvSpPr>
          <p:cNvPr id="4" name="Page"/>
          <p:cNvSpPr txBox="1"/>
          <p:nvPr/>
        </p:nvSpPr>
        <p:spPr>
          <a:xfrm>
            <a:off x="247650" y="6553200"/>
            <a:ext cx="1016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1128">
                <a:solidFill>
                  <a:srgbClr val="777777"/>
                </a:solidFill>
                <a:latin typeface="Pretendard"/>
                <a:ea typeface="Pretendard"/>
                <a:cs typeface="Pretendard"/>
              </a:rPr>
              <a:t>24</a:t>
            </a:r>
          </a:p>
        </p:txBody>
      </p:sp>
      <p:sp>
        <p:nvSpPr>
          <p:cNvPr id="5" name="Logo"/>
          <p:cNvSpPr txBox="1"/>
          <p:nvPr/>
        </p:nvSpPr>
        <p:spPr>
          <a:xfrm>
            <a:off x="11163300" y="6413500"/>
            <a:ext cx="1028700" cy="44450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r">
              <a:lnSpc>
                <a:spcPct val="130000"/>
              </a:lnSpc>
              <a:spcAft>
                <a:spcPts val="800"/>
              </a:spcAft>
            </a:pPr>
            <a:r>
              <a:rPr sz="2258" b="1">
                <a:solidFill>
                  <a:srgbClr val="BE1551"/>
                </a:solidFill>
                <a:latin typeface="Pretendard"/>
                <a:ea typeface="Pretendard"/>
              </a:rPr>
              <a:t>CBNU</a:t>
            </a:r>
          </a:p>
        </p:txBody>
      </p:sp>
      <p:sp>
        <p:nvSpPr>
          <p:cNvPr id="7" name="Panel"/>
          <p:cNvSpPr/>
          <p:nvPr/>
        </p:nvSpPr>
        <p:spPr>
          <a:xfrm>
            <a:off x="6115050" y="1266825"/>
            <a:ext cx="5715000" cy="4857750"/>
          </a:xfrm>
          <a:prstGeom prst="roundRect">
            <a:avLst>
              <a:gd name="adj" fmla="val 6000"/>
            </a:avLst>
          </a:prstGeom>
          <a:solidFill>
            <a:srgbClr val="1C50B3"/>
          </a:solidFill>
          <a:ln>
            <a:noFill/>
          </a:ln>
          <a:effectLst>
            <a:outerShdw blurRad="38100" dist="19050" dir="5400000" algn="ctr" rotWithShape="0">
              <a:srgbClr val="000000">
                <a:alpha val="3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PanelInterior"/>
          <p:cNvSpPr/>
          <p:nvPr/>
        </p:nvSpPr>
        <p:spPr>
          <a:xfrm>
            <a:off x="6267450" y="1781175"/>
            <a:ext cx="5410200" cy="4191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PanelTitle"/>
          <p:cNvSpPr txBox="1"/>
          <p:nvPr/>
        </p:nvSpPr>
        <p:spPr>
          <a:xfrm>
            <a:off x="6324600" y="1314450"/>
            <a:ext cx="52578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173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• 단순 일치율을 보완하는 지표</a:t>
            </a:r>
          </a:p>
        </p:txBody>
      </p:sp>
      <p:sp>
        <p:nvSpPr>
          <p:cNvPr id="10" name="PanelBody"/>
          <p:cNvSpPr txBox="1"/>
          <p:nvPr/>
        </p:nvSpPr>
        <p:spPr>
          <a:xfrm>
            <a:off x="6419850" y="1933575"/>
            <a:ext cx="5105400" cy="3886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800"/>
              </a:spcAft>
            </a:pPr>
            <a:r>
              <a:rPr b="1" sz="1572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• 각 환경에서 후보를 예측 시간순 정렬</a:t>
            </a:r>
            <a:br/>
            <a:r>
              <a:rPr b="1" sz="1572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실제로 가장 빠른 조합의 위치 기록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800"/>
              </a:spcAft>
            </a:pPr>
            <a:r>
              <a:rPr b="1" sz="1572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• 평균 순위가 1에 가까울수록</a:t>
            </a:r>
            <a:br/>
            <a:r>
              <a:rPr b="1" sz="1572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실제 최적 조합을 우선 추천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800"/>
              </a:spcAft>
            </a:pPr>
            <a:r>
              <a:rPr b="1" sz="1572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• 잘못 고른 경우의 시간 손실 크기는</a:t>
            </a:r>
            <a:br/>
            <a:r>
              <a:rPr b="1" sz="1572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이 지표만으로 알 수 없음</a:t>
            </a:r>
          </a:p>
        </p:txBody>
      </p:sp>
      <p:sp>
        <p:nvSpPr>
          <p:cNvPr id="11" name="Source"/>
          <p:cNvSpPr txBox="1"/>
          <p:nvPr/>
        </p:nvSpPr>
        <p:spPr>
          <a:xfrm>
            <a:off x="1397000" y="6565900"/>
            <a:ext cx="9398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1050">
                <a:solidFill>
                  <a:srgbClr val="596578"/>
                </a:solidFill>
                <a:latin typeface="Pretendard"/>
                <a:ea typeface="Pretendard"/>
                <a:cs typeface="Pretendard"/>
              </a:rPr>
              <a:t>출처: Du et al., arXiv:2508.09194v1 (COLM 2025 표기) · Figure 3, §4.5 · 원그림 라벨 수치 재작성</a:t>
            </a: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342900" y="1612900"/>
          <a:ext cx="5334000" cy="42799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eader"/>
          <p:cNvSpPr/>
          <p:nvPr/>
        </p:nvSpPr>
        <p:spPr>
          <a:xfrm>
            <a:off x="0" y="0"/>
            <a:ext cx="12192000" cy="781050"/>
          </a:xfrm>
          <a:prstGeom prst="rect">
            <a:avLst/>
          </a:prstGeom>
          <a:solidFill>
            <a:srgbClr val="1C50B3"/>
          </a:solidFill>
          <a:ln>
            <a:noFill/>
          </a:ln>
          <a:effectLst>
            <a:outerShdw blurRad="38100" dist="19050" dir="5400000" algn="ctr" rotWithShape="0">
              <a:srgbClr val="000000">
                <a:alpha val="3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itle"/>
          <p:cNvSpPr txBox="1"/>
          <p:nvPr/>
        </p:nvSpPr>
        <p:spPr>
          <a:xfrm>
            <a:off x="257175" y="38100"/>
            <a:ext cx="11677650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300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Zero-shot: 새 모델·GPU 조합 6개 중 5개에서 개선</a:t>
            </a:r>
          </a:p>
        </p:txBody>
      </p:sp>
      <p:sp>
        <p:nvSpPr>
          <p:cNvPr id="4" name="Page"/>
          <p:cNvSpPr txBox="1"/>
          <p:nvPr/>
        </p:nvSpPr>
        <p:spPr>
          <a:xfrm>
            <a:off x="247650" y="6553200"/>
            <a:ext cx="1016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1128">
                <a:solidFill>
                  <a:srgbClr val="777777"/>
                </a:solidFill>
                <a:latin typeface="Pretendard"/>
                <a:ea typeface="Pretendard"/>
                <a:cs typeface="Pretendard"/>
              </a:rPr>
              <a:t>25</a:t>
            </a:r>
          </a:p>
        </p:txBody>
      </p:sp>
      <p:sp>
        <p:nvSpPr>
          <p:cNvPr id="5" name="Logo"/>
          <p:cNvSpPr txBox="1"/>
          <p:nvPr/>
        </p:nvSpPr>
        <p:spPr>
          <a:xfrm>
            <a:off x="11163300" y="6413500"/>
            <a:ext cx="1028700" cy="44450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r">
              <a:lnSpc>
                <a:spcPct val="130000"/>
              </a:lnSpc>
              <a:spcAft>
                <a:spcPts val="800"/>
              </a:spcAft>
            </a:pPr>
            <a:r>
              <a:rPr sz="2258" b="1">
                <a:solidFill>
                  <a:srgbClr val="BE1551"/>
                </a:solidFill>
                <a:latin typeface="Pretendard"/>
                <a:ea typeface="Pretendard"/>
              </a:rPr>
              <a:t>CBNU</a:t>
            </a:r>
          </a:p>
        </p:txBody>
      </p:sp>
      <p:sp>
        <p:nvSpPr>
          <p:cNvPr id="7" name="Panel"/>
          <p:cNvSpPr/>
          <p:nvPr/>
        </p:nvSpPr>
        <p:spPr>
          <a:xfrm>
            <a:off x="476250" y="4457700"/>
            <a:ext cx="11239500" cy="1981200"/>
          </a:xfrm>
          <a:prstGeom prst="roundRect">
            <a:avLst>
              <a:gd name="adj" fmla="val 6000"/>
            </a:avLst>
          </a:prstGeom>
          <a:solidFill>
            <a:srgbClr val="1C50B3"/>
          </a:solidFill>
          <a:ln>
            <a:noFill/>
          </a:ln>
          <a:effectLst>
            <a:outerShdw blurRad="38100" dist="19050" dir="5400000" algn="ctr" rotWithShape="0">
              <a:srgbClr val="000000">
                <a:alpha val="3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PanelInterior"/>
          <p:cNvSpPr/>
          <p:nvPr/>
        </p:nvSpPr>
        <p:spPr>
          <a:xfrm>
            <a:off x="628650" y="4972050"/>
            <a:ext cx="10934700" cy="13144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PanelTitle"/>
          <p:cNvSpPr txBox="1"/>
          <p:nvPr/>
        </p:nvSpPr>
        <p:spPr>
          <a:xfrm>
            <a:off x="685800" y="4495800"/>
            <a:ext cx="108204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173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• Mixtral-8x7B / H200에서는 오히려 6.5% 느려짐</a:t>
            </a:r>
          </a:p>
        </p:txBody>
      </p:sp>
      <p:sp>
        <p:nvSpPr>
          <p:cNvPr id="10" name="PanelBody"/>
          <p:cNvSpPr txBox="1"/>
          <p:nvPr/>
        </p:nvSpPr>
        <p:spPr>
          <a:xfrm>
            <a:off x="781050" y="5124450"/>
            <a:ext cx="10629900" cy="1009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b="1" sz="1655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• CB = Continuous batching · 음수는 시간 감소, 양수는 시간 증가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b="1" sz="1655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• 미관측 환경으로의 전이 가능성 확인 · 모든 환경의 개선을 보장하지 않음</a:t>
            </a:r>
          </a:p>
        </p:txBody>
      </p:sp>
      <p:sp>
        <p:nvSpPr>
          <p:cNvPr id="11" name="Source"/>
          <p:cNvSpPr txBox="1"/>
          <p:nvPr/>
        </p:nvSpPr>
        <p:spPr>
          <a:xfrm>
            <a:off x="1397000" y="6565900"/>
            <a:ext cx="9398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1050">
                <a:solidFill>
                  <a:srgbClr val="596578"/>
                </a:solidFill>
                <a:latin typeface="Pretendard"/>
                <a:ea typeface="Pretendard"/>
                <a:cs typeface="Pretendard"/>
              </a:rPr>
              <a:t>출처: Du et al., arXiv:2508.09194v1 (COLM 2025 표기) · Table 5 · A100은 학습에 등장, H200은 미등장으로 기술</a:t>
            </a:r>
          </a:p>
        </p:txBody>
      </p:sp>
      <p:graphicFrame>
        <p:nvGraphicFramePr>
          <p:cNvPr id="12" name="EditableTable"/>
          <p:cNvGraphicFramePr>
            <a:graphicFrameLocks noGrp="1"/>
          </p:cNvGraphicFramePr>
          <p:nvPr/>
        </p:nvGraphicFramePr>
        <p:xfrm>
          <a:off x="476250" y="1162050"/>
          <a:ext cx="11239500" cy="30289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91000"/>
                <a:gridCol w="2222500"/>
                <a:gridCol w="2222500"/>
                <a:gridCol w="2603500"/>
              </a:tblGrid>
              <a:tr h="432707"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1700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미관측 모델 / GPU</a:t>
                      </a:r>
                    </a:p>
                  </a:txBody>
                  <a:tcPr marL="101600" marR="101600" marT="25400" marB="25400" anchor="ctr">
                    <a:solidFill>
                      <a:srgbClr val="1C50B3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1700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MetaInf (초)</a:t>
                      </a:r>
                    </a:p>
                  </a:txBody>
                  <a:tcPr marL="101600" marR="101600" marT="25400" marB="25400" anchor="ctr">
                    <a:solidFill>
                      <a:srgbClr val="1C50B3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1700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CB 기준 (초)</a:t>
                      </a:r>
                    </a:p>
                  </a:txBody>
                  <a:tcPr marL="101600" marR="101600" marT="25400" marB="25400" anchor="ctr">
                    <a:solidFill>
                      <a:srgbClr val="1C50B3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1700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시간 변화</a:t>
                      </a:r>
                    </a:p>
                  </a:txBody>
                  <a:tcPr marL="101600" marR="101600" marT="25400" marB="25400" anchor="ctr">
                    <a:solidFill>
                      <a:srgbClr val="1C50B3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32707"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1600">
                          <a:solidFill>
                            <a:srgbClr val="080808"/>
                          </a:solidFill>
                          <a:latin typeface="Pretendard"/>
                          <a:ea typeface="Pretendard"/>
                          <a:cs typeface="Pretendard"/>
                        </a:rPr>
                        <a:t>Mistral-7B / A100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1600">
                          <a:solidFill>
                            <a:srgbClr val="080808"/>
                          </a:solidFill>
                          <a:latin typeface="Pretendard"/>
                          <a:ea typeface="Pretendard"/>
                          <a:cs typeface="Pretendard"/>
                        </a:rPr>
                        <a:t>179.41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1600">
                          <a:solidFill>
                            <a:srgbClr val="080808"/>
                          </a:solidFill>
                          <a:latin typeface="Pretendard"/>
                          <a:ea typeface="Pretendard"/>
                          <a:cs typeface="Pretendard"/>
                        </a:rPr>
                        <a:t>202.90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1600">
                          <a:solidFill>
                            <a:srgbClr val="080808"/>
                          </a:solidFill>
                          <a:latin typeface="Pretendard"/>
                          <a:ea typeface="Pretendard"/>
                          <a:cs typeface="Pretendard"/>
                        </a:rPr>
                        <a:t>−11.6%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32707"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1600">
                          <a:solidFill>
                            <a:srgbClr val="080808"/>
                          </a:solidFill>
                          <a:latin typeface="Pretendard"/>
                          <a:ea typeface="Pretendard"/>
                          <a:cs typeface="Pretendard"/>
                        </a:rPr>
                        <a:t>Mistral-7B / H200</a:t>
                      </a:r>
                    </a:p>
                  </a:txBody>
                  <a:tcPr marL="101600" marR="101600" marT="25400" marB="25400" anchor="ctr">
                    <a:solidFill>
                      <a:srgbClr val="EEF3FB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1600">
                          <a:solidFill>
                            <a:srgbClr val="080808"/>
                          </a:solidFill>
                          <a:latin typeface="Pretendard"/>
                          <a:ea typeface="Pretendard"/>
                          <a:cs typeface="Pretendard"/>
                        </a:rPr>
                        <a:t>31.47</a:t>
                      </a:r>
                    </a:p>
                  </a:txBody>
                  <a:tcPr marL="101600" marR="101600" marT="25400" marB="25400" anchor="ctr">
                    <a:solidFill>
                      <a:srgbClr val="EEF3FB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1600">
                          <a:solidFill>
                            <a:srgbClr val="080808"/>
                          </a:solidFill>
                          <a:latin typeface="Pretendard"/>
                          <a:ea typeface="Pretendard"/>
                          <a:cs typeface="Pretendard"/>
                        </a:rPr>
                        <a:t>38.20</a:t>
                      </a:r>
                    </a:p>
                  </a:txBody>
                  <a:tcPr marL="101600" marR="101600" marT="25400" marB="25400" anchor="ctr">
                    <a:solidFill>
                      <a:srgbClr val="EEF3FB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1600">
                          <a:solidFill>
                            <a:srgbClr val="080808"/>
                          </a:solidFill>
                          <a:latin typeface="Pretendard"/>
                          <a:ea typeface="Pretendard"/>
                          <a:cs typeface="Pretendard"/>
                        </a:rPr>
                        <a:t>−17.6%</a:t>
                      </a:r>
                    </a:p>
                  </a:txBody>
                  <a:tcPr marL="101600" marR="101600" marT="25400" marB="25400" anchor="ctr">
                    <a:solidFill>
                      <a:srgbClr val="EEF3FB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32707"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1600">
                          <a:solidFill>
                            <a:srgbClr val="080808"/>
                          </a:solidFill>
                          <a:latin typeface="Pretendard"/>
                          <a:ea typeface="Pretendard"/>
                          <a:cs typeface="Pretendard"/>
                        </a:rPr>
                        <a:t>Mixtral-8x7B / A100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1600">
                          <a:solidFill>
                            <a:srgbClr val="080808"/>
                          </a:solidFill>
                          <a:latin typeface="Pretendard"/>
                          <a:ea typeface="Pretendard"/>
                          <a:cs typeface="Pretendard"/>
                        </a:rPr>
                        <a:t>215.86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1600">
                          <a:solidFill>
                            <a:srgbClr val="080808"/>
                          </a:solidFill>
                          <a:latin typeface="Pretendard"/>
                          <a:ea typeface="Pretendard"/>
                          <a:cs typeface="Pretendard"/>
                        </a:rPr>
                        <a:t>241.92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1600">
                          <a:solidFill>
                            <a:srgbClr val="080808"/>
                          </a:solidFill>
                          <a:latin typeface="Pretendard"/>
                          <a:ea typeface="Pretendard"/>
                          <a:cs typeface="Pretendard"/>
                        </a:rPr>
                        <a:t>−10.8%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32707"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1600">
                          <a:solidFill>
                            <a:srgbClr val="080808"/>
                          </a:solidFill>
                          <a:latin typeface="Pretendard"/>
                          <a:ea typeface="Pretendard"/>
                          <a:cs typeface="Pretendard"/>
                        </a:rPr>
                        <a:t>Mixtral-8x7B / H200</a:t>
                      </a:r>
                    </a:p>
                  </a:txBody>
                  <a:tcPr marL="101600" marR="101600" marT="25400" marB="25400" anchor="ctr">
                    <a:solidFill>
                      <a:srgbClr val="EEF3FB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1600">
                          <a:solidFill>
                            <a:srgbClr val="080808"/>
                          </a:solidFill>
                          <a:latin typeface="Pretendard"/>
                          <a:ea typeface="Pretendard"/>
                          <a:cs typeface="Pretendard"/>
                        </a:rPr>
                        <a:t>39.85</a:t>
                      </a:r>
                    </a:p>
                  </a:txBody>
                  <a:tcPr marL="101600" marR="101600" marT="25400" marB="25400" anchor="ctr">
                    <a:solidFill>
                      <a:srgbClr val="EEF3FB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1600">
                          <a:solidFill>
                            <a:srgbClr val="080808"/>
                          </a:solidFill>
                          <a:latin typeface="Pretendard"/>
                          <a:ea typeface="Pretendard"/>
                          <a:cs typeface="Pretendard"/>
                        </a:rPr>
                        <a:t>37.42</a:t>
                      </a:r>
                    </a:p>
                  </a:txBody>
                  <a:tcPr marL="101600" marR="101600" marT="25400" marB="25400" anchor="ctr">
                    <a:solidFill>
                      <a:srgbClr val="EEF3FB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1600">
                          <a:solidFill>
                            <a:srgbClr val="BE1551"/>
                          </a:solidFill>
                          <a:latin typeface="Pretendard"/>
                          <a:ea typeface="Pretendard"/>
                          <a:cs typeface="Pretendard"/>
                        </a:rPr>
                        <a:t>+6.5%</a:t>
                      </a:r>
                    </a:p>
                  </a:txBody>
                  <a:tcPr marL="101600" marR="101600" marT="25400" marB="25400" anchor="ctr">
                    <a:solidFill>
                      <a:srgbClr val="EEF3FB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32707"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1600">
                          <a:solidFill>
                            <a:srgbClr val="080808"/>
                          </a:solidFill>
                          <a:latin typeface="Pretendard"/>
                          <a:ea typeface="Pretendard"/>
                          <a:cs typeface="Pretendard"/>
                        </a:rPr>
                        <a:t>LLaMA-3.1-70B / A100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1600">
                          <a:solidFill>
                            <a:srgbClr val="080808"/>
                          </a:solidFill>
                          <a:latin typeface="Pretendard"/>
                          <a:ea typeface="Pretendard"/>
                          <a:cs typeface="Pretendard"/>
                        </a:rPr>
                        <a:t>895.24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1600">
                          <a:solidFill>
                            <a:srgbClr val="080808"/>
                          </a:solidFill>
                          <a:latin typeface="Pretendard"/>
                          <a:ea typeface="Pretendard"/>
                          <a:cs typeface="Pretendard"/>
                        </a:rPr>
                        <a:t>1012.66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1600">
                          <a:solidFill>
                            <a:srgbClr val="080808"/>
                          </a:solidFill>
                          <a:latin typeface="Pretendard"/>
                          <a:ea typeface="Pretendard"/>
                          <a:cs typeface="Pretendard"/>
                        </a:rPr>
                        <a:t>−11.6%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32707"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1600">
                          <a:solidFill>
                            <a:srgbClr val="080808"/>
                          </a:solidFill>
                          <a:latin typeface="Pretendard"/>
                          <a:ea typeface="Pretendard"/>
                          <a:cs typeface="Pretendard"/>
                        </a:rPr>
                        <a:t>LLaMA-3.1-70B / H200</a:t>
                      </a:r>
                    </a:p>
                  </a:txBody>
                  <a:tcPr marL="101600" marR="101600" marT="25400" marB="25400" anchor="ctr">
                    <a:solidFill>
                      <a:srgbClr val="EEF3FB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1600">
                          <a:solidFill>
                            <a:srgbClr val="080808"/>
                          </a:solidFill>
                          <a:latin typeface="Pretendard"/>
                          <a:ea typeface="Pretendard"/>
                          <a:cs typeface="Pretendard"/>
                        </a:rPr>
                        <a:t>150.52</a:t>
                      </a:r>
                    </a:p>
                  </a:txBody>
                  <a:tcPr marL="101600" marR="101600" marT="25400" marB="25400" anchor="ctr">
                    <a:solidFill>
                      <a:srgbClr val="EEF3FB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1600">
                          <a:solidFill>
                            <a:srgbClr val="080808"/>
                          </a:solidFill>
                          <a:latin typeface="Pretendard"/>
                          <a:ea typeface="Pretendard"/>
                          <a:cs typeface="Pretendard"/>
                        </a:rPr>
                        <a:t>168.71</a:t>
                      </a:r>
                    </a:p>
                  </a:txBody>
                  <a:tcPr marL="101600" marR="101600" marT="25400" marB="25400" anchor="ctr">
                    <a:solidFill>
                      <a:srgbClr val="EEF3FB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1600">
                          <a:solidFill>
                            <a:srgbClr val="080808"/>
                          </a:solidFill>
                          <a:latin typeface="Pretendard"/>
                          <a:ea typeface="Pretendard"/>
                          <a:cs typeface="Pretendard"/>
                        </a:rPr>
                        <a:t>−10.8%</a:t>
                      </a:r>
                    </a:p>
                  </a:txBody>
                  <a:tcPr marL="101600" marR="101600" marT="25400" marB="25400" anchor="ctr">
                    <a:solidFill>
                      <a:srgbClr val="EEF3FB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eader"/>
          <p:cNvSpPr/>
          <p:nvPr/>
        </p:nvSpPr>
        <p:spPr>
          <a:xfrm>
            <a:off x="0" y="0"/>
            <a:ext cx="12192000" cy="781050"/>
          </a:xfrm>
          <a:prstGeom prst="rect">
            <a:avLst/>
          </a:prstGeom>
          <a:solidFill>
            <a:srgbClr val="1C50B3"/>
          </a:solidFill>
          <a:ln>
            <a:noFill/>
          </a:ln>
          <a:effectLst>
            <a:outerShdw blurRad="38100" dist="19050" dir="5400000" algn="ctr" rotWithShape="0">
              <a:srgbClr val="000000">
                <a:alpha val="3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itle"/>
          <p:cNvSpPr txBox="1"/>
          <p:nvPr/>
        </p:nvSpPr>
        <p:spPr>
          <a:xfrm>
            <a:off x="257175" y="38100"/>
            <a:ext cx="11677650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300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Ablation: 환경 설명의 풍부함이 선택 성능에 영향</a:t>
            </a:r>
          </a:p>
        </p:txBody>
      </p:sp>
      <p:sp>
        <p:nvSpPr>
          <p:cNvPr id="4" name="Page"/>
          <p:cNvSpPr txBox="1"/>
          <p:nvPr/>
        </p:nvSpPr>
        <p:spPr>
          <a:xfrm>
            <a:off x="247650" y="6553200"/>
            <a:ext cx="1016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1128">
                <a:solidFill>
                  <a:srgbClr val="777777"/>
                </a:solidFill>
                <a:latin typeface="Pretendard"/>
                <a:ea typeface="Pretendard"/>
                <a:cs typeface="Pretendard"/>
              </a:rPr>
              <a:t>26</a:t>
            </a:r>
          </a:p>
        </p:txBody>
      </p:sp>
      <p:sp>
        <p:nvSpPr>
          <p:cNvPr id="5" name="Logo"/>
          <p:cNvSpPr txBox="1"/>
          <p:nvPr/>
        </p:nvSpPr>
        <p:spPr>
          <a:xfrm>
            <a:off x="11163300" y="6413500"/>
            <a:ext cx="1028700" cy="44450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r">
              <a:lnSpc>
                <a:spcPct val="130000"/>
              </a:lnSpc>
              <a:spcAft>
                <a:spcPts val="800"/>
              </a:spcAft>
            </a:pPr>
            <a:r>
              <a:rPr sz="2258" b="1">
                <a:solidFill>
                  <a:srgbClr val="BE1551"/>
                </a:solidFill>
                <a:latin typeface="Pretendard"/>
                <a:ea typeface="Pretendard"/>
              </a:rPr>
              <a:t>CBNU</a:t>
            </a:r>
          </a:p>
        </p:txBody>
      </p:sp>
      <p:sp>
        <p:nvSpPr>
          <p:cNvPr id="7" name="Panel"/>
          <p:cNvSpPr/>
          <p:nvPr/>
        </p:nvSpPr>
        <p:spPr>
          <a:xfrm>
            <a:off x="476250" y="4457700"/>
            <a:ext cx="11239500" cy="1981200"/>
          </a:xfrm>
          <a:prstGeom prst="roundRect">
            <a:avLst>
              <a:gd name="adj" fmla="val 6000"/>
            </a:avLst>
          </a:prstGeom>
          <a:solidFill>
            <a:srgbClr val="1C50B3"/>
          </a:solidFill>
          <a:ln>
            <a:noFill/>
          </a:ln>
          <a:effectLst>
            <a:outerShdw blurRad="38100" dist="19050" dir="5400000" algn="ctr" rotWithShape="0">
              <a:srgbClr val="000000">
                <a:alpha val="3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PanelInterior"/>
          <p:cNvSpPr/>
          <p:nvPr/>
        </p:nvSpPr>
        <p:spPr>
          <a:xfrm>
            <a:off x="628650" y="4972050"/>
            <a:ext cx="10934700" cy="13144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PanelTitle"/>
          <p:cNvSpPr txBox="1"/>
          <p:nvPr/>
        </p:nvSpPr>
        <p:spPr>
          <a:xfrm>
            <a:off x="685800" y="4495800"/>
            <a:ext cx="108204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173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• LLM 임베딩에 담는 정보의 질이 중요한 설계 요소</a:t>
            </a:r>
          </a:p>
        </p:txBody>
      </p:sp>
      <p:sp>
        <p:nvSpPr>
          <p:cNvPr id="10" name="PanelBody"/>
          <p:cNvSpPr txBox="1"/>
          <p:nvPr/>
        </p:nvSpPr>
        <p:spPr>
          <a:xfrm>
            <a:off x="781050" y="5124450"/>
            <a:ext cx="10629900" cy="1009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b="1" sz="1655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• Figure 4는 SVD k=256 조건 · MetaInf가 각 표현 방식에서 우수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b="1" sz="1655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• 본문은 k=64~256 비교를 서술 · 차원별 세부 수치 표는 미제공</a:t>
            </a:r>
          </a:p>
        </p:txBody>
      </p:sp>
      <p:sp>
        <p:nvSpPr>
          <p:cNvPr id="11" name="Source"/>
          <p:cNvSpPr txBox="1"/>
          <p:nvPr/>
        </p:nvSpPr>
        <p:spPr>
          <a:xfrm>
            <a:off x="1397000" y="6565900"/>
            <a:ext cx="9398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1050">
                <a:solidFill>
                  <a:srgbClr val="596578"/>
                </a:solidFill>
                <a:latin typeface="Pretendard"/>
                <a:ea typeface="Pretendard"/>
                <a:cs typeface="Pretendard"/>
              </a:rPr>
              <a:t>출처: Du et al., arXiv:2508.09194v1 (COLM 2025 표기) · §4.6, Figure 4 · CoT는 표현 생성 prompt를 뜻함</a:t>
            </a:r>
          </a:p>
        </p:txBody>
      </p:sp>
      <p:graphicFrame>
        <p:nvGraphicFramePr>
          <p:cNvPr id="12" name="EditableTable"/>
          <p:cNvGraphicFramePr>
            <a:graphicFrameLocks noGrp="1"/>
          </p:cNvGraphicFramePr>
          <p:nvPr/>
        </p:nvGraphicFramePr>
        <p:xfrm>
          <a:off x="476250" y="1162050"/>
          <a:ext cx="11239500" cy="30289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30500"/>
                <a:gridCol w="3556000"/>
                <a:gridCol w="4953000"/>
              </a:tblGrid>
              <a:tr h="605790"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1700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표현 방식</a:t>
                      </a:r>
                    </a:p>
                  </a:txBody>
                  <a:tcPr marL="101600" marR="101600" marT="25400" marB="25400" anchor="ctr">
                    <a:solidFill>
                      <a:srgbClr val="1C50B3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1700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설명 수준</a:t>
                      </a:r>
                    </a:p>
                  </a:txBody>
                  <a:tcPr marL="101600" marR="101600" marT="25400" marB="25400" anchor="ctr">
                    <a:solidFill>
                      <a:srgbClr val="1C50B3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1700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Figure 4에서의 관찰</a:t>
                      </a:r>
                    </a:p>
                  </a:txBody>
                  <a:tcPr marL="101600" marR="101600" marT="25400" marB="25400" anchor="ctr">
                    <a:solidFill>
                      <a:srgbClr val="1C50B3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05790"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1700">
                          <a:solidFill>
                            <a:srgbClr val="080808"/>
                          </a:solidFill>
                          <a:latin typeface="Pretendard"/>
                          <a:ea typeface="Pretendard"/>
                          <a:cs typeface="Pretendard"/>
                        </a:rPr>
                        <a:t>One-hot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1700">
                          <a:solidFill>
                            <a:srgbClr val="080808"/>
                          </a:solidFill>
                          <a:latin typeface="Pretendard"/>
                          <a:ea typeface="Pretendard"/>
                          <a:cs typeface="Pretendard"/>
                        </a:rPr>
                        <a:t>범주별 식별자 표현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1700">
                          <a:solidFill>
                            <a:srgbClr val="080808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기본 범주 구분 성능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05790"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1700">
                          <a:solidFill>
                            <a:srgbClr val="080808"/>
                          </a:solidFill>
                          <a:latin typeface="Pretendard"/>
                          <a:ea typeface="Pretendard"/>
                          <a:cs typeface="Pretendard"/>
                        </a:rPr>
                        <a:t>Basic prompt</a:t>
                      </a:r>
                    </a:p>
                  </a:txBody>
                  <a:tcPr marL="101600" marR="101600" marT="25400" marB="25400" anchor="ctr">
                    <a:solidFill>
                      <a:srgbClr val="EEF3FB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1700">
                          <a:solidFill>
                            <a:srgbClr val="080808"/>
                          </a:solidFill>
                          <a:latin typeface="Pretendard"/>
                          <a:ea typeface="Pretendard"/>
                          <a:cs typeface="Pretendard"/>
                        </a:rPr>
                        <a:t>최소 키워드·이름</a:t>
                      </a:r>
                    </a:p>
                  </a:txBody>
                  <a:tcPr marL="101600" marR="101600" marT="25400" marB="25400" anchor="ctr">
                    <a:solidFill>
                      <a:srgbClr val="EEF3FB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1700">
                          <a:solidFill>
                            <a:srgbClr val="080808"/>
                          </a:solidFill>
                          <a:latin typeface="Pretendard"/>
                          <a:ea typeface="Pretendard"/>
                          <a:cs typeface="Pretendard"/>
                        </a:rPr>
                        <a:t>간단한 의미 정보 활용</a:t>
                      </a:r>
                    </a:p>
                  </a:txBody>
                  <a:tcPr marL="101600" marR="101600" marT="25400" marB="25400" anchor="ctr">
                    <a:solidFill>
                      <a:srgbClr val="EEF3FB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05790"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1700">
                          <a:solidFill>
                            <a:srgbClr val="080808"/>
                          </a:solidFill>
                          <a:latin typeface="Pretendard"/>
                          <a:ea typeface="Pretendard"/>
                          <a:cs typeface="Pretendard"/>
                        </a:rPr>
                        <a:t>Rich prompt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1700">
                          <a:solidFill>
                            <a:srgbClr val="080808"/>
                          </a:solidFill>
                          <a:latin typeface="Pretendard"/>
                          <a:ea typeface="Pretendard"/>
                          <a:cs typeface="Pretendard"/>
                        </a:rPr>
                        <a:t>구조·연산·메모리 맥락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1700">
                          <a:solidFill>
                            <a:srgbClr val="080808"/>
                          </a:solidFill>
                          <a:latin typeface="Pretendard"/>
                          <a:ea typeface="Pretendard"/>
                          <a:cs typeface="Pretendard"/>
                        </a:rPr>
                        <a:t>Basic보다 높은 MetaInf 정확도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05790"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1700">
                          <a:solidFill>
                            <a:srgbClr val="080808"/>
                          </a:solidFill>
                          <a:latin typeface="Pretendard"/>
                          <a:ea typeface="Pretendard"/>
                          <a:cs typeface="Pretendard"/>
                        </a:rPr>
                        <a:t>CoT prompt</a:t>
                      </a:r>
                    </a:p>
                  </a:txBody>
                  <a:tcPr marL="101600" marR="101600" marT="25400" marB="25400" anchor="ctr">
                    <a:solidFill>
                      <a:srgbClr val="EEF3FB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1700">
                          <a:solidFill>
                            <a:srgbClr val="080808"/>
                          </a:solidFill>
                          <a:latin typeface="Pretendard"/>
                          <a:ea typeface="Pretendard"/>
                          <a:cs typeface="Pretendard"/>
                        </a:rPr>
                        <a:t>성능 관련 의존관계 설명</a:t>
                      </a:r>
                    </a:p>
                  </a:txBody>
                  <a:tcPr marL="101600" marR="101600" marT="25400" marB="25400" anchor="ctr">
                    <a:solidFill>
                      <a:srgbClr val="EEF3FB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1700">
                          <a:solidFill>
                            <a:srgbClr val="080808"/>
                          </a:solidFill>
                          <a:latin typeface="Pretendard"/>
                          <a:ea typeface="Pretendard"/>
                          <a:cs typeface="Pretendard"/>
                        </a:rPr>
                        <a:t>MetaInf의 가장 높은 막대값</a:t>
                      </a:r>
                    </a:p>
                  </a:txBody>
                  <a:tcPr marL="101600" marR="101600" marT="25400" marB="25400" anchor="ctr">
                    <a:solidFill>
                      <a:srgbClr val="EEF3FB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eader"/>
          <p:cNvSpPr/>
          <p:nvPr/>
        </p:nvSpPr>
        <p:spPr>
          <a:xfrm>
            <a:off x="0" y="0"/>
            <a:ext cx="12192000" cy="781050"/>
          </a:xfrm>
          <a:prstGeom prst="rect">
            <a:avLst/>
          </a:prstGeom>
          <a:solidFill>
            <a:srgbClr val="1C50B3"/>
          </a:solidFill>
          <a:ln>
            <a:noFill/>
          </a:ln>
          <a:effectLst>
            <a:outerShdw blurRad="38100" dist="19050" dir="5400000" algn="ctr" rotWithShape="0">
              <a:srgbClr val="000000">
                <a:alpha val="3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itle"/>
          <p:cNvSpPr txBox="1"/>
          <p:nvPr/>
        </p:nvSpPr>
        <p:spPr>
          <a:xfrm>
            <a:off x="257175" y="38100"/>
            <a:ext cx="11677650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300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선택기의 비용도 중요: 정확도와 예측 시간의 균형</a:t>
            </a:r>
          </a:p>
        </p:txBody>
      </p:sp>
      <p:sp>
        <p:nvSpPr>
          <p:cNvPr id="4" name="Page"/>
          <p:cNvSpPr txBox="1"/>
          <p:nvPr/>
        </p:nvSpPr>
        <p:spPr>
          <a:xfrm>
            <a:off x="247650" y="6553200"/>
            <a:ext cx="1016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1128">
                <a:solidFill>
                  <a:srgbClr val="777777"/>
                </a:solidFill>
                <a:latin typeface="Pretendard"/>
                <a:ea typeface="Pretendard"/>
                <a:cs typeface="Pretendard"/>
              </a:rPr>
              <a:t>27</a:t>
            </a:r>
          </a:p>
        </p:txBody>
      </p:sp>
      <p:sp>
        <p:nvSpPr>
          <p:cNvPr id="5" name="Logo"/>
          <p:cNvSpPr txBox="1"/>
          <p:nvPr/>
        </p:nvSpPr>
        <p:spPr>
          <a:xfrm>
            <a:off x="11163300" y="6413500"/>
            <a:ext cx="1028700" cy="44450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r">
              <a:lnSpc>
                <a:spcPct val="130000"/>
              </a:lnSpc>
              <a:spcAft>
                <a:spcPts val="800"/>
              </a:spcAft>
            </a:pPr>
            <a:r>
              <a:rPr sz="2258" b="1">
                <a:solidFill>
                  <a:srgbClr val="BE1551"/>
                </a:solidFill>
                <a:latin typeface="Pretendard"/>
                <a:ea typeface="Pretendard"/>
              </a:rPr>
              <a:t>CBNU</a:t>
            </a:r>
          </a:p>
        </p:txBody>
      </p:sp>
      <p:sp>
        <p:nvSpPr>
          <p:cNvPr id="7" name="Panel"/>
          <p:cNvSpPr/>
          <p:nvPr/>
        </p:nvSpPr>
        <p:spPr>
          <a:xfrm>
            <a:off x="6115050" y="1266825"/>
            <a:ext cx="5715000" cy="4857750"/>
          </a:xfrm>
          <a:prstGeom prst="roundRect">
            <a:avLst>
              <a:gd name="adj" fmla="val 6000"/>
            </a:avLst>
          </a:prstGeom>
          <a:solidFill>
            <a:srgbClr val="1C50B3"/>
          </a:solidFill>
          <a:ln>
            <a:noFill/>
          </a:ln>
          <a:effectLst>
            <a:outerShdw blurRad="38100" dist="19050" dir="5400000" algn="ctr" rotWithShape="0">
              <a:srgbClr val="000000">
                <a:alpha val="3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PanelInterior"/>
          <p:cNvSpPr/>
          <p:nvPr/>
        </p:nvSpPr>
        <p:spPr>
          <a:xfrm>
            <a:off x="6267450" y="1781175"/>
            <a:ext cx="5410200" cy="4191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PanelTitle"/>
          <p:cNvSpPr txBox="1"/>
          <p:nvPr/>
        </p:nvSpPr>
        <p:spPr>
          <a:xfrm>
            <a:off x="6324600" y="1314450"/>
            <a:ext cx="52578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173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• 그래프 해석의 범위</a:t>
            </a:r>
          </a:p>
        </p:txBody>
      </p:sp>
      <p:sp>
        <p:nvSpPr>
          <p:cNvPr id="10" name="PanelBody"/>
          <p:cNvSpPr txBox="1"/>
          <p:nvPr/>
        </p:nvSpPr>
        <p:spPr>
          <a:xfrm>
            <a:off x="6419850" y="1933575"/>
            <a:ext cx="5105400" cy="3886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800"/>
              </a:spcAft>
            </a:pPr>
            <a:r>
              <a:rPr b="1" sz="1572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• MetaInf는 높은 정확도와 비교적</a:t>
            </a:r>
            <a:br/>
            <a:r>
              <a:rPr b="1" sz="1572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작은 예측 시간을 함께 보임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800"/>
              </a:spcAft>
            </a:pPr>
            <a:r>
              <a:rPr b="1" sz="1572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• Global Best는 선택이 단순하지만</a:t>
            </a:r>
            <a:br/>
            <a:r>
              <a:rPr b="1" sz="1572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선택 정확도는 0.629로 낮음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800"/>
              </a:spcAft>
            </a:pPr>
            <a:r>
              <a:rPr b="1" sz="1572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• 그림의 시간축은 수백~수천 “초”</a:t>
            </a:r>
            <a:br/>
            <a:r>
              <a:rPr b="1" sz="1572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이를 밀리초 단위 실시간 처리의</a:t>
            </a:r>
            <a:br/>
            <a:r>
              <a:rPr b="1" sz="1572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증거로 해석하기 어려움</a:t>
            </a:r>
          </a:p>
        </p:txBody>
      </p:sp>
      <p:sp>
        <p:nvSpPr>
          <p:cNvPr id="11" name="Source"/>
          <p:cNvSpPr txBox="1"/>
          <p:nvPr/>
        </p:nvSpPr>
        <p:spPr>
          <a:xfrm>
            <a:off x="1397000" y="6565900"/>
            <a:ext cx="9398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1050">
                <a:solidFill>
                  <a:srgbClr val="596578"/>
                </a:solidFill>
                <a:latin typeface="Pretendard"/>
                <a:ea typeface="Pretendard"/>
                <a:cs typeface="Pretendard"/>
              </a:rPr>
              <a:t>출처: Du et al., arXiv:2508.09194v1 (COLM 2025 표기) · Figure 5, §4.4 · 왼쪽은 원그림; 시간 단위는 원문 표기</a:t>
            </a:r>
          </a:p>
        </p:txBody>
      </p:sp>
      <p:pic>
        <p:nvPicPr>
          <p:cNvPr id="12" name="Picture 11" descr="tradeoff_orig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" y="1835150"/>
            <a:ext cx="5334000" cy="3200400"/>
          </a:xfrm>
          <a:prstGeom prst="rect">
            <a:avLst/>
          </a:prstGeom>
        </p:spPr>
      </p:pic>
      <p:sp>
        <p:nvSpPr>
          <p:cNvPr id="13" name="TradeoffNote"/>
          <p:cNvSpPr txBox="1"/>
          <p:nvPr/>
        </p:nvSpPr>
        <p:spPr>
          <a:xfrm>
            <a:off x="444500" y="5524500"/>
            <a:ext cx="5207000" cy="546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1300">
                <a:solidFill>
                  <a:srgbClr val="596578"/>
                </a:solidFill>
                <a:latin typeface="Pretendard"/>
                <a:ea typeface="Pretendard"/>
                <a:cs typeface="Pretendard"/>
              </a:rPr>
              <a:t>원문 x축: prediction당 시간 (s)</a:t>
            </a:r>
            <a:br/>
            <a:r>
              <a:rPr b="1" sz="1300">
                <a:solidFill>
                  <a:srgbClr val="596578"/>
                </a:solidFill>
                <a:latin typeface="Pretendard"/>
                <a:ea typeface="Pretendard"/>
                <a:cs typeface="Pretendard"/>
              </a:rPr>
              <a:t>측정 단위·집계 방식 추가 확인 필요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eader"/>
          <p:cNvSpPr/>
          <p:nvPr/>
        </p:nvSpPr>
        <p:spPr>
          <a:xfrm>
            <a:off x="0" y="0"/>
            <a:ext cx="12192000" cy="781050"/>
          </a:xfrm>
          <a:prstGeom prst="rect">
            <a:avLst/>
          </a:prstGeom>
          <a:solidFill>
            <a:srgbClr val="1C50B3"/>
          </a:solidFill>
          <a:ln>
            <a:noFill/>
          </a:ln>
          <a:effectLst>
            <a:outerShdw blurRad="38100" dist="19050" dir="5400000" algn="ctr" rotWithShape="0">
              <a:srgbClr val="000000">
                <a:alpha val="3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itle"/>
          <p:cNvSpPr txBox="1"/>
          <p:nvPr/>
        </p:nvSpPr>
        <p:spPr>
          <a:xfrm>
            <a:off x="257175" y="38100"/>
            <a:ext cx="11677650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300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비판적 검토: 결과가 보여주는 범위와 남은 질문</a:t>
            </a:r>
          </a:p>
        </p:txBody>
      </p:sp>
      <p:sp>
        <p:nvSpPr>
          <p:cNvPr id="4" name="Page"/>
          <p:cNvSpPr txBox="1"/>
          <p:nvPr/>
        </p:nvSpPr>
        <p:spPr>
          <a:xfrm>
            <a:off x="247650" y="6553200"/>
            <a:ext cx="1016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1128">
                <a:solidFill>
                  <a:srgbClr val="777777"/>
                </a:solidFill>
                <a:latin typeface="Pretendard"/>
                <a:ea typeface="Pretendard"/>
                <a:cs typeface="Pretendard"/>
              </a:rPr>
              <a:t>28</a:t>
            </a:r>
          </a:p>
        </p:txBody>
      </p:sp>
      <p:sp>
        <p:nvSpPr>
          <p:cNvPr id="5" name="Logo"/>
          <p:cNvSpPr txBox="1"/>
          <p:nvPr/>
        </p:nvSpPr>
        <p:spPr>
          <a:xfrm>
            <a:off x="11163300" y="6413500"/>
            <a:ext cx="1028700" cy="44450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r">
              <a:lnSpc>
                <a:spcPct val="130000"/>
              </a:lnSpc>
              <a:spcAft>
                <a:spcPts val="800"/>
              </a:spcAft>
            </a:pPr>
            <a:r>
              <a:rPr sz="2258" b="1">
                <a:solidFill>
                  <a:srgbClr val="BE1551"/>
                </a:solidFill>
                <a:latin typeface="Pretendard"/>
                <a:ea typeface="Pretendard"/>
              </a:rPr>
              <a:t>CBNU</a:t>
            </a:r>
          </a:p>
        </p:txBody>
      </p:sp>
      <p:sp>
        <p:nvSpPr>
          <p:cNvPr id="6" name="ExplanationBox"/>
          <p:cNvSpPr/>
          <p:nvPr/>
        </p:nvSpPr>
        <p:spPr>
          <a:xfrm>
            <a:off x="257175" y="1085850"/>
            <a:ext cx="11677650" cy="5257800"/>
          </a:xfrm>
          <a:prstGeom prst="roundRect">
            <a:avLst>
              <a:gd name="adj" fmla="val 6000"/>
            </a:avLst>
          </a:prstGeom>
          <a:solidFill>
            <a:srgbClr val="1C50B3"/>
          </a:solidFill>
          <a:ln>
            <a:noFill/>
          </a:ln>
          <a:effectLst>
            <a:outerShdw blurRad="38100" dist="19050" dir="5400000" algn="ctr" rotWithShape="0">
              <a:srgbClr val="000000">
                <a:alpha val="3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ExplanationBoxInterior"/>
          <p:cNvSpPr/>
          <p:nvPr/>
        </p:nvSpPr>
        <p:spPr>
          <a:xfrm>
            <a:off x="409575" y="1238250"/>
            <a:ext cx="11372850" cy="4953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Body"/>
          <p:cNvSpPr txBox="1"/>
          <p:nvPr/>
        </p:nvSpPr>
        <p:spPr>
          <a:xfrm>
            <a:off x="561975" y="1390650"/>
            <a:ext cx="11068050" cy="4648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900"/>
              </a:spcAft>
            </a:pPr>
            <a:r>
              <a:rPr b="1" sz="2200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• 지표 정의: Accel. 비율 방향과 Figure 5 시간축이 불명확</a:t>
            </a:r>
            <a:br/>
            <a:r>
              <a:rPr b="1" sz="2200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정량적 속도 향상·선택 오버헤드 해석에 주의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900"/>
              </a:spcAft>
            </a:pPr>
            <a:r>
              <a:rPr b="1" sz="2200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• 탈중앙화 검증: GPU 종류·수량 비교는 제시되지만</a:t>
            </a:r>
            <a:br/>
            <a:r>
              <a:rPr b="1" sz="2200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실제 네트워크 변동·노드 이탈 실험은 보고되지 않음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900"/>
              </a:spcAft>
            </a:pPr>
            <a:r>
              <a:rPr b="1" sz="2200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• 재현성: 임베딩 모델의 정확한 버전·벡터 추출 방식,</a:t>
            </a:r>
            <a:br/>
            <a:r>
              <a:rPr b="1" sz="2200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학습 데이터 규모·분할 및 회귀 설정이 충분히 상세하지 않음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900"/>
              </a:spcAft>
            </a:pPr>
            <a:r>
              <a:rPr b="1" sz="2200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• 예산 보장: 시간 예측 오차를 고려한 안전 여유나</a:t>
            </a:r>
            <a:br/>
            <a:r>
              <a:rPr b="1" sz="2200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예산 초과율·불확실성 보정 결과는 제시되지 않음</a:t>
            </a:r>
          </a:p>
        </p:txBody>
      </p:sp>
      <p:sp>
        <p:nvSpPr>
          <p:cNvPr id="9" name="Source"/>
          <p:cNvSpPr txBox="1"/>
          <p:nvPr/>
        </p:nvSpPr>
        <p:spPr>
          <a:xfrm>
            <a:off x="1397000" y="6565900"/>
            <a:ext cx="9398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1050">
                <a:solidFill>
                  <a:srgbClr val="596578"/>
                </a:solidFill>
                <a:latin typeface="Pretendard"/>
                <a:ea typeface="Pretendard"/>
                <a:cs typeface="Pretendard"/>
              </a:rPr>
              <a:t>근거: Du et al., arXiv:2508.09194v1 (COLM 2025 표기) · §3–4, Appendix A · 한계는 발표자의 원문 검토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eader"/>
          <p:cNvSpPr/>
          <p:nvPr/>
        </p:nvSpPr>
        <p:spPr>
          <a:xfrm>
            <a:off x="0" y="0"/>
            <a:ext cx="12192000" cy="781050"/>
          </a:xfrm>
          <a:prstGeom prst="rect">
            <a:avLst/>
          </a:prstGeom>
          <a:solidFill>
            <a:srgbClr val="1C50B3"/>
          </a:solidFill>
          <a:ln>
            <a:noFill/>
          </a:ln>
          <a:effectLst>
            <a:outerShdw blurRad="38100" dist="19050" dir="5400000" algn="ctr" rotWithShape="0">
              <a:srgbClr val="000000">
                <a:alpha val="3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itle"/>
          <p:cNvSpPr txBox="1"/>
          <p:nvPr/>
        </p:nvSpPr>
        <p:spPr>
          <a:xfrm>
            <a:off x="257175" y="38100"/>
            <a:ext cx="11677650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300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결론: 환경에 맞는 가속 조합을 학습해 선택</a:t>
            </a:r>
          </a:p>
        </p:txBody>
      </p:sp>
      <p:sp>
        <p:nvSpPr>
          <p:cNvPr id="4" name="Page"/>
          <p:cNvSpPr txBox="1"/>
          <p:nvPr/>
        </p:nvSpPr>
        <p:spPr>
          <a:xfrm>
            <a:off x="247650" y="6553200"/>
            <a:ext cx="1016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1128">
                <a:solidFill>
                  <a:srgbClr val="777777"/>
                </a:solidFill>
                <a:latin typeface="Pretendard"/>
                <a:ea typeface="Pretendard"/>
                <a:cs typeface="Pretendard"/>
              </a:rPr>
              <a:t>29</a:t>
            </a:r>
          </a:p>
        </p:txBody>
      </p:sp>
      <p:sp>
        <p:nvSpPr>
          <p:cNvPr id="5" name="Logo"/>
          <p:cNvSpPr txBox="1"/>
          <p:nvPr/>
        </p:nvSpPr>
        <p:spPr>
          <a:xfrm>
            <a:off x="11163300" y="6413500"/>
            <a:ext cx="1028700" cy="44450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r">
              <a:lnSpc>
                <a:spcPct val="130000"/>
              </a:lnSpc>
              <a:spcAft>
                <a:spcPts val="800"/>
              </a:spcAft>
            </a:pPr>
            <a:r>
              <a:rPr sz="2258" b="1">
                <a:solidFill>
                  <a:srgbClr val="BE1551"/>
                </a:solidFill>
                <a:latin typeface="Pretendard"/>
                <a:ea typeface="Pretendard"/>
              </a:rPr>
              <a:t>CBNU</a:t>
            </a:r>
          </a:p>
        </p:txBody>
      </p:sp>
      <p:sp>
        <p:nvSpPr>
          <p:cNvPr id="6" name="ExplanationBox"/>
          <p:cNvSpPr/>
          <p:nvPr/>
        </p:nvSpPr>
        <p:spPr>
          <a:xfrm>
            <a:off x="257175" y="1085850"/>
            <a:ext cx="11677650" cy="5257800"/>
          </a:xfrm>
          <a:prstGeom prst="roundRect">
            <a:avLst>
              <a:gd name="adj" fmla="val 6000"/>
            </a:avLst>
          </a:prstGeom>
          <a:solidFill>
            <a:srgbClr val="1C50B3"/>
          </a:solidFill>
          <a:ln>
            <a:noFill/>
          </a:ln>
          <a:effectLst>
            <a:outerShdw blurRad="38100" dist="19050" dir="5400000" algn="ctr" rotWithShape="0">
              <a:srgbClr val="000000">
                <a:alpha val="3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ExplanationBoxInterior"/>
          <p:cNvSpPr/>
          <p:nvPr/>
        </p:nvSpPr>
        <p:spPr>
          <a:xfrm>
            <a:off x="409575" y="1238250"/>
            <a:ext cx="11372850" cy="4953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Body"/>
          <p:cNvSpPr txBox="1"/>
          <p:nvPr/>
        </p:nvSpPr>
        <p:spPr>
          <a:xfrm>
            <a:off x="561975" y="1390650"/>
            <a:ext cx="11068050" cy="4648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900"/>
              </a:spcAft>
            </a:pPr>
            <a:r>
              <a:rPr b="1" sz="2200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• 관찰: 가속 기법의 효과는 모델·배치·GPU 조건에 따라 달라짐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900"/>
              </a:spcAft>
            </a:pPr>
            <a:r>
              <a:rPr b="1" sz="2200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• 방법: LLM 의미 임베딩과 XGBoost로 후보별 성능 관계를 학습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900"/>
              </a:spcAft>
            </a:pPr>
            <a:r>
              <a:rPr b="1" sz="2200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• 결과: 선택 정확도 89.8%, 실제 최적 조합의 평균 순위 1.081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900"/>
              </a:spcAft>
            </a:pPr>
            <a:r>
              <a:rPr b="1" sz="2200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• 전이: 미관측 모델·GPU 조합 대부분에서 CB보다 시간 감소</a:t>
            </a:r>
            <a:br/>
            <a:r>
              <a:rPr b="1" sz="2200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Mixtral / H200의 실패 사례는 일반화의 한계도 보여줌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900"/>
              </a:spcAft>
            </a:pPr>
            <a:r>
              <a:rPr b="1" sz="2200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• 의의: 온라인 전수 탐색을 줄이는 성능 예측 기반 설정 선택</a:t>
            </a:r>
          </a:p>
        </p:txBody>
      </p:sp>
      <p:sp>
        <p:nvSpPr>
          <p:cNvPr id="9" name="Source"/>
          <p:cNvSpPr txBox="1"/>
          <p:nvPr/>
        </p:nvSpPr>
        <p:spPr>
          <a:xfrm>
            <a:off x="1397000" y="6565900"/>
            <a:ext cx="9398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1050">
                <a:solidFill>
                  <a:srgbClr val="596578"/>
                </a:solidFill>
                <a:latin typeface="Pretendard"/>
                <a:ea typeface="Pretendard"/>
                <a:cs typeface="Pretendard"/>
              </a:rPr>
              <a:t>출처: Du et al., arXiv:2508.09194v1 (COLM 2025 표기) · §5, Tables 4–5, Figure 3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eader"/>
          <p:cNvSpPr/>
          <p:nvPr/>
        </p:nvSpPr>
        <p:spPr>
          <a:xfrm>
            <a:off x="0" y="0"/>
            <a:ext cx="12192000" cy="781050"/>
          </a:xfrm>
          <a:prstGeom prst="rect">
            <a:avLst/>
          </a:prstGeom>
          <a:solidFill>
            <a:srgbClr val="1C50B3"/>
          </a:solidFill>
          <a:ln>
            <a:noFill/>
          </a:ln>
          <a:effectLst>
            <a:outerShdw blurRad="38100" dist="19050" dir="5400000" algn="ctr" rotWithShape="0">
              <a:srgbClr val="000000">
                <a:alpha val="3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itle"/>
          <p:cNvSpPr txBox="1"/>
          <p:nvPr/>
        </p:nvSpPr>
        <p:spPr>
          <a:xfrm>
            <a:off x="257175" y="38100"/>
            <a:ext cx="11677650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300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세미나 토론: 어떤 검증을 더하면 설득력이 높아질까?</a:t>
            </a:r>
          </a:p>
        </p:txBody>
      </p:sp>
      <p:sp>
        <p:nvSpPr>
          <p:cNvPr id="4" name="Page"/>
          <p:cNvSpPr txBox="1"/>
          <p:nvPr/>
        </p:nvSpPr>
        <p:spPr>
          <a:xfrm>
            <a:off x="247650" y="6553200"/>
            <a:ext cx="1016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1128">
                <a:solidFill>
                  <a:srgbClr val="777777"/>
                </a:solidFill>
                <a:latin typeface="Pretendard"/>
                <a:ea typeface="Pretendard"/>
                <a:cs typeface="Pretendard"/>
              </a:rPr>
              <a:t>30</a:t>
            </a:r>
          </a:p>
        </p:txBody>
      </p:sp>
      <p:sp>
        <p:nvSpPr>
          <p:cNvPr id="5" name="Logo"/>
          <p:cNvSpPr txBox="1"/>
          <p:nvPr/>
        </p:nvSpPr>
        <p:spPr>
          <a:xfrm>
            <a:off x="11163300" y="6413500"/>
            <a:ext cx="1028700" cy="44450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r">
              <a:lnSpc>
                <a:spcPct val="130000"/>
              </a:lnSpc>
              <a:spcAft>
                <a:spcPts val="800"/>
              </a:spcAft>
            </a:pPr>
            <a:r>
              <a:rPr sz="2258" b="1">
                <a:solidFill>
                  <a:srgbClr val="BE1551"/>
                </a:solidFill>
                <a:latin typeface="Pretendard"/>
                <a:ea typeface="Pretendard"/>
              </a:rPr>
              <a:t>CBNU</a:t>
            </a:r>
          </a:p>
        </p:txBody>
      </p:sp>
      <p:sp>
        <p:nvSpPr>
          <p:cNvPr id="6" name="ExplanationBox"/>
          <p:cNvSpPr/>
          <p:nvPr/>
        </p:nvSpPr>
        <p:spPr>
          <a:xfrm>
            <a:off x="257175" y="1085850"/>
            <a:ext cx="11677650" cy="5257800"/>
          </a:xfrm>
          <a:prstGeom prst="roundRect">
            <a:avLst>
              <a:gd name="adj" fmla="val 6000"/>
            </a:avLst>
          </a:prstGeom>
          <a:solidFill>
            <a:srgbClr val="1C50B3"/>
          </a:solidFill>
          <a:ln>
            <a:noFill/>
          </a:ln>
          <a:effectLst>
            <a:outerShdw blurRad="38100" dist="19050" dir="5400000" algn="ctr" rotWithShape="0">
              <a:srgbClr val="000000">
                <a:alpha val="3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ExplanationBoxInterior"/>
          <p:cNvSpPr/>
          <p:nvPr/>
        </p:nvSpPr>
        <p:spPr>
          <a:xfrm>
            <a:off x="409575" y="1238250"/>
            <a:ext cx="11372850" cy="4953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Body"/>
          <p:cNvSpPr txBox="1"/>
          <p:nvPr/>
        </p:nvSpPr>
        <p:spPr>
          <a:xfrm>
            <a:off x="561975" y="1390650"/>
            <a:ext cx="11068050" cy="4648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900"/>
              </a:spcAft>
            </a:pPr>
            <a:r>
              <a:rPr b="1" sz="2200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• 질문 1: 모델 이름·GPU 이름 임베딩만으로 충분한가?</a:t>
            </a:r>
            <a:br/>
            <a:r>
              <a:rPr b="1" sz="2200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입력 길이·cache 적중률·실제 시스템 부하를 어떻게 반영할까?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900"/>
              </a:spcAft>
            </a:pPr>
            <a:r>
              <a:rPr b="1" sz="2200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• 질문 2: 최적 조합을 틀렸을 때 실제 손해는 얼마나 큰가?</a:t>
            </a:r>
            <a:br/>
            <a:r>
              <a:rPr b="1" sz="2200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선택 정확도와 함께 시간 regret·p95/p99 지연이 필요할까?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900"/>
              </a:spcAft>
            </a:pPr>
            <a:r>
              <a:rPr b="1" sz="2200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• 질문 3: 예측이 불확실한 새 GPU에서는 어떻게 대응할까?</a:t>
            </a:r>
            <a:br/>
            <a:r>
              <a:rPr b="1" sz="2200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소수 후보 실측, 보수적 예산, 온라인 업데이트를 적용할 수 있을까?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900"/>
              </a:spcAft>
            </a:pPr>
            <a:r>
              <a:rPr b="1" sz="2200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• 질문 4: 탈중앙화 시스템의 핵심은 얼마나 검증했는가?</a:t>
            </a:r>
            <a:br/>
            <a:r>
              <a:rPr b="1" sz="2200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네트워크 변동·노드 이탈·분산 통신 비용을 추가 실험하면 어떨까?</a:t>
            </a:r>
          </a:p>
        </p:txBody>
      </p:sp>
      <p:sp>
        <p:nvSpPr>
          <p:cNvPr id="9" name="Source"/>
          <p:cNvSpPr txBox="1"/>
          <p:nvPr/>
        </p:nvSpPr>
        <p:spPr>
          <a:xfrm>
            <a:off x="1397000" y="6565900"/>
            <a:ext cx="9398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1050">
                <a:solidFill>
                  <a:srgbClr val="596578"/>
                </a:solidFill>
                <a:latin typeface="Pretendard"/>
                <a:ea typeface="Pretendard"/>
                <a:cs typeface="Pretendard"/>
              </a:rPr>
              <a:t>발표자 토론 제안 · 논문의 실험 결과나 구현된 기능을 뜻하지 않음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eader"/>
          <p:cNvSpPr/>
          <p:nvPr/>
        </p:nvSpPr>
        <p:spPr>
          <a:xfrm>
            <a:off x="0" y="0"/>
            <a:ext cx="12192000" cy="781050"/>
          </a:xfrm>
          <a:prstGeom prst="rect">
            <a:avLst/>
          </a:prstGeom>
          <a:solidFill>
            <a:srgbClr val="1C50B3"/>
          </a:solidFill>
          <a:ln>
            <a:noFill/>
          </a:ln>
          <a:effectLst>
            <a:outerShdw blurRad="38100" dist="19050" dir="5400000" algn="ctr" rotWithShape="0">
              <a:srgbClr val="000000">
                <a:alpha val="3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itle"/>
          <p:cNvSpPr txBox="1"/>
          <p:nvPr/>
        </p:nvSpPr>
        <p:spPr>
          <a:xfrm>
            <a:off x="257175" y="38100"/>
            <a:ext cx="11677650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300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부록 A: 전체 baseline 결과</a:t>
            </a:r>
          </a:p>
        </p:txBody>
      </p:sp>
      <p:sp>
        <p:nvSpPr>
          <p:cNvPr id="4" name="Page"/>
          <p:cNvSpPr txBox="1"/>
          <p:nvPr/>
        </p:nvSpPr>
        <p:spPr>
          <a:xfrm>
            <a:off x="247650" y="6553200"/>
            <a:ext cx="1016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1128">
                <a:solidFill>
                  <a:srgbClr val="777777"/>
                </a:solidFill>
                <a:latin typeface="Pretendard"/>
                <a:ea typeface="Pretendard"/>
                <a:cs typeface="Pretendard"/>
              </a:rPr>
              <a:t>31</a:t>
            </a:r>
          </a:p>
        </p:txBody>
      </p:sp>
      <p:sp>
        <p:nvSpPr>
          <p:cNvPr id="5" name="Logo"/>
          <p:cNvSpPr txBox="1"/>
          <p:nvPr/>
        </p:nvSpPr>
        <p:spPr>
          <a:xfrm>
            <a:off x="11163300" y="6413500"/>
            <a:ext cx="1028700" cy="44450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r">
              <a:lnSpc>
                <a:spcPct val="130000"/>
              </a:lnSpc>
              <a:spcAft>
                <a:spcPts val="800"/>
              </a:spcAft>
            </a:pPr>
            <a:r>
              <a:rPr sz="2258" b="1">
                <a:solidFill>
                  <a:srgbClr val="BE1551"/>
                </a:solidFill>
                <a:latin typeface="Pretendard"/>
                <a:ea typeface="Pretendard"/>
              </a:rPr>
              <a:t>CBNU</a:t>
            </a:r>
          </a:p>
        </p:txBody>
      </p:sp>
      <p:sp>
        <p:nvSpPr>
          <p:cNvPr id="6" name="LeftTitle"/>
          <p:cNvSpPr txBox="1"/>
          <p:nvPr/>
        </p:nvSpPr>
        <p:spPr>
          <a:xfrm>
            <a:off x="342900" y="1130300"/>
            <a:ext cx="5334000" cy="40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1875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Heuristic / 비교 회귀 모델</a:t>
            </a:r>
          </a:p>
        </p:txBody>
      </p:sp>
      <p:sp>
        <p:nvSpPr>
          <p:cNvPr id="7" name="RightTitle"/>
          <p:cNvSpPr txBox="1"/>
          <p:nvPr/>
        </p:nvSpPr>
        <p:spPr>
          <a:xfrm>
            <a:off x="6115050" y="1130300"/>
            <a:ext cx="5715000" cy="40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1875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학습 기반 모델 / MetaInf</a:t>
            </a:r>
          </a:p>
        </p:txBody>
      </p:sp>
      <p:sp>
        <p:nvSpPr>
          <p:cNvPr id="10" name="Caption"/>
          <p:cNvSpPr txBox="1"/>
          <p:nvPr/>
        </p:nvSpPr>
        <p:spPr>
          <a:xfrm>
            <a:off x="342900" y="6159500"/>
            <a:ext cx="11487150" cy="355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1800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• Accuracy는 조합 선택 정확도 · Accel.은 원문 보고값</a:t>
            </a:r>
          </a:p>
        </p:txBody>
      </p:sp>
      <p:sp>
        <p:nvSpPr>
          <p:cNvPr id="11" name="Source"/>
          <p:cNvSpPr txBox="1"/>
          <p:nvPr/>
        </p:nvSpPr>
        <p:spPr>
          <a:xfrm>
            <a:off x="1397000" y="6565900"/>
            <a:ext cx="9398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1050">
                <a:solidFill>
                  <a:srgbClr val="596578"/>
                </a:solidFill>
                <a:latin typeface="Pretendard"/>
                <a:ea typeface="Pretendard"/>
                <a:cs typeface="Pretendard"/>
              </a:rPr>
              <a:t>출처: Du et al., arXiv:2508.09194v1 (COLM 2025 표기) · Table 4</a:t>
            </a:r>
          </a:p>
        </p:txBody>
      </p:sp>
      <p:graphicFrame>
        <p:nvGraphicFramePr>
          <p:cNvPr id="12" name="EditableTable"/>
          <p:cNvGraphicFramePr>
            <a:graphicFrameLocks noGrp="1"/>
          </p:cNvGraphicFramePr>
          <p:nvPr/>
        </p:nvGraphicFramePr>
        <p:xfrm>
          <a:off x="342900" y="1689100"/>
          <a:ext cx="5334000" cy="40258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62200"/>
                <a:gridCol w="1016000"/>
                <a:gridCol w="876300"/>
                <a:gridCol w="1079500"/>
              </a:tblGrid>
              <a:tr h="670983"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1500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방법</a:t>
                      </a:r>
                    </a:p>
                  </a:txBody>
                  <a:tcPr marL="101600" marR="101600" marT="25400" marB="25400" anchor="ctr">
                    <a:solidFill>
                      <a:srgbClr val="1C50B3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1500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Acc.</a:t>
                      </a:r>
                    </a:p>
                  </a:txBody>
                  <a:tcPr marL="101600" marR="101600" marT="25400" marB="25400" anchor="ctr">
                    <a:solidFill>
                      <a:srgbClr val="1C50B3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1500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F1</a:t>
                      </a:r>
                    </a:p>
                  </a:txBody>
                  <a:tcPr marL="101600" marR="101600" marT="25400" marB="25400" anchor="ctr">
                    <a:solidFill>
                      <a:srgbClr val="1C50B3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1500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Accel.</a:t>
                      </a:r>
                    </a:p>
                  </a:txBody>
                  <a:tcPr marL="101600" marR="101600" marT="25400" marB="25400" anchor="ctr">
                    <a:solidFill>
                      <a:srgbClr val="1C50B3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70983"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1500">
                          <a:solidFill>
                            <a:srgbClr val="080808"/>
                          </a:solidFill>
                          <a:latin typeface="Pretendard"/>
                          <a:ea typeface="Pretendard"/>
                          <a:cs typeface="Pretendard"/>
                        </a:rPr>
                        <a:t>ISAC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1500">
                          <a:solidFill>
                            <a:srgbClr val="080808"/>
                          </a:solidFill>
                          <a:latin typeface="Pretendard"/>
                          <a:ea typeface="Pretendard"/>
                          <a:cs typeface="Pretendard"/>
                        </a:rPr>
                        <a:t>0.578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1500">
                          <a:solidFill>
                            <a:srgbClr val="080808"/>
                          </a:solidFill>
                          <a:latin typeface="Pretendard"/>
                          <a:ea typeface="Pretendard"/>
                          <a:cs typeface="Pretendard"/>
                        </a:rPr>
                        <a:t>0.60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1500">
                          <a:solidFill>
                            <a:srgbClr val="080808"/>
                          </a:solidFill>
                          <a:latin typeface="Pretendard"/>
                          <a:ea typeface="Pretendard"/>
                          <a:cs typeface="Pretendard"/>
                        </a:rPr>
                        <a:t>1.10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70983"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1500">
                          <a:solidFill>
                            <a:srgbClr val="080808"/>
                          </a:solidFill>
                          <a:latin typeface="Pretendard"/>
                          <a:ea typeface="Pretendard"/>
                          <a:cs typeface="Pretendard"/>
                        </a:rPr>
                        <a:t>Global Best</a:t>
                      </a:r>
                    </a:p>
                  </a:txBody>
                  <a:tcPr marL="101600" marR="101600" marT="25400" marB="25400" anchor="ctr">
                    <a:solidFill>
                      <a:srgbClr val="EEF3FB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1500">
                          <a:solidFill>
                            <a:srgbClr val="080808"/>
                          </a:solidFill>
                          <a:latin typeface="Pretendard"/>
                          <a:ea typeface="Pretendard"/>
                          <a:cs typeface="Pretendard"/>
                        </a:rPr>
                        <a:t>0.629</a:t>
                      </a:r>
                    </a:p>
                  </a:txBody>
                  <a:tcPr marL="101600" marR="101600" marT="25400" marB="25400" anchor="ctr">
                    <a:solidFill>
                      <a:srgbClr val="EEF3FB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1500">
                          <a:solidFill>
                            <a:srgbClr val="080808"/>
                          </a:solidFill>
                          <a:latin typeface="Pretendard"/>
                          <a:ea typeface="Pretendard"/>
                          <a:cs typeface="Pretendard"/>
                        </a:rPr>
                        <a:t>0.63</a:t>
                      </a:r>
                    </a:p>
                  </a:txBody>
                  <a:tcPr marL="101600" marR="101600" marT="25400" marB="25400" anchor="ctr">
                    <a:solidFill>
                      <a:srgbClr val="EEF3FB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1500">
                          <a:solidFill>
                            <a:srgbClr val="080808"/>
                          </a:solidFill>
                          <a:latin typeface="Pretendard"/>
                          <a:ea typeface="Pretendard"/>
                          <a:cs typeface="Pretendard"/>
                        </a:rPr>
                        <a:t>1.16</a:t>
                      </a:r>
                    </a:p>
                  </a:txBody>
                  <a:tcPr marL="101600" marR="101600" marT="25400" marB="25400" anchor="ctr">
                    <a:solidFill>
                      <a:srgbClr val="EEF3FB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70983"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1500">
                          <a:solidFill>
                            <a:srgbClr val="080808"/>
                          </a:solidFill>
                          <a:latin typeface="Pretendard"/>
                          <a:ea typeface="Pretendard"/>
                          <a:cs typeface="Pretendard"/>
                        </a:rPr>
                        <a:t>ARGOSMART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1500">
                          <a:solidFill>
                            <a:srgbClr val="080808"/>
                          </a:solidFill>
                          <a:latin typeface="Pretendard"/>
                          <a:ea typeface="Pretendard"/>
                          <a:cs typeface="Pretendard"/>
                        </a:rPr>
                        <a:t>0.660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1500">
                          <a:solidFill>
                            <a:srgbClr val="080808"/>
                          </a:solidFill>
                          <a:latin typeface="Pretendard"/>
                          <a:ea typeface="Pretendard"/>
                          <a:cs typeface="Pretendard"/>
                        </a:rPr>
                        <a:t>0.62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1500">
                          <a:solidFill>
                            <a:srgbClr val="080808"/>
                          </a:solidFill>
                          <a:latin typeface="Pretendard"/>
                          <a:ea typeface="Pretendard"/>
                          <a:cs typeface="Pretendard"/>
                        </a:rPr>
                        <a:t>1.17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70983"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1500">
                          <a:solidFill>
                            <a:srgbClr val="080808"/>
                          </a:solidFill>
                          <a:latin typeface="Pretendard"/>
                          <a:ea typeface="Pretendard"/>
                          <a:cs typeface="Pretendard"/>
                        </a:rPr>
                        <a:t>ALORS</a:t>
                      </a:r>
                    </a:p>
                  </a:txBody>
                  <a:tcPr marL="101600" marR="101600" marT="25400" marB="25400" anchor="ctr">
                    <a:solidFill>
                      <a:srgbClr val="EEF3FB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1500">
                          <a:solidFill>
                            <a:srgbClr val="080808"/>
                          </a:solidFill>
                          <a:latin typeface="Pretendard"/>
                          <a:ea typeface="Pretendard"/>
                          <a:cs typeface="Pretendard"/>
                        </a:rPr>
                        <a:t>0.725</a:t>
                      </a:r>
                    </a:p>
                  </a:txBody>
                  <a:tcPr marL="101600" marR="101600" marT="25400" marB="25400" anchor="ctr">
                    <a:solidFill>
                      <a:srgbClr val="EEF3FB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1500">
                          <a:solidFill>
                            <a:srgbClr val="080808"/>
                          </a:solidFill>
                          <a:latin typeface="Pretendard"/>
                          <a:ea typeface="Pretendard"/>
                          <a:cs typeface="Pretendard"/>
                        </a:rPr>
                        <a:t>0.71</a:t>
                      </a:r>
                    </a:p>
                  </a:txBody>
                  <a:tcPr marL="101600" marR="101600" marT="25400" marB="25400" anchor="ctr">
                    <a:solidFill>
                      <a:srgbClr val="EEF3FB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1500">
                          <a:solidFill>
                            <a:srgbClr val="080808"/>
                          </a:solidFill>
                          <a:latin typeface="Pretendard"/>
                          <a:ea typeface="Pretendard"/>
                          <a:cs typeface="Pretendard"/>
                        </a:rPr>
                        <a:t>1.20</a:t>
                      </a:r>
                    </a:p>
                  </a:txBody>
                  <a:tcPr marL="101600" marR="101600" marT="25400" marB="25400" anchor="ctr">
                    <a:solidFill>
                      <a:srgbClr val="EEF3FB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70983"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1500">
                          <a:solidFill>
                            <a:srgbClr val="080808"/>
                          </a:solidFill>
                          <a:latin typeface="Pretendard"/>
                          <a:ea typeface="Pretendard"/>
                          <a:cs typeface="Pretendard"/>
                        </a:rPr>
                        <a:t>Ridge Regression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1500">
                          <a:solidFill>
                            <a:srgbClr val="080808"/>
                          </a:solidFill>
                          <a:latin typeface="Pretendard"/>
                          <a:ea typeface="Pretendard"/>
                          <a:cs typeface="Pretendard"/>
                        </a:rPr>
                        <a:t>0.784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1500">
                          <a:solidFill>
                            <a:srgbClr val="080808"/>
                          </a:solidFill>
                          <a:latin typeface="Pretendard"/>
                          <a:ea typeface="Pretendard"/>
                          <a:cs typeface="Pretendard"/>
                        </a:rPr>
                        <a:t>0.73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1500">
                          <a:solidFill>
                            <a:srgbClr val="080808"/>
                          </a:solidFill>
                          <a:latin typeface="Pretendard"/>
                          <a:ea typeface="Pretendard"/>
                          <a:cs typeface="Pretendard"/>
                        </a:rPr>
                        <a:t>1.27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graphicFrame>
        <p:nvGraphicFramePr>
          <p:cNvPr id="13" name="EditableTable"/>
          <p:cNvGraphicFramePr>
            <a:graphicFrameLocks noGrp="1"/>
          </p:cNvGraphicFramePr>
          <p:nvPr/>
        </p:nvGraphicFramePr>
        <p:xfrm>
          <a:off x="6115050" y="1689100"/>
          <a:ext cx="5715000" cy="40258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90800"/>
                <a:gridCol w="1092200"/>
                <a:gridCol w="914400"/>
                <a:gridCol w="1117600"/>
              </a:tblGrid>
              <a:tr h="575128"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1500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방법</a:t>
                      </a:r>
                    </a:p>
                  </a:txBody>
                  <a:tcPr marL="101600" marR="101600" marT="25400" marB="25400" anchor="ctr">
                    <a:solidFill>
                      <a:srgbClr val="1C50B3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1500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Acc.</a:t>
                      </a:r>
                    </a:p>
                  </a:txBody>
                  <a:tcPr marL="101600" marR="101600" marT="25400" marB="25400" anchor="ctr">
                    <a:solidFill>
                      <a:srgbClr val="1C50B3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1500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F1</a:t>
                      </a:r>
                    </a:p>
                  </a:txBody>
                  <a:tcPr marL="101600" marR="101600" marT="25400" marB="25400" anchor="ctr">
                    <a:solidFill>
                      <a:srgbClr val="1C50B3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1500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Accel.</a:t>
                      </a:r>
                    </a:p>
                  </a:txBody>
                  <a:tcPr marL="101600" marR="101600" marT="25400" marB="25400" anchor="ctr">
                    <a:solidFill>
                      <a:srgbClr val="1C50B3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75128"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1500">
                          <a:solidFill>
                            <a:srgbClr val="080808"/>
                          </a:solidFill>
                          <a:latin typeface="Pretendard"/>
                          <a:ea typeface="Pretendard"/>
                          <a:cs typeface="Pretendard"/>
                        </a:rPr>
                        <a:t>SVM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1500">
                          <a:solidFill>
                            <a:srgbClr val="080808"/>
                          </a:solidFill>
                          <a:latin typeface="Pretendard"/>
                          <a:ea typeface="Pretendard"/>
                          <a:cs typeface="Pretendard"/>
                        </a:rPr>
                        <a:t>0.802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1500">
                          <a:solidFill>
                            <a:srgbClr val="080808"/>
                          </a:solidFill>
                          <a:latin typeface="Pretendard"/>
                          <a:ea typeface="Pretendard"/>
                          <a:cs typeface="Pretendard"/>
                        </a:rPr>
                        <a:t>0.79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1500">
                          <a:solidFill>
                            <a:srgbClr val="080808"/>
                          </a:solidFill>
                          <a:latin typeface="Pretendard"/>
                          <a:ea typeface="Pretendard"/>
                          <a:cs typeface="Pretendard"/>
                        </a:rPr>
                        <a:t>1.28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75128"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1500">
                          <a:solidFill>
                            <a:srgbClr val="080808"/>
                          </a:solidFill>
                          <a:latin typeface="Pretendard"/>
                          <a:ea typeface="Pretendard"/>
                          <a:cs typeface="Pretendard"/>
                        </a:rPr>
                        <a:t>MLP</a:t>
                      </a:r>
                    </a:p>
                  </a:txBody>
                  <a:tcPr marL="101600" marR="101600" marT="25400" marB="25400" anchor="ctr">
                    <a:solidFill>
                      <a:srgbClr val="EEF3FB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1500">
                          <a:solidFill>
                            <a:srgbClr val="080808"/>
                          </a:solidFill>
                          <a:latin typeface="Pretendard"/>
                          <a:ea typeface="Pretendard"/>
                          <a:cs typeface="Pretendard"/>
                        </a:rPr>
                        <a:t>0.783</a:t>
                      </a:r>
                    </a:p>
                  </a:txBody>
                  <a:tcPr marL="101600" marR="101600" marT="25400" marB="25400" anchor="ctr">
                    <a:solidFill>
                      <a:srgbClr val="EEF3FB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1500">
                          <a:solidFill>
                            <a:srgbClr val="080808"/>
                          </a:solidFill>
                          <a:latin typeface="Pretendard"/>
                          <a:ea typeface="Pretendard"/>
                          <a:cs typeface="Pretendard"/>
                        </a:rPr>
                        <a:t>0.75</a:t>
                      </a:r>
                    </a:p>
                  </a:txBody>
                  <a:tcPr marL="101600" marR="101600" marT="25400" marB="25400" anchor="ctr">
                    <a:solidFill>
                      <a:srgbClr val="EEF3FB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1500">
                          <a:solidFill>
                            <a:srgbClr val="080808"/>
                          </a:solidFill>
                          <a:latin typeface="Pretendard"/>
                          <a:ea typeface="Pretendard"/>
                          <a:cs typeface="Pretendard"/>
                        </a:rPr>
                        <a:t>1.24</a:t>
                      </a:r>
                    </a:p>
                  </a:txBody>
                  <a:tcPr marL="101600" marR="101600" marT="25400" marB="25400" anchor="ctr">
                    <a:solidFill>
                      <a:srgbClr val="EEF3FB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75128"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1500">
                          <a:solidFill>
                            <a:srgbClr val="080808"/>
                          </a:solidFill>
                          <a:latin typeface="Pretendard"/>
                          <a:ea typeface="Pretendard"/>
                          <a:cs typeface="Pretendard"/>
                        </a:rPr>
                        <a:t>Random Forest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1500">
                          <a:solidFill>
                            <a:srgbClr val="080808"/>
                          </a:solidFill>
                          <a:latin typeface="Pretendard"/>
                          <a:ea typeface="Pretendard"/>
                          <a:cs typeface="Pretendard"/>
                        </a:rPr>
                        <a:t>0.742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1500">
                          <a:solidFill>
                            <a:srgbClr val="080808"/>
                          </a:solidFill>
                          <a:latin typeface="Pretendard"/>
                          <a:ea typeface="Pretendard"/>
                          <a:cs typeface="Pretendard"/>
                        </a:rPr>
                        <a:t>0.69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1500">
                          <a:solidFill>
                            <a:srgbClr val="080808"/>
                          </a:solidFill>
                          <a:latin typeface="Pretendard"/>
                          <a:ea typeface="Pretendard"/>
                          <a:cs typeface="Pretendard"/>
                        </a:rPr>
                        <a:t>1.25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75128"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1500">
                          <a:solidFill>
                            <a:srgbClr val="080808"/>
                          </a:solidFill>
                          <a:latin typeface="Pretendard"/>
                          <a:ea typeface="Pretendard"/>
                          <a:cs typeface="Pretendard"/>
                        </a:rPr>
                        <a:t>LightGBM</a:t>
                      </a:r>
                    </a:p>
                  </a:txBody>
                  <a:tcPr marL="101600" marR="101600" marT="25400" marB="25400" anchor="ctr">
                    <a:solidFill>
                      <a:srgbClr val="EEF3FB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1500">
                          <a:solidFill>
                            <a:srgbClr val="080808"/>
                          </a:solidFill>
                          <a:latin typeface="Pretendard"/>
                          <a:ea typeface="Pretendard"/>
                          <a:cs typeface="Pretendard"/>
                        </a:rPr>
                        <a:t>0.737</a:t>
                      </a:r>
                    </a:p>
                  </a:txBody>
                  <a:tcPr marL="101600" marR="101600" marT="25400" marB="25400" anchor="ctr">
                    <a:solidFill>
                      <a:srgbClr val="EEF3FB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1500">
                          <a:solidFill>
                            <a:srgbClr val="080808"/>
                          </a:solidFill>
                          <a:latin typeface="Pretendard"/>
                          <a:ea typeface="Pretendard"/>
                          <a:cs typeface="Pretendard"/>
                        </a:rPr>
                        <a:t>0.68</a:t>
                      </a:r>
                    </a:p>
                  </a:txBody>
                  <a:tcPr marL="101600" marR="101600" marT="25400" marB="25400" anchor="ctr">
                    <a:solidFill>
                      <a:srgbClr val="EEF3FB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1500">
                          <a:solidFill>
                            <a:srgbClr val="080808"/>
                          </a:solidFill>
                          <a:latin typeface="Pretendard"/>
                          <a:ea typeface="Pretendard"/>
                          <a:cs typeface="Pretendard"/>
                        </a:rPr>
                        <a:t>1.19</a:t>
                      </a:r>
                    </a:p>
                  </a:txBody>
                  <a:tcPr marL="101600" marR="101600" marT="25400" marB="25400" anchor="ctr">
                    <a:solidFill>
                      <a:srgbClr val="EEF3FB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75128"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1500">
                          <a:solidFill>
                            <a:srgbClr val="080808"/>
                          </a:solidFill>
                          <a:latin typeface="Pretendard"/>
                          <a:ea typeface="Pretendard"/>
                          <a:cs typeface="Pretendard"/>
                        </a:rPr>
                        <a:t>Gradient Boosting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1500">
                          <a:solidFill>
                            <a:srgbClr val="080808"/>
                          </a:solidFill>
                          <a:latin typeface="Pretendard"/>
                          <a:ea typeface="Pretendard"/>
                          <a:cs typeface="Pretendard"/>
                        </a:rPr>
                        <a:t>0.815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1500">
                          <a:solidFill>
                            <a:srgbClr val="080808"/>
                          </a:solidFill>
                          <a:latin typeface="Pretendard"/>
                          <a:ea typeface="Pretendard"/>
                          <a:cs typeface="Pretendard"/>
                        </a:rPr>
                        <a:t>0.78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1500">
                          <a:solidFill>
                            <a:srgbClr val="080808"/>
                          </a:solidFill>
                          <a:latin typeface="Pretendard"/>
                          <a:ea typeface="Pretendard"/>
                          <a:cs typeface="Pretendard"/>
                        </a:rPr>
                        <a:t>1.30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75128"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1500">
                          <a:solidFill>
                            <a:srgbClr val="080808"/>
                          </a:solidFill>
                          <a:latin typeface="Pretendard"/>
                          <a:ea typeface="Pretendard"/>
                          <a:cs typeface="Pretendard"/>
                        </a:rPr>
                        <a:t>MetaInf</a:t>
                      </a:r>
                    </a:p>
                  </a:txBody>
                  <a:tcPr marL="101600" marR="101600" marT="25400" marB="25400" anchor="ctr">
                    <a:solidFill>
                      <a:srgbClr val="EEF3FB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1500">
                          <a:solidFill>
                            <a:srgbClr val="1C50B3"/>
                          </a:solidFill>
                          <a:latin typeface="Pretendard"/>
                          <a:ea typeface="Pretendard"/>
                          <a:cs typeface="Pretendard"/>
                        </a:rPr>
                        <a:t>0.898</a:t>
                      </a:r>
                    </a:p>
                  </a:txBody>
                  <a:tcPr marL="101600" marR="101600" marT="25400" marB="25400" anchor="ctr">
                    <a:solidFill>
                      <a:srgbClr val="EEF3FB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1500">
                          <a:solidFill>
                            <a:srgbClr val="1C50B3"/>
                          </a:solidFill>
                          <a:latin typeface="Pretendard"/>
                          <a:ea typeface="Pretendard"/>
                          <a:cs typeface="Pretendard"/>
                        </a:rPr>
                        <a:t>0.85</a:t>
                      </a:r>
                    </a:p>
                  </a:txBody>
                  <a:tcPr marL="101600" marR="101600" marT="25400" marB="25400" anchor="ctr">
                    <a:solidFill>
                      <a:srgbClr val="EEF3FB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1500">
                          <a:solidFill>
                            <a:srgbClr val="1C50B3"/>
                          </a:solidFill>
                          <a:latin typeface="Pretendard"/>
                          <a:ea typeface="Pretendard"/>
                          <a:cs typeface="Pretendard"/>
                        </a:rPr>
                        <a:t>1.55</a:t>
                      </a:r>
                    </a:p>
                  </a:txBody>
                  <a:tcPr marL="101600" marR="101600" marT="25400" marB="25400" anchor="ctr">
                    <a:solidFill>
                      <a:srgbClr val="EEF3FB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eader"/>
          <p:cNvSpPr/>
          <p:nvPr/>
        </p:nvSpPr>
        <p:spPr>
          <a:xfrm>
            <a:off x="0" y="0"/>
            <a:ext cx="12192000" cy="781050"/>
          </a:xfrm>
          <a:prstGeom prst="rect">
            <a:avLst/>
          </a:prstGeom>
          <a:solidFill>
            <a:srgbClr val="1C50B3"/>
          </a:solidFill>
          <a:ln>
            <a:noFill/>
          </a:ln>
          <a:effectLst>
            <a:outerShdw blurRad="38100" dist="19050" dir="5400000" algn="ctr" rotWithShape="0">
              <a:srgbClr val="000000">
                <a:alpha val="3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itle"/>
          <p:cNvSpPr txBox="1"/>
          <p:nvPr/>
        </p:nvSpPr>
        <p:spPr>
          <a:xfrm>
            <a:off x="257175" y="38100"/>
            <a:ext cx="11677650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300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부록 B: 알고리즘을 구현 관점에서 요약</a:t>
            </a:r>
          </a:p>
        </p:txBody>
      </p:sp>
      <p:sp>
        <p:nvSpPr>
          <p:cNvPr id="4" name="Page"/>
          <p:cNvSpPr txBox="1"/>
          <p:nvPr/>
        </p:nvSpPr>
        <p:spPr>
          <a:xfrm>
            <a:off x="247650" y="6553200"/>
            <a:ext cx="1016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1128">
                <a:solidFill>
                  <a:srgbClr val="777777"/>
                </a:solidFill>
                <a:latin typeface="Pretendard"/>
                <a:ea typeface="Pretendard"/>
                <a:cs typeface="Pretendard"/>
              </a:rPr>
              <a:t>32</a:t>
            </a:r>
          </a:p>
        </p:txBody>
      </p:sp>
      <p:sp>
        <p:nvSpPr>
          <p:cNvPr id="5" name="Logo"/>
          <p:cNvSpPr txBox="1"/>
          <p:nvPr/>
        </p:nvSpPr>
        <p:spPr>
          <a:xfrm>
            <a:off x="11163300" y="6413500"/>
            <a:ext cx="1028700" cy="44450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r">
              <a:lnSpc>
                <a:spcPct val="130000"/>
              </a:lnSpc>
              <a:spcAft>
                <a:spcPts val="800"/>
              </a:spcAft>
            </a:pPr>
            <a:r>
              <a:rPr sz="2258" b="1">
                <a:solidFill>
                  <a:srgbClr val="BE1551"/>
                </a:solidFill>
                <a:latin typeface="Pretendard"/>
                <a:ea typeface="Pretendard"/>
              </a:rPr>
              <a:t>CBNU</a:t>
            </a:r>
          </a:p>
        </p:txBody>
      </p:sp>
      <p:sp>
        <p:nvSpPr>
          <p:cNvPr id="6" name="LeftTitle"/>
          <p:cNvSpPr txBox="1"/>
          <p:nvPr/>
        </p:nvSpPr>
        <p:spPr>
          <a:xfrm>
            <a:off x="342900" y="1130300"/>
            <a:ext cx="5334000" cy="40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1875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Offline meta-training</a:t>
            </a:r>
          </a:p>
        </p:txBody>
      </p:sp>
      <p:sp>
        <p:nvSpPr>
          <p:cNvPr id="7" name="RightTitle"/>
          <p:cNvSpPr txBox="1"/>
          <p:nvPr/>
        </p:nvSpPr>
        <p:spPr>
          <a:xfrm>
            <a:off x="6115050" y="1130300"/>
            <a:ext cx="5715000" cy="40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1875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Online method selection</a:t>
            </a:r>
          </a:p>
        </p:txBody>
      </p:sp>
      <p:sp>
        <p:nvSpPr>
          <p:cNvPr id="10" name="Caption"/>
          <p:cNvSpPr txBox="1"/>
          <p:nvPr/>
        </p:nvSpPr>
        <p:spPr>
          <a:xfrm>
            <a:off x="342900" y="6159500"/>
            <a:ext cx="11487150" cy="355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1800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• 최적화할 성능 지표의 방향과 비용 단위를 구현 전에 통일</a:t>
            </a:r>
          </a:p>
        </p:txBody>
      </p:sp>
      <p:sp>
        <p:nvSpPr>
          <p:cNvPr id="11" name="Source"/>
          <p:cNvSpPr txBox="1"/>
          <p:nvPr/>
        </p:nvSpPr>
        <p:spPr>
          <a:xfrm>
            <a:off x="1397000" y="6565900"/>
            <a:ext cx="9398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1050">
                <a:solidFill>
                  <a:srgbClr val="596578"/>
                </a:solidFill>
                <a:latin typeface="Pretendard"/>
                <a:ea typeface="Pretendard"/>
                <a:cs typeface="Pretendard"/>
              </a:rPr>
              <a:t>출처: Du et al., arXiv:2508.09194v1 (COLM 2025 표기) · Appendix A.1 Algorithms 1–2 · 의사코드 재구성</a:t>
            </a:r>
          </a:p>
        </p:txBody>
      </p:sp>
      <p:sp>
        <p:nvSpPr>
          <p:cNvPr id="12" name="학습 데이터 구축"/>
          <p:cNvSpPr/>
          <p:nvPr/>
        </p:nvSpPr>
        <p:spPr>
          <a:xfrm>
            <a:off x="342900" y="1689100"/>
            <a:ext cx="5334000" cy="4025900"/>
          </a:xfrm>
          <a:prstGeom prst="rect">
            <a:avLst/>
          </a:prstGeom>
          <a:solidFill>
            <a:srgbClr val="EE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학습 데이터 구축Text"/>
          <p:cNvSpPr txBox="1"/>
          <p:nvPr/>
        </p:nvSpPr>
        <p:spPr>
          <a:xfrm>
            <a:off x="533400" y="1943100"/>
            <a:ext cx="4953000" cy="355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800"/>
              </a:spcAft>
            </a:pPr>
            <a:r>
              <a:rPr b="1" sz="1800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1  과거 작업 × 후보 × GPU 실행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800"/>
              </a:spcAft>
            </a:pPr>
            <a:r>
              <a:rPr b="1" sz="1800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2  관측 시간 P 저장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800"/>
              </a:spcAft>
            </a:pPr>
            <a:r>
              <a:rPr b="1" sz="1800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3  설명 → LLM 임베딩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800"/>
              </a:spcAft>
            </a:pPr>
            <a:r>
              <a:rPr b="1" sz="1800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4  임베딩 → SVD 변환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800"/>
              </a:spcAft>
            </a:pPr>
            <a:r>
              <a:rPr b="1" sz="1800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5  표현·관측 시간으로 f 학습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800"/>
              </a:spcAft>
            </a:pPr>
            <a:r>
              <a:rPr b="1" sz="1800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6  변환과 f를 함께 저장</a:t>
            </a:r>
          </a:p>
        </p:txBody>
      </p:sp>
      <p:sp>
        <p:nvSpPr>
          <p:cNvPr id="14" name="예산 내 후보 선택"/>
          <p:cNvSpPr/>
          <p:nvPr/>
        </p:nvSpPr>
        <p:spPr>
          <a:xfrm>
            <a:off x="6115050" y="1689100"/>
            <a:ext cx="5715000" cy="4025900"/>
          </a:xfrm>
          <a:prstGeom prst="rect">
            <a:avLst/>
          </a:prstGeom>
          <a:solidFill>
            <a:srgbClr val="EE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예산 내 후보 선택Text"/>
          <p:cNvSpPr txBox="1"/>
          <p:nvPr/>
        </p:nvSpPr>
        <p:spPr>
          <a:xfrm>
            <a:off x="6305550" y="1943100"/>
            <a:ext cx="5334000" cy="355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800"/>
              </a:spcAft>
            </a:pPr>
            <a:r>
              <a:rPr b="1" sz="1800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1  새 환경을 같은 방식으로 변환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800"/>
              </a:spcAft>
            </a:pPr>
            <a:r>
              <a:rPr b="1" sz="1800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2  각 후보의 시간 t_pred 예측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800"/>
              </a:spcAft>
            </a:pPr>
            <a:r>
              <a:rPr b="1" sz="1800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3  C_pred = GPU 단가 × t_pred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800"/>
              </a:spcAft>
            </a:pPr>
            <a:r>
              <a:rPr b="1" sz="1800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4  C_pred ≤ b인 후보만 유지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800"/>
              </a:spcAft>
            </a:pPr>
            <a:r>
              <a:rPr b="1" sz="1800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5  예측 시간이 최소인 후보 선택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800"/>
              </a:spcAft>
            </a:pPr>
            <a:r>
              <a:rPr b="1" sz="1800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6  선택한 조합으로 추론 실행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eader"/>
          <p:cNvSpPr/>
          <p:nvPr/>
        </p:nvSpPr>
        <p:spPr>
          <a:xfrm>
            <a:off x="0" y="0"/>
            <a:ext cx="12192000" cy="781050"/>
          </a:xfrm>
          <a:prstGeom prst="rect">
            <a:avLst/>
          </a:prstGeom>
          <a:solidFill>
            <a:srgbClr val="1C50B3"/>
          </a:solidFill>
          <a:ln>
            <a:noFill/>
          </a:ln>
          <a:effectLst>
            <a:outerShdw blurRad="38100" dist="19050" dir="5400000" algn="ctr" rotWithShape="0">
              <a:srgbClr val="000000">
                <a:alpha val="3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itle"/>
          <p:cNvSpPr txBox="1"/>
          <p:nvPr/>
        </p:nvSpPr>
        <p:spPr>
          <a:xfrm>
            <a:off x="257175" y="38100"/>
            <a:ext cx="11677650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300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부록 C: 표현 방식별 ablation 원그림</a:t>
            </a:r>
          </a:p>
        </p:txBody>
      </p:sp>
      <p:sp>
        <p:nvSpPr>
          <p:cNvPr id="4" name="Page"/>
          <p:cNvSpPr txBox="1"/>
          <p:nvPr/>
        </p:nvSpPr>
        <p:spPr>
          <a:xfrm>
            <a:off x="247650" y="6553200"/>
            <a:ext cx="1016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1128">
                <a:solidFill>
                  <a:srgbClr val="777777"/>
                </a:solidFill>
                <a:latin typeface="Pretendard"/>
                <a:ea typeface="Pretendard"/>
                <a:cs typeface="Pretendard"/>
              </a:rPr>
              <a:t>33</a:t>
            </a:r>
          </a:p>
        </p:txBody>
      </p:sp>
      <p:sp>
        <p:nvSpPr>
          <p:cNvPr id="5" name="Logo"/>
          <p:cNvSpPr txBox="1"/>
          <p:nvPr/>
        </p:nvSpPr>
        <p:spPr>
          <a:xfrm>
            <a:off x="11163300" y="6413500"/>
            <a:ext cx="1028700" cy="44450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r">
              <a:lnSpc>
                <a:spcPct val="130000"/>
              </a:lnSpc>
              <a:spcAft>
                <a:spcPts val="800"/>
              </a:spcAft>
            </a:pPr>
            <a:r>
              <a:rPr sz="2258" b="1">
                <a:solidFill>
                  <a:srgbClr val="BE1551"/>
                </a:solidFill>
                <a:latin typeface="Pretendard"/>
                <a:ea typeface="Pretendard"/>
              </a:rPr>
              <a:t>CBNU</a:t>
            </a:r>
          </a:p>
        </p:txBody>
      </p:sp>
      <p:sp>
        <p:nvSpPr>
          <p:cNvPr id="6" name="ExplanationBox"/>
          <p:cNvSpPr/>
          <p:nvPr/>
        </p:nvSpPr>
        <p:spPr>
          <a:xfrm>
            <a:off x="257175" y="1085850"/>
            <a:ext cx="11677650" cy="5257800"/>
          </a:xfrm>
          <a:prstGeom prst="roundRect">
            <a:avLst>
              <a:gd name="adj" fmla="val 6000"/>
            </a:avLst>
          </a:prstGeom>
          <a:solidFill>
            <a:srgbClr val="1C50B3"/>
          </a:solidFill>
          <a:ln>
            <a:noFill/>
          </a:ln>
          <a:effectLst>
            <a:outerShdw blurRad="38100" dist="19050" dir="5400000" algn="ctr" rotWithShape="0">
              <a:srgbClr val="000000">
                <a:alpha val="3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ExplanationBoxInterior"/>
          <p:cNvSpPr/>
          <p:nvPr/>
        </p:nvSpPr>
        <p:spPr>
          <a:xfrm>
            <a:off x="409575" y="1238250"/>
            <a:ext cx="11372850" cy="4953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ource"/>
          <p:cNvSpPr txBox="1"/>
          <p:nvPr/>
        </p:nvSpPr>
        <p:spPr>
          <a:xfrm>
            <a:off x="1397000" y="6565900"/>
            <a:ext cx="9398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1050">
                <a:solidFill>
                  <a:srgbClr val="596578"/>
                </a:solidFill>
                <a:latin typeface="Pretendard"/>
                <a:ea typeface="Pretendard"/>
                <a:cs typeface="Pretendard"/>
              </a:rPr>
              <a:t>출처: Du et al., arXiv:2508.09194v1 (COLM 2025 표기) · Figure 4 (SVD k=256) · 원그림의 값은 임의로 수치화하지 않음</a:t>
            </a:r>
          </a:p>
        </p:txBody>
      </p:sp>
      <p:pic>
        <p:nvPicPr>
          <p:cNvPr id="10" name="Picture 9" descr="ablation_orig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975" y="1440317"/>
            <a:ext cx="11068050" cy="3837665"/>
          </a:xfrm>
          <a:prstGeom prst="rect">
            <a:avLst/>
          </a:prstGeom>
        </p:spPr>
      </p:pic>
      <p:sp>
        <p:nvSpPr>
          <p:cNvPr id="11" name="AblationCaption"/>
          <p:cNvSpPr txBox="1"/>
          <p:nvPr/>
        </p:nvSpPr>
        <p:spPr>
          <a:xfrm>
            <a:off x="561975" y="5384800"/>
            <a:ext cx="11068050" cy="654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1600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왼쪽: 조합 선택 정확도  ·  오른쪽: 평균 speedup improvement</a:t>
            </a:r>
            <a:br/>
            <a:r>
              <a:rPr b="1" sz="1600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막대 순서: Basic / One-hot / Rich / CoT · Accel. 해석은 원문 정의 확인 필요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eader"/>
          <p:cNvSpPr/>
          <p:nvPr/>
        </p:nvSpPr>
        <p:spPr>
          <a:xfrm>
            <a:off x="0" y="0"/>
            <a:ext cx="12192000" cy="781050"/>
          </a:xfrm>
          <a:prstGeom prst="rect">
            <a:avLst/>
          </a:prstGeom>
          <a:solidFill>
            <a:srgbClr val="1C50B3"/>
          </a:solidFill>
          <a:ln>
            <a:noFill/>
          </a:ln>
          <a:effectLst>
            <a:outerShdw blurRad="38100" dist="19050" dir="5400000" algn="ctr" rotWithShape="0">
              <a:srgbClr val="000000">
                <a:alpha val="3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itle"/>
          <p:cNvSpPr txBox="1"/>
          <p:nvPr/>
        </p:nvSpPr>
        <p:spPr>
          <a:xfrm>
            <a:off x="257175" y="38100"/>
            <a:ext cx="11677650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300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부록 D: 동기 실험과 본 실험의 조건을 구분</a:t>
            </a:r>
          </a:p>
        </p:txBody>
      </p:sp>
      <p:sp>
        <p:nvSpPr>
          <p:cNvPr id="4" name="Page"/>
          <p:cNvSpPr txBox="1"/>
          <p:nvPr/>
        </p:nvSpPr>
        <p:spPr>
          <a:xfrm>
            <a:off x="247650" y="6553200"/>
            <a:ext cx="1016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1128">
                <a:solidFill>
                  <a:srgbClr val="777777"/>
                </a:solidFill>
                <a:latin typeface="Pretendard"/>
                <a:ea typeface="Pretendard"/>
                <a:cs typeface="Pretendard"/>
              </a:rPr>
              <a:t>34</a:t>
            </a:r>
          </a:p>
        </p:txBody>
      </p:sp>
      <p:sp>
        <p:nvSpPr>
          <p:cNvPr id="5" name="Logo"/>
          <p:cNvSpPr txBox="1"/>
          <p:nvPr/>
        </p:nvSpPr>
        <p:spPr>
          <a:xfrm>
            <a:off x="11163300" y="6413500"/>
            <a:ext cx="1028700" cy="44450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r">
              <a:lnSpc>
                <a:spcPct val="130000"/>
              </a:lnSpc>
              <a:spcAft>
                <a:spcPts val="800"/>
              </a:spcAft>
            </a:pPr>
            <a:r>
              <a:rPr sz="2258" b="1">
                <a:solidFill>
                  <a:srgbClr val="BE1551"/>
                </a:solidFill>
                <a:latin typeface="Pretendard"/>
                <a:ea typeface="Pretendard"/>
              </a:rPr>
              <a:t>CBNU</a:t>
            </a:r>
          </a:p>
        </p:txBody>
      </p:sp>
      <p:sp>
        <p:nvSpPr>
          <p:cNvPr id="6" name="ExplanationBox"/>
          <p:cNvSpPr/>
          <p:nvPr/>
        </p:nvSpPr>
        <p:spPr>
          <a:xfrm>
            <a:off x="257175" y="1085850"/>
            <a:ext cx="11677650" cy="5257800"/>
          </a:xfrm>
          <a:prstGeom prst="roundRect">
            <a:avLst>
              <a:gd name="adj" fmla="val 6000"/>
            </a:avLst>
          </a:prstGeom>
          <a:solidFill>
            <a:srgbClr val="1C50B3"/>
          </a:solidFill>
          <a:ln>
            <a:noFill/>
          </a:ln>
          <a:effectLst>
            <a:outerShdw blurRad="38100" dist="19050" dir="5400000" algn="ctr" rotWithShape="0">
              <a:srgbClr val="000000">
                <a:alpha val="3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ExplanationBoxInterior"/>
          <p:cNvSpPr/>
          <p:nvPr/>
        </p:nvSpPr>
        <p:spPr>
          <a:xfrm>
            <a:off x="409575" y="1238250"/>
            <a:ext cx="11372850" cy="4953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Body"/>
          <p:cNvSpPr txBox="1"/>
          <p:nvPr/>
        </p:nvSpPr>
        <p:spPr>
          <a:xfrm>
            <a:off x="561975" y="1390650"/>
            <a:ext cx="11068050" cy="4648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900"/>
              </a:spcAft>
            </a:pPr>
            <a:r>
              <a:rPr b="1" sz="2200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• 동기 실험 (§3.1): ShareGPT, 주로 LLaMA-3.1-8B-Instruct</a:t>
            </a:r>
            <a:br/>
            <a:r>
              <a:rPr b="1" sz="2200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NVIDIA L4, tensor parallelism 4/8 GPU, 최대 출력 2048 tokens, float16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900"/>
              </a:spcAft>
            </a:pPr>
            <a:r>
              <a:rPr b="1" sz="2200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• 추가 모델 비교 (Table 1): L4, BS=1024</a:t>
            </a:r>
            <a:br/>
            <a:r>
              <a:rPr b="1" sz="2200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Continuous batching을 기본 활성화한 상태의 성능 변화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900"/>
              </a:spcAft>
            </a:pPr>
            <a:r>
              <a:rPr b="1" sz="2200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• 본 선택 실험 (§4): reasoning-v1-20m + ShareGPT</a:t>
            </a:r>
            <a:br/>
            <a:r>
              <a:rPr b="1" sz="2200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4개 모델, T4/L4/A100, 미학습 입력에서 실제 최적 조합과 비교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900"/>
              </a:spcAft>
            </a:pPr>
            <a:r>
              <a:rPr b="1" sz="2200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• Zero-shot (Table 5): Mistral-7B, Mixtral-8x7B, LLaMA-3.1-70B</a:t>
            </a:r>
            <a:br/>
            <a:r>
              <a:rPr b="1" sz="2200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A100/H200의 새로운 모델–GPU 조합을 continuous batching과 비교</a:t>
            </a:r>
          </a:p>
        </p:txBody>
      </p:sp>
      <p:sp>
        <p:nvSpPr>
          <p:cNvPr id="9" name="Source"/>
          <p:cNvSpPr txBox="1"/>
          <p:nvPr/>
        </p:nvSpPr>
        <p:spPr>
          <a:xfrm>
            <a:off x="1397000" y="6565900"/>
            <a:ext cx="9398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1050">
                <a:solidFill>
                  <a:srgbClr val="596578"/>
                </a:solidFill>
                <a:latin typeface="Pretendard"/>
                <a:ea typeface="Pretendard"/>
                <a:cs typeface="Pretendard"/>
              </a:rPr>
              <a:t>출처: Du et al., arXiv:2508.09194v1 (COLM 2025 표기) · §3.1.1, §4.1, Tables 1·5, Appendix A.2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eader"/>
          <p:cNvSpPr/>
          <p:nvPr/>
        </p:nvSpPr>
        <p:spPr>
          <a:xfrm>
            <a:off x="0" y="0"/>
            <a:ext cx="12192000" cy="781050"/>
          </a:xfrm>
          <a:prstGeom prst="rect">
            <a:avLst/>
          </a:prstGeom>
          <a:solidFill>
            <a:srgbClr val="1C50B3"/>
          </a:solidFill>
          <a:ln>
            <a:noFill/>
          </a:ln>
          <a:effectLst>
            <a:outerShdw blurRad="38100" dist="19050" dir="5400000" algn="ctr" rotWithShape="0">
              <a:srgbClr val="000000">
                <a:alpha val="3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itle"/>
          <p:cNvSpPr txBox="1"/>
          <p:nvPr/>
        </p:nvSpPr>
        <p:spPr>
          <a:xfrm>
            <a:off x="257175" y="38100"/>
            <a:ext cx="11677650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300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부록 E: 참고 논문과 핵심 용어</a:t>
            </a:r>
          </a:p>
        </p:txBody>
      </p:sp>
      <p:sp>
        <p:nvSpPr>
          <p:cNvPr id="4" name="Page"/>
          <p:cNvSpPr txBox="1"/>
          <p:nvPr/>
        </p:nvSpPr>
        <p:spPr>
          <a:xfrm>
            <a:off x="247650" y="6553200"/>
            <a:ext cx="1016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1128">
                <a:solidFill>
                  <a:srgbClr val="777777"/>
                </a:solidFill>
                <a:latin typeface="Pretendard"/>
                <a:ea typeface="Pretendard"/>
                <a:cs typeface="Pretendard"/>
              </a:rPr>
              <a:t>35</a:t>
            </a:r>
          </a:p>
        </p:txBody>
      </p:sp>
      <p:sp>
        <p:nvSpPr>
          <p:cNvPr id="5" name="Logo"/>
          <p:cNvSpPr txBox="1"/>
          <p:nvPr/>
        </p:nvSpPr>
        <p:spPr>
          <a:xfrm>
            <a:off x="11163300" y="6413500"/>
            <a:ext cx="1028700" cy="44450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r">
              <a:lnSpc>
                <a:spcPct val="130000"/>
              </a:lnSpc>
              <a:spcAft>
                <a:spcPts val="800"/>
              </a:spcAft>
            </a:pPr>
            <a:r>
              <a:rPr sz="2258" b="1">
                <a:solidFill>
                  <a:srgbClr val="BE1551"/>
                </a:solidFill>
                <a:latin typeface="Pretendard"/>
                <a:ea typeface="Pretendard"/>
              </a:rPr>
              <a:t>CBNU</a:t>
            </a:r>
          </a:p>
        </p:txBody>
      </p:sp>
      <p:sp>
        <p:nvSpPr>
          <p:cNvPr id="6" name="ExplanationBox"/>
          <p:cNvSpPr/>
          <p:nvPr/>
        </p:nvSpPr>
        <p:spPr>
          <a:xfrm>
            <a:off x="257175" y="1085850"/>
            <a:ext cx="11677650" cy="5257800"/>
          </a:xfrm>
          <a:prstGeom prst="roundRect">
            <a:avLst>
              <a:gd name="adj" fmla="val 6000"/>
            </a:avLst>
          </a:prstGeom>
          <a:solidFill>
            <a:srgbClr val="1C50B3"/>
          </a:solidFill>
          <a:ln>
            <a:noFill/>
          </a:ln>
          <a:effectLst>
            <a:outerShdw blurRad="38100" dist="19050" dir="5400000" algn="ctr" rotWithShape="0">
              <a:srgbClr val="000000">
                <a:alpha val="3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ExplanationBoxInterior"/>
          <p:cNvSpPr/>
          <p:nvPr/>
        </p:nvSpPr>
        <p:spPr>
          <a:xfrm>
            <a:off x="409575" y="1238250"/>
            <a:ext cx="11372850" cy="4953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Body"/>
          <p:cNvSpPr txBox="1"/>
          <p:nvPr/>
        </p:nvSpPr>
        <p:spPr>
          <a:xfrm>
            <a:off x="561975" y="1390650"/>
            <a:ext cx="11068050" cy="4648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900"/>
              </a:spcAft>
            </a:pPr>
            <a:r>
              <a:rPr b="1" sz="2200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• 주 논문: Du et al., Meta-Learning for Speeding Up Large Model</a:t>
            </a:r>
            <a:br/>
            <a:r>
              <a:rPr b="1" sz="2200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Inference in Decentralized Environments · arXiv:2508.09194v1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900"/>
              </a:spcAft>
            </a:pPr>
            <a:r>
              <a:rPr b="1" sz="2200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• 관련 연구: Orca (OSDI 2022), PagedAttention (SOSP 2023)</a:t>
            </a:r>
            <a:br/>
            <a:r>
              <a:rPr b="1" sz="2200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회귀 예측기: XGBoost (KDD 2016) · 상세 서지는 주 논문 References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900"/>
              </a:spcAft>
            </a:pPr>
            <a:r>
              <a:rPr b="1" sz="2200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• Meta-learning: 과거 환경의 성능 관계를 새 환경 선택에 전이</a:t>
            </a:r>
            <a:br/>
            <a:r>
              <a:rPr b="1" sz="2200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Zero-shot: 새 조합에서 선택기를 다시 학습하지 않고 사용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900"/>
              </a:spcAft>
            </a:pPr>
            <a:r>
              <a:rPr b="1" sz="2200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• SVD: 임베딩 차원 축소 · KV cache: attention의 key/value 저장</a:t>
            </a:r>
          </a:p>
        </p:txBody>
      </p:sp>
      <p:sp>
        <p:nvSpPr>
          <p:cNvPr id="9" name="Source"/>
          <p:cNvSpPr txBox="1"/>
          <p:nvPr/>
        </p:nvSpPr>
        <p:spPr>
          <a:xfrm>
            <a:off x="1397000" y="6565900"/>
            <a:ext cx="9398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b="1" sz="1050">
                <a:solidFill>
                  <a:srgbClr val="596578"/>
                </a:solidFill>
                <a:latin typeface="Pretendard"/>
                <a:ea typeface="Pretendard"/>
                <a:cs typeface="Pretendard"/>
              </a:rPr>
              <a:t>출처: Du et al., arXiv:2508.09194v1 (COLM 2025 표기) · References, §3.4–3.5 · 원문 https://arxiv.org/abs/2508.09194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공통 발표 템플릿 · week4 디자인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  <dc:language>ko-KR</dc:language>
</cp:coreProperties>
</file>