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MegaTrain</c:v>
                </c:pt>
              </c:strCache>
            </c:strRef>
          </c:tx>
          <c:spPr>
            <a:solidFill>
              <a:srgbClr val="1C50B3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7B · GH200</c:v>
                </c:pt>
                <c:pt idx="1">
                  <c:v>14B · GH200</c:v>
                </c:pt>
                <c:pt idx="2">
                  <c:v>32B · GH200</c:v>
                </c:pt>
                <c:pt idx="3">
                  <c:v>72B · H200</c:v>
                </c:pt>
                <c:pt idx="4">
                  <c:v>120B · H200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284</c:v>
                </c:pt>
                <c:pt idx="1">
                  <c:v>264</c:v>
                </c:pt>
                <c:pt idx="2">
                  <c:v>259</c:v>
                </c:pt>
                <c:pt idx="3">
                  <c:v>288</c:v>
                </c:pt>
                <c:pt idx="4">
                  <c:v>109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sz="1400"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b="1" sz="1600"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0.0"/>
          <c:min val="0.0"/>
        </c:scaling>
        <c:delete val="0"/>
        <c:axPos val="b"/>
        <c:majorGridlines>
          <c:spPr>
            <a:ln>
              <a:solidFill>
                <a:srgbClr val="D9E2F1"/>
              </a:solidFill>
            </a:ln>
          </c:spPr>
        </c:majorGridlines>
        <c:title>
          <c:tx>
            <c:rich>
              <a:bodyPr/>
              <a:lstStyle/>
              <a:p>
                <a:r>
                  <a:rPr b="1" sz="1400">
                    <a:latin typeface="Pretendard"/>
                    <a:ea typeface="Pretendard"/>
                    <a:cs typeface="Pretendard"/>
                  </a:rPr>
                  <a:t>지속 학습 성능 (TFLOPS)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 b="1">
          <a:latin typeface="Pretendard"/>
          <a:ea typeface="Pretendard"/>
          <a:cs typeface="Pretendard"/>
        </a:defRPr>
      </a:pPr>
      <a:endParaRPr lang="en-US">
        <a:latin typeface="Pretendard"/>
        <a:ea typeface="Pretendard"/>
        <a:cs typeface="Pretendard"/>
      </a:endParaR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MegaTrain</c:v>
                </c:pt>
              </c:strCache>
            </c:strRef>
          </c:tx>
          <c:spPr>
            <a:solidFill>
              <a:srgbClr val="1C50B3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7B</c:v>
                </c:pt>
                <c:pt idx="1">
                  <c:v>14B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284</c:v>
                </c:pt>
                <c:pt idx="1">
                  <c:v>264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ZeRO-3</c:v>
                </c:pt>
              </c:strCache>
            </c:strRef>
          </c:tx>
          <c:spPr>
            <a:solidFill>
              <a:srgbClr val="BE1551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7B</c:v>
                </c:pt>
                <c:pt idx="1">
                  <c:v>14B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251</c:v>
                </c:pt>
                <c:pt idx="1">
                  <c:v>143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PyTorch</c:v>
                </c:pt>
              </c:strCache>
            </c:strRef>
          </c:tx>
          <c:spPr>
            <a:solidFill>
              <a:srgbClr val="75859B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7B</c:v>
                </c:pt>
                <c:pt idx="1">
                  <c:v>14B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367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sz="1300"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30.0"/>
          <c:min val="0.0"/>
        </c:scaling>
        <c:delete val="0"/>
        <c:axPos val="l"/>
        <c:majorGridlines>
          <c:spPr>
            <a:ln>
              <a:solidFill>
                <a:srgbClr val="D9E2F1"/>
              </a:solidFill>
            </a:ln>
          </c:spPr>
        </c:majorGridlines>
        <c:title>
          <c:tx>
            <c:rich>
              <a:bodyPr wrap="square" lIns="0" rIns="0" tIns="0" bIns="0" anchor="t"/>
              <a:lstStyle/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 b="1">
                    <a:latin typeface="Pretendard"/>
                    <a:ea typeface="Pretendard"/>
                    <a:cs typeface="Pretendard"/>
                  </a:defRPr>
                </a:pPr>
                <a:r>
                  <a:rPr b="1" sz="1400">
                    <a:solidFill>
                      <a:srgbClr val="080808"/>
                    </a:solidFill>
                    <a:latin typeface="Pretendard"/>
                    <a:ea typeface="Pretendard"/>
                    <a:cs typeface="Pretendard"/>
                  </a:rPr>
                  <a:t>TFLOPS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b="1" sz="1250"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400" b="1">
          <a:latin typeface="Pretendard"/>
          <a:ea typeface="Pretendard"/>
          <a:cs typeface="Pretendard"/>
        </a:defRPr>
      </a:pPr>
      <a:endParaRPr lang="en-US" b="1">
        <a:latin typeface="Pretendard"/>
        <a:ea typeface="Pretendard"/>
        <a:cs typeface="Pretendard"/>
      </a:endParaR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TFLOPS</c:v>
                </c:pt>
              </c:strCache>
            </c:strRef>
          </c:tx>
          <c:spPr>
            <a:solidFill>
              <a:srgbClr val="1C50B3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Full</c:v>
                </c:pt>
                <c:pt idx="1">
                  <c:v>Double buffer 제거</c:v>
                </c:pt>
                <c:pt idx="2">
                  <c:v>Slab pool 제거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266.3</c:v>
                </c:pt>
                <c:pt idx="1">
                  <c:v>182.91</c:v>
                </c:pt>
                <c:pt idx="2">
                  <c:v>257.55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sz="1400"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b="1" sz="1600"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30.0"/>
          <c:min val="0.0"/>
        </c:scaling>
        <c:delete val="0"/>
        <c:axPos val="b"/>
        <c:majorGridlines>
          <c:spPr>
            <a:ln>
              <a:solidFill>
                <a:srgbClr val="D9E2F1"/>
              </a:solidFill>
            </a:ln>
          </c:spPr>
        </c:majorGridlines>
        <c:title>
          <c:tx>
            <c:rich>
              <a:bodyPr/>
              <a:lstStyle/>
              <a:p>
                <a:r>
                  <a:rPr b="1" sz="1400">
                    <a:latin typeface="Pretendard"/>
                    <a:ea typeface="Pretendard"/>
                    <a:cs typeface="Pretendard"/>
                  </a:rPr>
                  <a:t>지속 학습 성능 (TFLOPS)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 b="1">
          <a:latin typeface="Pretendard"/>
          <a:ea typeface="Pretendard"/>
          <a:cs typeface="Pretendard"/>
        </a:defRPr>
      </a:pPr>
      <a:endParaRPr lang="en-US">
        <a:latin typeface="Pretendard"/>
        <a:ea typeface="Pretendard"/>
        <a:cs typeface="Pretendard"/>
      </a:endParaR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MegaTrain</c:v>
                </c:pt>
              </c:strCache>
            </c:strRef>
          </c:tx>
          <c:spPr>
            <a:ln w="30480">
              <a:solidFill>
                <a:srgbClr val="1C50B3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C50B3"/>
              </a:solidFill>
              <a:ln>
                <a:solidFill>
                  <a:srgbClr val="1C50B3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28</c:v>
                </c:pt>
                <c:pt idx="1">
                  <c:v>42</c:v>
                </c:pt>
                <c:pt idx="2">
                  <c:v>56</c:v>
                </c:pt>
                <c:pt idx="3">
                  <c:v>84</c:v>
                </c:pt>
                <c:pt idx="4">
                  <c:v>132</c:v>
                </c:pt>
                <c:pt idx="5">
                  <c:v>180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284</c:v>
                </c:pt>
                <c:pt idx="1">
                  <c:v>272</c:v>
                </c:pt>
                <c:pt idx="2">
                  <c:v>264</c:v>
                </c:pt>
                <c:pt idx="3">
                  <c:v>255</c:v>
                </c:pt>
                <c:pt idx="4">
                  <c:v>244</c:v>
                </c:pt>
                <c:pt idx="5">
                  <c:v>227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ZeRO-3</c:v>
                </c:pt>
              </c:strCache>
            </c:strRef>
          </c:tx>
          <c:spPr>
            <a:ln w="30480">
              <a:solidFill>
                <a:srgbClr val="BE1551"/>
              </a:solidFill>
              <a:prstDash val="dash"/>
            </a:ln>
          </c:spPr>
          <c:marker>
            <c:symbol val="square"/>
            <c:size val="6"/>
            <c:spPr>
              <a:solidFill>
                <a:srgbClr val="BE1551"/>
              </a:solidFill>
              <a:ln>
                <a:solidFill>
                  <a:srgbClr val="BE1551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28</c:v>
                </c:pt>
                <c:pt idx="1">
                  <c:v>42</c:v>
                </c:pt>
                <c:pt idx="2">
                  <c:v>56</c:v>
                </c:pt>
                <c:pt idx="3">
                  <c:v>84</c:v>
                </c:pt>
                <c:pt idx="4">
                  <c:v>132</c:v>
                </c:pt>
                <c:pt idx="5">
                  <c:v>180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251</c:v>
                </c:pt>
                <c:pt idx="1">
                  <c:v>232</c:v>
                </c:pt>
                <c:pt idx="2">
                  <c:v>122</c:v>
                </c:pt>
                <c:pt idx="3">
                  <c:v>43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FSDP</c:v>
                </c:pt>
              </c:strCache>
            </c:strRef>
          </c:tx>
          <c:spPr>
            <a:ln w="30480">
              <a:solidFill>
                <a:srgbClr val="75859B"/>
              </a:solidFill>
              <a:prstDash val="sysDot"/>
            </a:ln>
          </c:spPr>
          <c:marker>
            <c:symbol val="triangle"/>
            <c:size val="6"/>
            <c:spPr>
              <a:solidFill>
                <a:srgbClr val="75859B"/>
              </a:solidFill>
              <a:ln>
                <a:solidFill>
                  <a:srgbClr val="75859B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28</c:v>
                </c:pt>
                <c:pt idx="1">
                  <c:v>42</c:v>
                </c:pt>
                <c:pt idx="2">
                  <c:v>56</c:v>
                </c:pt>
                <c:pt idx="3">
                  <c:v>84</c:v>
                </c:pt>
                <c:pt idx="4">
                  <c:v>132</c:v>
                </c:pt>
                <c:pt idx="5">
                  <c:v>180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257</c:v>
                </c:pt>
                <c:pt idx="1">
                  <c:v>199</c:v>
                </c:pt>
                <c:pt idx="2">
                  <c:v>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40.0"/>
          <c:min val="0.0"/>
        </c:scaling>
        <c:delete val="0"/>
        <c:axPos val="l"/>
        <c:majorGridlines>
          <c:spPr>
            <a:ln>
              <a:solidFill>
                <a:srgbClr val="D9E2F1"/>
              </a:solidFill>
            </a:ln>
          </c:spPr>
        </c:majorGridlines>
        <c:title>
          <c:tx>
            <c:rich>
              <a:bodyPr wrap="square" lIns="0" rIns="0" tIns="0" bIns="0" anchor="t"/>
              <a:lstStyle/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 b="1">
                    <a:latin typeface="Pretendard"/>
                    <a:ea typeface="Pretendard"/>
                    <a:cs typeface="Pretendard"/>
                  </a:defRPr>
                </a:pPr>
                <a:r>
                  <a:rPr b="1" sz="1400">
                    <a:solidFill>
                      <a:srgbClr val="080808"/>
                    </a:solidFill>
                    <a:latin typeface="Pretendard"/>
                    <a:ea typeface="Pretendard"/>
                    <a:cs typeface="Pretendard"/>
                  </a:rPr>
                  <a:t>TFLOPS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b="1" sz="1250"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 b="1">
          <a:latin typeface="Pretendard"/>
          <a:ea typeface="Pretendard"/>
          <a:cs typeface="Pretendard"/>
        </a:defRPr>
      </a:pPr>
      <a:endParaRPr lang="en-US" b="1">
        <a:latin typeface="Pretendard"/>
        <a:ea typeface="Pretendard"/>
        <a:cs typeface="Pretendard"/>
      </a:endParaR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MegaTrain</c:v>
                </c:pt>
              </c:strCache>
            </c:strRef>
          </c:tx>
          <c:spPr>
            <a:ln w="30480">
              <a:solidFill>
                <a:srgbClr val="1C50B3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C50B3"/>
              </a:solidFill>
              <a:ln>
                <a:solidFill>
                  <a:srgbClr val="1C50B3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42</c:v>
                </c:pt>
                <c:pt idx="1">
                  <c:v>56</c:v>
                </c:pt>
                <c:pt idx="2">
                  <c:v>84</c:v>
                </c:pt>
                <c:pt idx="3">
                  <c:v>132</c:v>
                </c:pt>
                <c:pt idx="4">
                  <c:v>180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115</c:v>
                </c:pt>
                <c:pt idx="1">
                  <c:v>145</c:v>
                </c:pt>
                <c:pt idx="2">
                  <c:v>207</c:v>
                </c:pt>
                <c:pt idx="3">
                  <c:v>312</c:v>
                </c:pt>
                <c:pt idx="4">
                  <c:v>418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1" sz="1300">
                  <a:latin typeface="Pretendard"/>
                  <a:ea typeface="Pretendard"/>
                  <a:cs typeface="Pretendard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0.0"/>
          <c:min val="0.0"/>
        </c:scaling>
        <c:delete val="0"/>
        <c:axPos val="l"/>
        <c:majorGridlines>
          <c:spPr>
            <a:ln>
              <a:solidFill>
                <a:srgbClr val="D9E2F1"/>
              </a:solidFill>
            </a:ln>
          </c:spPr>
        </c:majorGridlines>
        <c:title>
          <c:tx>
            <c:rich>
              <a:bodyPr wrap="square" lIns="0" rIns="0" tIns="0" bIns="0" anchor="t"/>
              <a:lstStyle/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 b="1">
                    <a:latin typeface="Pretendard"/>
                    <a:ea typeface="Pretendard"/>
                    <a:cs typeface="Pretendard"/>
                  </a:defRPr>
                </a:pPr>
                <a:r>
                  <a:rPr b="1" sz="1400">
                    <a:solidFill>
                      <a:srgbClr val="080808"/>
                    </a:solidFill>
                    <a:latin typeface="Pretendard"/>
                    <a:ea typeface="Pretendard"/>
                    <a:cs typeface="Pretendard"/>
                  </a:rPr>
                  <a:t>GB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 b="1">
          <a:latin typeface="Pretendard"/>
          <a:ea typeface="Pretendard"/>
          <a:cs typeface="Pretendard"/>
        </a:defRPr>
      </a:pPr>
      <a:endParaRPr lang="en-US" b="1">
        <a:latin typeface="Pretendard"/>
        <a:ea typeface="Pretendard"/>
        <a:cs typeface="Pretendard"/>
      </a:endParaR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MegaTrain</c:v>
                </c:pt>
              </c:strCache>
            </c:strRef>
          </c:tx>
          <c:spPr>
            <a:ln w="30480">
              <a:solidFill>
                <a:srgbClr val="1C50B3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C50B3"/>
              </a:solidFill>
              <a:ln>
                <a:solidFill>
                  <a:srgbClr val="1C50B3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2.5</c:v>
                </c:pt>
                <c:pt idx="4">
                  <c:v>3</c:v>
                </c:pt>
                <c:pt idx="5">
                  <c:v>3.5</c:v>
                </c:pt>
                <c:pt idx="6">
                  <c:v>4</c:v>
                </c:pt>
                <c:pt idx="7">
                  <c:v>4.5</c:v>
                </c:pt>
                <c:pt idx="8">
                  <c:v>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406</c:v>
                </c:pt>
                <c:pt idx="1">
                  <c:v>380</c:v>
                </c:pt>
                <c:pt idx="2">
                  <c:v>354</c:v>
                </c:pt>
                <c:pt idx="3">
                  <c:v>280</c:v>
                </c:pt>
                <c:pt idx="4">
                  <c:v>264</c:v>
                </c:pt>
                <c:pt idx="5">
                  <c:v>193</c:v>
                </c:pt>
                <c:pt idx="6">
                  <c:v>145</c:v>
                </c:pt>
                <c:pt idx="7">
                  <c:v>87</c:v>
                </c:pt>
                <c:pt idx="8">
                  <c:v>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ZeRO-3</c:v>
                </c:pt>
              </c:strCache>
            </c:strRef>
          </c:tx>
          <c:spPr>
            <a:ln w="30480">
              <a:solidFill>
                <a:srgbClr val="BE1551"/>
              </a:solidFill>
              <a:prstDash val="dash"/>
            </a:ln>
          </c:spPr>
          <c:marker>
            <c:symbol val="square"/>
            <c:size val="6"/>
            <c:spPr>
              <a:solidFill>
                <a:srgbClr val="BE1551"/>
              </a:solidFill>
              <a:ln>
                <a:solidFill>
                  <a:srgbClr val="BE1551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2.5</c:v>
                </c:pt>
                <c:pt idx="4">
                  <c:v>3</c:v>
                </c:pt>
                <c:pt idx="5">
                  <c:v>3.5</c:v>
                </c:pt>
                <c:pt idx="6">
                  <c:v>4</c:v>
                </c:pt>
                <c:pt idx="7">
                  <c:v>4.5</c:v>
                </c:pt>
                <c:pt idx="8">
                  <c:v>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455</c:v>
                </c:pt>
                <c:pt idx="1">
                  <c:v>434</c:v>
                </c:pt>
                <c:pt idx="2">
                  <c:v>395</c:v>
                </c:pt>
                <c:pt idx="3">
                  <c:v>280</c:v>
                </c:pt>
                <c:pt idx="4">
                  <c:v>262</c:v>
                </c:pt>
                <c:pt idx="5">
                  <c:v>160</c:v>
                </c:pt>
                <c:pt idx="6">
                  <c:v>136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FSDP</c:v>
                </c:pt>
              </c:strCache>
            </c:strRef>
          </c:tx>
          <c:spPr>
            <a:ln w="30480">
              <a:solidFill>
                <a:srgbClr val="75859B"/>
              </a:solidFill>
              <a:prstDash val="sysDot"/>
            </a:ln>
          </c:spPr>
          <c:marker>
            <c:symbol val="triangle"/>
            <c:size val="6"/>
            <c:spPr>
              <a:solidFill>
                <a:srgbClr val="75859B"/>
              </a:solidFill>
              <a:ln>
                <a:solidFill>
                  <a:srgbClr val="75859B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2.5</c:v>
                </c:pt>
                <c:pt idx="4">
                  <c:v>3</c:v>
                </c:pt>
                <c:pt idx="5">
                  <c:v>3.5</c:v>
                </c:pt>
                <c:pt idx="6">
                  <c:v>4</c:v>
                </c:pt>
                <c:pt idx="7">
                  <c:v>4.5</c:v>
                </c:pt>
                <c:pt idx="8">
                  <c:v>5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501</c:v>
                </c:pt>
                <c:pt idx="1">
                  <c:v>449</c:v>
                </c:pt>
                <c:pt idx="2">
                  <c:v>400</c:v>
                </c:pt>
                <c:pt idx="3">
                  <c:v>361</c:v>
                </c:pt>
                <c:pt idx="4">
                  <c:v>281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00.0"/>
          <c:min val="0.0"/>
        </c:scaling>
        <c:delete val="0"/>
        <c:axPos val="l"/>
        <c:majorGridlines>
          <c:spPr>
            <a:ln>
              <a:solidFill>
                <a:srgbClr val="D9E2F1"/>
              </a:solidFill>
            </a:ln>
          </c:spPr>
        </c:majorGridlines>
        <c:title>
          <c:tx>
            <c:rich>
              <a:bodyPr wrap="square" lIns="0" rIns="0" tIns="0" bIns="0" anchor="t"/>
              <a:lstStyle/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 b="1">
                    <a:latin typeface="Pretendard"/>
                    <a:ea typeface="Pretendard"/>
                    <a:cs typeface="Pretendard"/>
                  </a:defRPr>
                </a:pPr>
                <a:r>
                  <a:rPr b="1" sz="1400">
                    <a:solidFill>
                      <a:srgbClr val="080808"/>
                    </a:solidFill>
                    <a:latin typeface="Pretendard"/>
                    <a:ea typeface="Pretendard"/>
                    <a:cs typeface="Pretendard"/>
                  </a:rPr>
                  <a:t>TFLOPS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b="1" sz="1250"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 b="1">
          <a:latin typeface="Pretendard"/>
          <a:ea typeface="Pretendard"/>
          <a:cs typeface="Pretendard"/>
        </a:defRPr>
      </a:pPr>
      <a:endParaRPr lang="en-US" b="1">
        <a:latin typeface="Pretendard"/>
        <a:ea typeface="Pretendard"/>
        <a:cs typeface="Pretendard"/>
      </a:endParaR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MegaTrain</c:v>
                </c:pt>
              </c:strCache>
            </c:strRef>
          </c:tx>
          <c:spPr>
            <a:ln w="30480">
              <a:solidFill>
                <a:srgbClr val="1C50B3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C50B3"/>
              </a:solidFill>
              <a:ln>
                <a:solidFill>
                  <a:srgbClr val="1C50B3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2.5</c:v>
                </c:pt>
                <c:pt idx="4">
                  <c:v>3</c:v>
                </c:pt>
                <c:pt idx="5">
                  <c:v>3.5</c:v>
                </c:pt>
                <c:pt idx="6">
                  <c:v>4</c:v>
                </c:pt>
                <c:pt idx="7">
                  <c:v>4.5</c:v>
                </c:pt>
                <c:pt idx="8">
                  <c:v>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</c:v>
                </c:pt>
                <c:pt idx="1">
                  <c:v>78</c:v>
                </c:pt>
                <c:pt idx="2">
                  <c:v>92</c:v>
                </c:pt>
                <c:pt idx="3">
                  <c:v>145</c:v>
                </c:pt>
                <c:pt idx="4">
                  <c:v>174</c:v>
                </c:pt>
                <c:pt idx="5">
                  <c:v>263</c:v>
                </c:pt>
                <c:pt idx="6">
                  <c:v>308</c:v>
                </c:pt>
                <c:pt idx="7">
                  <c:v>463</c:v>
                </c:pt>
                <c:pt idx="8">
                  <c:v>549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ZeRO-3</c:v>
                </c:pt>
              </c:strCache>
            </c:strRef>
          </c:tx>
          <c:spPr>
            <a:ln w="30480">
              <a:solidFill>
                <a:srgbClr val="BE1551"/>
              </a:solidFill>
              <a:prstDash val="dash"/>
            </a:ln>
          </c:spPr>
          <c:marker>
            <c:symbol val="square"/>
            <c:size val="6"/>
            <c:spPr>
              <a:solidFill>
                <a:srgbClr val="BE1551"/>
              </a:solidFill>
              <a:ln>
                <a:solidFill>
                  <a:srgbClr val="BE1551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2.5</c:v>
                </c:pt>
                <c:pt idx="4">
                  <c:v>3</c:v>
                </c:pt>
                <c:pt idx="5">
                  <c:v>3.5</c:v>
                </c:pt>
                <c:pt idx="6">
                  <c:v>4</c:v>
                </c:pt>
                <c:pt idx="7">
                  <c:v>4.5</c:v>
                </c:pt>
                <c:pt idx="8">
                  <c:v>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48</c:v>
                </c:pt>
                <c:pt idx="1">
                  <c:v>86</c:v>
                </c:pt>
                <c:pt idx="2">
                  <c:v>153</c:v>
                </c:pt>
                <c:pt idx="3">
                  <c:v>184</c:v>
                </c:pt>
                <c:pt idx="4">
                  <c:v>295</c:v>
                </c:pt>
                <c:pt idx="5">
                  <c:v>353</c:v>
                </c:pt>
                <c:pt idx="6">
                  <c:v>526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50.0"/>
          <c:min val="0.0"/>
        </c:scaling>
        <c:delete val="0"/>
        <c:axPos val="l"/>
        <c:majorGridlines>
          <c:spPr>
            <a:ln>
              <a:solidFill>
                <a:srgbClr val="D9E2F1"/>
              </a:solidFill>
            </a:ln>
          </c:spPr>
        </c:majorGridlines>
        <c:title>
          <c:tx>
            <c:rich>
              <a:bodyPr wrap="square" lIns="0" rIns="0" tIns="0" bIns="0" anchor="t"/>
              <a:lstStyle/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 b="1">
                    <a:latin typeface="Pretendard"/>
                    <a:ea typeface="Pretendard"/>
                    <a:cs typeface="Pretendard"/>
                  </a:defRPr>
                </a:pPr>
                <a:r>
                  <a:rPr b="1" sz="1400">
                    <a:solidFill>
                      <a:srgbClr val="080808"/>
                    </a:solidFill>
                    <a:latin typeface="Pretendard"/>
                    <a:ea typeface="Pretendard"/>
                    <a:cs typeface="Pretendard"/>
                  </a:rPr>
                  <a:t>GB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b="1" sz="1250"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 b="1">
          <a:latin typeface="Pretendard"/>
          <a:ea typeface="Pretendard"/>
          <a:cs typeface="Pretendard"/>
        </a:defRPr>
      </a:pPr>
      <a:endParaRPr lang="en-US" b="1">
        <a:latin typeface="Pretendard"/>
        <a:ea typeface="Pretendard"/>
        <a:cs typeface="Pretendard"/>
      </a:endParaR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MegaTrain</c:v>
                </c:pt>
              </c:strCache>
            </c:strRef>
          </c:tx>
          <c:spPr>
            <a:ln w="30480">
              <a:solidFill>
                <a:srgbClr val="1C50B3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C50B3"/>
              </a:solidFill>
              <a:ln>
                <a:solidFill>
                  <a:srgbClr val="1C50B3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1K</c:v>
                </c:pt>
                <c:pt idx="1">
                  <c:v>8K</c:v>
                </c:pt>
                <c:pt idx="2">
                  <c:v>32K</c:v>
                </c:pt>
                <c:pt idx="3">
                  <c:v>128K</c:v>
                </c:pt>
                <c:pt idx="4">
                  <c:v>256K</c:v>
                </c:pt>
                <c:pt idx="5">
                  <c:v>512K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284.7</c:v>
                </c:pt>
                <c:pt idx="1">
                  <c:v>294.5</c:v>
                </c:pt>
                <c:pt idx="2">
                  <c:v>316.7</c:v>
                </c:pt>
                <c:pt idx="3">
                  <c:v>305.3</c:v>
                </c:pt>
                <c:pt idx="4">
                  <c:v>401.2</c:v>
                </c:pt>
                <c:pt idx="5">
                  <c:v>407.4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1" sz="1300">
                  <a:latin typeface="Pretendard"/>
                  <a:ea typeface="Pretendard"/>
                  <a:cs typeface="Pretendard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0.0"/>
          <c:min val="0.0"/>
        </c:scaling>
        <c:delete val="0"/>
        <c:axPos val="l"/>
        <c:majorGridlines>
          <c:spPr>
            <a:ln>
              <a:solidFill>
                <a:srgbClr val="D9E2F1"/>
              </a:solidFill>
            </a:ln>
          </c:spPr>
        </c:majorGridlines>
        <c:title>
          <c:tx>
            <c:rich>
              <a:bodyPr wrap="square" lIns="0" rIns="0" tIns="0" bIns="0" anchor="t"/>
              <a:lstStyle/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 b="1">
                    <a:latin typeface="Pretendard"/>
                    <a:ea typeface="Pretendard"/>
                    <a:cs typeface="Pretendard"/>
                  </a:defRPr>
                </a:pPr>
                <a:r>
                  <a:rPr b="1" sz="1400">
                    <a:solidFill>
                      <a:srgbClr val="080808"/>
                    </a:solidFill>
                    <a:latin typeface="Pretendard"/>
                    <a:ea typeface="Pretendard"/>
                    <a:cs typeface="Pretendard"/>
                  </a:rPr>
                  <a:t>TFLOPS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 b="1">
          <a:latin typeface="Pretendard"/>
          <a:ea typeface="Pretendard"/>
          <a:cs typeface="Pretendard"/>
        </a:defRPr>
      </a:pPr>
      <a:endParaRPr lang="en-US" b="1">
        <a:latin typeface="Pretendard"/>
        <a:ea typeface="Pretendard"/>
        <a:cs typeface="Pretendard"/>
      </a:endParaR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MegaTrain</c:v>
                </c:pt>
              </c:strCache>
            </c:strRef>
          </c:tx>
          <c:spPr>
            <a:ln w="30480">
              <a:solidFill>
                <a:srgbClr val="1C50B3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C50B3"/>
              </a:solidFill>
              <a:ln>
                <a:solidFill>
                  <a:srgbClr val="1C50B3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1K</c:v>
                </c:pt>
                <c:pt idx="1">
                  <c:v>8K</c:v>
                </c:pt>
                <c:pt idx="2">
                  <c:v>32K</c:v>
                </c:pt>
                <c:pt idx="3">
                  <c:v>128K</c:v>
                </c:pt>
                <c:pt idx="4">
                  <c:v>256K</c:v>
                </c:pt>
                <c:pt idx="5">
                  <c:v>512K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6014.7874306839185</c:v>
                </c:pt>
                <c:pt idx="1">
                  <c:v>6328.800988875155</c:v>
                </c:pt>
                <c:pt idx="2">
                  <c:v>6109.384711000622</c:v>
                </c:pt>
                <c:pt idx="3">
                  <c:v>5017.221584385764</c:v>
                </c:pt>
                <c:pt idx="4">
                  <c:v>1110.1228293096146</c:v>
                </c:pt>
                <c:pt idx="5">
                  <c:v>601.6754647693367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1" sz="1300">
                  <a:latin typeface="Pretendard"/>
                  <a:ea typeface="Pretendard"/>
                  <a:cs typeface="Pretendard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500.0"/>
          <c:min val="0.0"/>
        </c:scaling>
        <c:delete val="0"/>
        <c:axPos val="l"/>
        <c:majorGridlines>
          <c:spPr>
            <a:ln>
              <a:solidFill>
                <a:srgbClr val="D9E2F1"/>
              </a:solidFill>
            </a:ln>
          </c:spPr>
        </c:majorGridlines>
        <c:title>
          <c:tx>
            <c:rich>
              <a:bodyPr wrap="square" lIns="0" rIns="0" tIns="0" bIns="0" anchor="t"/>
              <a:lstStyle/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 b="1">
                    <a:latin typeface="Pretendard"/>
                    <a:ea typeface="Pretendard"/>
                    <a:cs typeface="Pretendard"/>
                  </a:defRPr>
                </a:pPr>
                <a:r>
                  <a:rPr b="1" sz="1400">
                    <a:solidFill>
                      <a:srgbClr val="080808"/>
                    </a:solidFill>
                    <a:latin typeface="Pretendard"/>
                    <a:ea typeface="Pretendard"/>
                    <a:cs typeface="Pretendard"/>
                  </a:rPr>
                  <a:t>학습 토큰/s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 b="1">
          <a:latin typeface="Pretendard"/>
          <a:ea typeface="Pretendard"/>
          <a:cs typeface="Pretendard"/>
        </a:defRPr>
      </a:pPr>
      <a:endParaRPr lang="en-US" b="1">
        <a:latin typeface="Pretendard"/>
        <a:ea typeface="Pretendard"/>
        <a:cs typeface="Pretendard"/>
      </a:endParaR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MegaTrain</c:v>
                </c:pt>
              </c:strCache>
            </c:strRef>
          </c:tx>
          <c:spPr>
            <a:solidFill>
              <a:srgbClr val="1C50B3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7B</c:v>
                </c:pt>
                <c:pt idx="1">
                  <c:v>14B</c:v>
                </c:pt>
                <c:pt idx="2">
                  <c:v>32B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128</c:v>
                </c:pt>
                <c:pt idx="1">
                  <c:v>122</c:v>
                </c:pt>
                <c:pt idx="2">
                  <c:v>114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</c:v>
                </c:pt>
              </c:strCache>
            </c:strRef>
          </c:tx>
          <c:spPr>
            <a:solidFill>
              <a:srgbClr val="BE1551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7B</c:v>
                </c:pt>
                <c:pt idx="1">
                  <c:v>14B</c:v>
                </c:pt>
                <c:pt idx="2">
                  <c:v>32B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</c:v>
                </c:pt>
                <c:pt idx="1">
                  <c:v>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ZeRO-3</c:v>
                </c:pt>
              </c:strCache>
            </c:strRef>
          </c:tx>
          <c:spPr>
            <a:solidFill>
              <a:srgbClr val="75859B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7B</c:v>
                </c:pt>
                <c:pt idx="1">
                  <c:v>14B</c:v>
                </c:pt>
                <c:pt idx="2">
                  <c:v>32B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36</c:v>
                </c:pt>
                <c:pt idx="1">
                  <c:v>10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sz="1300"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.0"/>
          <c:min val="0.0"/>
        </c:scaling>
        <c:delete val="0"/>
        <c:axPos val="l"/>
        <c:majorGridlines>
          <c:spPr>
            <a:ln>
              <a:solidFill>
                <a:srgbClr val="D9E2F1"/>
              </a:solidFill>
            </a:ln>
          </c:spPr>
        </c:majorGridlines>
        <c:title>
          <c:tx>
            <c:rich>
              <a:bodyPr wrap="square" lIns="0" rIns="0" tIns="0" bIns="0" anchor="t"/>
              <a:lstStyle/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 b="1">
                    <a:latin typeface="Pretendard"/>
                    <a:ea typeface="Pretendard"/>
                    <a:cs typeface="Pretendard"/>
                  </a:defRPr>
                </a:pPr>
                <a:r>
                  <a:rPr b="1" sz="1400">
                    <a:solidFill>
                      <a:srgbClr val="080808"/>
                    </a:solidFill>
                    <a:latin typeface="Pretendard"/>
                    <a:ea typeface="Pretendard"/>
                    <a:cs typeface="Pretendard"/>
                  </a:rPr>
                  <a:t>TFLOPS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b="1" sz="1250"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400" b="1">
          <a:latin typeface="Pretendard"/>
          <a:ea typeface="Pretendard"/>
          <a:cs typeface="Pretendard"/>
        </a:defRPr>
      </a:pPr>
      <a:endParaRPr lang="en-US" b="1">
        <a:latin typeface="Pretendard"/>
        <a:ea typeface="Pretendard"/>
        <a:cs typeface="Pretendard"/>
      </a:endParaR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MegaTrain</c:v>
                </c:pt>
              </c:strCache>
            </c:strRef>
          </c:tx>
          <c:spPr>
            <a:solidFill>
              <a:srgbClr val="1C50B3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3B</c:v>
                </c:pt>
                <c:pt idx="1">
                  <c:v>7B</c:v>
                </c:pt>
                <c:pt idx="2">
                  <c:v>14B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49.7</c:v>
                </c:pt>
                <c:pt idx="1">
                  <c:v>55.73</c:v>
                </c:pt>
                <c:pt idx="2">
                  <c:v>56.82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ZeRO-3</c:v>
                </c:pt>
              </c:strCache>
            </c:strRef>
          </c:tx>
          <c:spPr>
            <a:solidFill>
              <a:srgbClr val="BE1551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3B</c:v>
                </c:pt>
                <c:pt idx="1">
                  <c:v>7B</c:v>
                </c:pt>
                <c:pt idx="2">
                  <c:v>14B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23.89</c:v>
                </c:pt>
                <c:pt idx="1">
                  <c:v>27.55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sz="1300"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 val="0"/>
        <c:axPos val="l"/>
        <c:majorGridlines>
          <c:spPr>
            <a:ln>
              <a:solidFill>
                <a:srgbClr val="D9E2F1"/>
              </a:solidFill>
            </a:ln>
          </c:spPr>
        </c:majorGridlines>
        <c:title>
          <c:tx>
            <c:rich>
              <a:bodyPr wrap="square" lIns="0" rIns="0" tIns="0" bIns="0" anchor="t"/>
              <a:lstStyle/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 b="1">
                    <a:latin typeface="Pretendard"/>
                    <a:ea typeface="Pretendard"/>
                    <a:cs typeface="Pretendard"/>
                  </a:defRPr>
                </a:pPr>
                <a:r>
                  <a:rPr b="1" sz="1400">
                    <a:solidFill>
                      <a:srgbClr val="080808"/>
                    </a:solidFill>
                    <a:latin typeface="Pretendard"/>
                    <a:ea typeface="Pretendard"/>
                    <a:cs typeface="Pretendard"/>
                  </a:rPr>
                  <a:t>TFLOPS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b="1" sz="1250"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400" b="1">
          <a:latin typeface="Pretendard"/>
          <a:ea typeface="Pretendard"/>
          <a:cs typeface="Pretendard"/>
        </a:defRPr>
      </a:pPr>
      <a:endParaRPr lang="en-US" b="1">
        <a:latin typeface="Pretendard"/>
        <a:ea typeface="Pretendard"/>
        <a:cs typeface="Pretendard"/>
      </a:endParaR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MegaTrain</c:v>
                </c:pt>
              </c:strCache>
            </c:strRef>
          </c:tx>
          <c:spPr>
            <a:solidFill>
              <a:srgbClr val="1C50B3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3B</c:v>
                </c:pt>
                <c:pt idx="1">
                  <c:v>7B</c:v>
                </c:pt>
                <c:pt idx="2">
                  <c:v>14B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33.18</c:v>
                </c:pt>
                <c:pt idx="1">
                  <c:v>35.09</c:v>
                </c:pt>
                <c:pt idx="2">
                  <c:v>30.19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ZeRO-3</c:v>
                </c:pt>
              </c:strCache>
            </c:strRef>
          </c:tx>
          <c:spPr>
            <a:solidFill>
              <a:srgbClr val="BE1551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3B</c:v>
                </c:pt>
                <c:pt idx="1">
                  <c:v>7B</c:v>
                </c:pt>
                <c:pt idx="2">
                  <c:v>14B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23.91</c:v>
                </c:pt>
                <c:pt idx="1">
                  <c:v>27.49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sz="1300"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0"/>
          <c:min val="0.0"/>
        </c:scaling>
        <c:delete val="0"/>
        <c:axPos val="l"/>
        <c:majorGridlines>
          <c:spPr>
            <a:ln>
              <a:solidFill>
                <a:srgbClr val="D9E2F1"/>
              </a:solidFill>
            </a:ln>
          </c:spPr>
        </c:majorGridlines>
        <c:title>
          <c:tx>
            <c:rich>
              <a:bodyPr wrap="square" lIns="0" rIns="0" tIns="0" bIns="0" anchor="t"/>
              <a:lstStyle/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 b="1">
                    <a:latin typeface="Pretendard"/>
                    <a:ea typeface="Pretendard"/>
                    <a:cs typeface="Pretendard"/>
                  </a:defRPr>
                </a:pPr>
                <a:r>
                  <a:rPr b="1" sz="1400">
                    <a:solidFill>
                      <a:srgbClr val="080808"/>
                    </a:solidFill>
                    <a:latin typeface="Pretendard"/>
                    <a:ea typeface="Pretendard"/>
                    <a:cs typeface="Pretendard"/>
                  </a:rPr>
                  <a:t>TFLOPS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b="1" sz="1250"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400" b="1">
          <a:latin typeface="Pretendard"/>
          <a:ea typeface="Pretendard"/>
          <a:cs typeface="Pretendard"/>
        </a:defRPr>
      </a:pPr>
      <a:endParaRPr lang="en-US" b="1">
        <a:latin typeface="Pretendard"/>
        <a:ea typeface="Pretendard"/>
        <a:cs typeface="Pretendard"/>
      </a:endParaRPr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LYuanGod/MegaTrain" TargetMode="External"/><Relationship Id="rId3" Type="http://schemas.openxmlformats.org/officeDocument/2006/relationships/hyperlink" Target="https://arxiv.org/abs/2604.0509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Background"/>
          <p:cNvSpPr/>
          <p:nvPr/>
        </p:nvSpPr>
        <p:spPr>
          <a:xfrm>
            <a:off x="0" y="0"/>
            <a:ext cx="12192000" cy="567690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CoverSeparator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4" name="Logo"/>
          <p:cNvSpPr txBox="1"/>
          <p:nvPr/>
        </p:nvSpPr>
        <p:spPr>
          <a:xfrm>
            <a:off x="190500" y="0"/>
            <a:ext cx="2857500" cy="863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4056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5" name="CoverTitle"/>
          <p:cNvSpPr txBox="1"/>
          <p:nvPr/>
        </p:nvSpPr>
        <p:spPr>
          <a:xfrm>
            <a:off x="476250" y="1295400"/>
            <a:ext cx="11239500" cy="241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54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MegaTrain</a:t>
            </a:r>
            <a:br/>
            <a:r>
              <a:rPr b="1" sz="54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단일 GPU로 100B+ 모델 학습</a:t>
            </a:r>
          </a:p>
        </p:txBody>
      </p:sp>
      <p:sp>
        <p:nvSpPr>
          <p:cNvPr id="6" name="Author"/>
          <p:cNvSpPr txBox="1"/>
          <p:nvPr/>
        </p:nvSpPr>
        <p:spPr>
          <a:xfrm>
            <a:off x="285750" y="6019800"/>
            <a:ext cx="116205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Zhengqing Yuan 외 3인  ·  University of Notre Dame / Lehigh University</a:t>
            </a:r>
          </a:p>
        </p:txBody>
      </p:sp>
      <p:sp>
        <p:nvSpPr>
          <p:cNvPr id="7" name="PaperTitle"/>
          <p:cNvSpPr txBox="1"/>
          <p:nvPr/>
        </p:nvSpPr>
        <p:spPr>
          <a:xfrm>
            <a:off x="476250" y="3911600"/>
            <a:ext cx="11239500" cy="977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Full Precision Training of 100B+ Parameter</a:t>
            </a:r>
            <a:br/>
            <a:r>
              <a:rPr b="1" sz="24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Large Language Models on a Single GPU</a:t>
            </a:r>
          </a:p>
        </p:txBody>
      </p:sp>
      <p:sp>
        <p:nvSpPr>
          <p:cNvPr id="8" name="CoverContext"/>
          <p:cNvSpPr txBox="1"/>
          <p:nvPr/>
        </p:nvSpPr>
        <p:spPr>
          <a:xfrm>
            <a:off x="476250" y="5054600"/>
            <a:ext cx="11239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논문 세미나  |  arXiv v1 · 2026.04.06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발표 흐름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ContentsTitle1"/>
          <p:cNvSpPr txBox="1"/>
          <p:nvPr/>
        </p:nvSpPr>
        <p:spPr>
          <a:xfrm>
            <a:off x="4543425" y="1244600"/>
            <a:ext cx="728662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256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1. 문제와 배경  ·  03–08</a:t>
            </a:r>
          </a:p>
        </p:txBody>
      </p:sp>
      <p:sp>
        <p:nvSpPr>
          <p:cNvPr id="7" name="ContentsBody1"/>
          <p:cNvSpPr txBox="1"/>
          <p:nvPr/>
        </p:nvSpPr>
        <p:spPr>
          <a:xfrm>
            <a:off x="4781550" y="1841500"/>
            <a:ext cx="7048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LLM 학습 메모리와 CPU–GPU 계층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호스트 중심 설계가 필요한 이유</a:t>
            </a:r>
          </a:p>
        </p:txBody>
      </p:sp>
      <p:sp>
        <p:nvSpPr>
          <p:cNvPr id="8" name="ContentsTitle2"/>
          <p:cNvSpPr txBox="1"/>
          <p:nvPr/>
        </p:nvSpPr>
        <p:spPr>
          <a:xfrm>
            <a:off x="4543425" y="2997200"/>
            <a:ext cx="728662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256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2. MegaTrain 시스템  ·  09–18</a:t>
            </a:r>
          </a:p>
        </p:txBody>
      </p:sp>
      <p:sp>
        <p:nvSpPr>
          <p:cNvPr id="9" name="ContentsBody2"/>
          <p:cNvSpPr txBox="1"/>
          <p:nvPr/>
        </p:nvSpPr>
        <p:spPr>
          <a:xfrm>
            <a:off x="4781550" y="3568700"/>
            <a:ext cx="7048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층별 스트리밍과 블록 재계산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Double buffering과 stateless templates</a:t>
            </a:r>
          </a:p>
        </p:txBody>
      </p:sp>
      <p:sp>
        <p:nvSpPr>
          <p:cNvPr id="10" name="ContentsTitle3"/>
          <p:cNvSpPr txBox="1"/>
          <p:nvPr/>
        </p:nvSpPr>
        <p:spPr>
          <a:xfrm>
            <a:off x="4543425" y="4749800"/>
            <a:ext cx="728662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256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3. 실험과 해석  ·  19–35</a:t>
            </a:r>
          </a:p>
        </p:txBody>
      </p:sp>
      <p:sp>
        <p:nvSpPr>
          <p:cNvPr id="11" name="ContentsBody3"/>
          <p:cNvSpPr txBox="1"/>
          <p:nvPr/>
        </p:nvSpPr>
        <p:spPr>
          <a:xfrm>
            <a:off x="4781550" y="5321300"/>
            <a:ext cx="7048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모델 크기·깊이·폭·문맥 길이 확장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하드웨어 검증, 수치 주의점, 토론</a:t>
            </a:r>
          </a:p>
        </p:txBody>
      </p:sp>
      <p:sp>
        <p:nvSpPr>
          <p:cNvPr id="12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전체 구성</a:t>
            </a:r>
          </a:p>
        </p:txBody>
      </p:sp>
      <p:sp>
        <p:nvSpPr>
          <p:cNvPr id="13" name="ContentsQuestion"/>
          <p:cNvSpPr txBox="1"/>
          <p:nvPr/>
        </p:nvSpPr>
        <p:spPr>
          <a:xfrm>
            <a:off x="508000" y="2159000"/>
            <a:ext cx="3302000" cy="260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5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핵심 질문</a:t>
            </a:r>
            <a:br/>
            <a:r>
              <a:rPr b="1" sz="25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/>
            </a:r>
            <a:br/>
            <a:r>
              <a:rPr b="1" sz="25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GPU 한 개로</a:t>
            </a:r>
            <a:br/>
            <a:r>
              <a:rPr b="1" sz="25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큰 모델의 학습 상태를</a:t>
            </a:r>
            <a:br/>
            <a:r>
              <a:rPr b="1" sz="25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어떻게 다룰까?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논문 한눈에 보기: 호스트 중심 학습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Body"/>
          <p:cNvSpPr txBox="1"/>
          <p:nvPr/>
        </p:nvSpPr>
        <p:spPr>
          <a:xfrm>
            <a:off x="561975" y="1390650"/>
            <a:ext cx="11068050" cy="464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목표: 제한된 GPU 메모리에서 대규모 모델의 학습 수행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설계: 파라미터·기울기·Adam 상태를 CPU 메모리에 저장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실행: 층별 스트리밍 + double buffering + stateless templates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보고 결과: H200 한 개와 1.5 TB 호스트 메모리에서 최대 120B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추가 결과: GH200의 14B에서 ZeRO-3 대비 1.84×, 7B의 512K 문맥 학습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pp.1–2, Abstract, §1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 메모리: 파라미터보다 상태가 더 큼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quation"/>
          <p:cNvSpPr txBox="1"/>
          <p:nvPr/>
        </p:nvSpPr>
        <p:spPr>
          <a:xfrm>
            <a:off x="342900" y="1460500"/>
            <a:ext cx="1148715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지속 상태 ≈ (2 + 2 + 4 + 4) × P = 12P bytes</a:t>
            </a:r>
          </a:p>
        </p:txBody>
      </p:sp>
      <p:sp>
        <p:nvSpPr>
          <p:cNvPr id="7" name="ExplanationBox"/>
          <p:cNvSpPr/>
          <p:nvPr/>
        </p:nvSpPr>
        <p:spPr>
          <a:xfrm>
            <a:off x="257175" y="2413000"/>
            <a:ext cx="11677650" cy="39306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ExplanationBoxInterior"/>
          <p:cNvSpPr/>
          <p:nvPr/>
        </p:nvSpPr>
        <p:spPr>
          <a:xfrm>
            <a:off x="409575" y="2565400"/>
            <a:ext cx="11372850" cy="3625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9" name="Body"/>
          <p:cNvSpPr txBox="1"/>
          <p:nvPr/>
        </p:nvSpPr>
        <p:spPr>
          <a:xfrm>
            <a:off x="561975" y="2717800"/>
            <a:ext cx="11068050" cy="332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BF16 가중치 2 B + BF16 기울기 2 B / 파라미터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FP32 Adam 모멘트 m, v: 각각 4 B / 파라미터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70B × 12 B = 최소 840 GB의 지속 상태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여기에 활성값·체크포인트·연산 workspace 메모리 추가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p.2, §2.1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정밀도와 모델 규모를 구분해서 읽기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Body"/>
          <p:cNvSpPr txBox="1"/>
          <p:nvPr/>
        </p:nvSpPr>
        <p:spPr>
          <a:xfrm>
            <a:off x="561975" y="1390650"/>
            <a:ext cx="11068050" cy="464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논문 제목의 표기: Full Precision Training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본문의 상태 구성: BF16 가중치·기울기, FP32 Adam 모멘트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정밀도 해석: 실제 BF16/FP32 구성을 함께 명시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120B 실험 모델: GPT-OSS-120B, MoE(전문가 혼합)의 총 파라미터 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세미나 해석: dense 모델과 MoE 모델의 계산량·상태 구성을 구분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pp.2, 5, 9, §2.1, Table 2, Appendix A.1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메모리 계층: 용량과 전송 속도의 교환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9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일반 계층 사양과 실제 평가 장비를 구분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Table 1은 일반 계층 사양; H200 평가 장비는 PCIe Gen4 (§4.1)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링크 peak, 호스트 메모리 대역폭, 실효 전송 속도는 서로 다른 값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pp.2, 4, Table 1, §2.2, §4.1</a:t>
            </a:r>
          </a:p>
        </p:txBody>
      </p:sp>
      <p:graphicFrame>
        <p:nvGraphicFramePr>
          <p:cNvPr id="12" name="EditableTable"/>
          <p:cNvGraphicFramePr>
            <a:graphicFrameLocks noGrp="1"/>
          </p:cNvGraphicFramePr>
          <p:nvPr/>
        </p:nvGraphicFramePr>
        <p:xfrm>
          <a:off x="476250" y="1162050"/>
          <a:ext cx="11239500" cy="3028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5500"/>
                <a:gridCol w="3937000"/>
                <a:gridCol w="3937000"/>
              </a:tblGrid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계층 / 연결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H200 계열 (Table 1)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GH200 (Table 1)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GPU HBM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141 GB · 4.8 TB/s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96 GB · 4.0 TB/s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호스트 메모리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DDR5 · 2–4 TB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LPDDR5X · 480 GB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호스트 메모리 대역폭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약 200 GB/s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512 GB/s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CPU–GPU 링크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PCIe Gen5 · 128 GB/s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NVLink-C2C · 900 GB/s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NVMe SSD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10+ TB · 5–14 GB/s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10+ TB · 5–14 GB/s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설계 전환: CPU가 주 저장소가 됨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LeftTitle"/>
          <p:cNvSpPr txBox="1"/>
          <p:nvPr/>
        </p:nvSpPr>
        <p:spPr>
          <a:xfrm>
            <a:off x="342900" y="1130300"/>
            <a:ext cx="5334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기존 GPU 중심 관점</a:t>
            </a:r>
          </a:p>
        </p:txBody>
      </p:sp>
      <p:sp>
        <p:nvSpPr>
          <p:cNvPr id="7" name="RightTitle"/>
          <p:cNvSpPr txBox="1"/>
          <p:nvPr/>
        </p:nvSpPr>
        <p:spPr>
          <a:xfrm>
            <a:off x="6115050" y="1130300"/>
            <a:ext cx="5715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MegaTrain의 호스트 중심 관점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342900" y="6159500"/>
            <a:ext cx="1148715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상태의 위치와 GPU의 역할을 함께 바꿈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pp.1–3, §1–3.1</a:t>
            </a:r>
          </a:p>
        </p:txBody>
      </p:sp>
      <p:sp>
        <p:nvSpPr>
          <p:cNvPr id="12" name="GPU resident"/>
          <p:cNvSpPr/>
          <p:nvPr/>
        </p:nvSpPr>
        <p:spPr>
          <a:xfrm>
            <a:off x="571500" y="1854200"/>
            <a:ext cx="4876800" cy="7620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GPU: 모델 상태의 중심</a:t>
            </a:r>
          </a:p>
        </p:txBody>
      </p:sp>
      <p:sp>
        <p:nvSpPr>
          <p:cNvPr id="13" name="GPU description"/>
          <p:cNvSpPr txBox="1"/>
          <p:nvPr/>
        </p:nvSpPr>
        <p:spPr>
          <a:xfrm>
            <a:off x="571500" y="2946400"/>
            <a:ext cx="4876800" cy="234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모델 상태의 GPU 상주를 기준으로 실행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CPU 메모리는 offload 공간으로 사용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GPU 메모리 한계가 확장의 병목</a:t>
            </a:r>
          </a:p>
        </p:txBody>
      </p:sp>
      <p:sp>
        <p:nvSpPr>
          <p:cNvPr id="14" name="CPU master"/>
          <p:cNvSpPr/>
          <p:nvPr/>
        </p:nvSpPr>
        <p:spPr>
          <a:xfrm>
            <a:off x="6337300" y="1854200"/>
            <a:ext cx="5257800" cy="7620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CPU: 지속 상태의 주 저장소</a:t>
            </a:r>
          </a:p>
        </p:txBody>
      </p:sp>
      <p:sp>
        <p:nvSpPr>
          <p:cNvPr id="15" name="CPU description"/>
          <p:cNvSpPr txBox="1"/>
          <p:nvPr/>
        </p:nvSpPr>
        <p:spPr>
          <a:xfrm>
            <a:off x="6337300" y="2946400"/>
            <a:ext cx="5257800" cy="234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CPU에 파라미터·기울기·Adam 저장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GPU는 현재 층을 실행하는 캐시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필요한 가중치를 공급하고 회수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실행 과제: 저장 이후에 해결할 세 가지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Body"/>
          <p:cNvSpPr txBox="1"/>
          <p:nvPr/>
        </p:nvSpPr>
        <p:spPr>
          <a:xfrm>
            <a:off x="561975" y="1390650"/>
            <a:ext cx="11068050" cy="464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전송 병목: 층마다 가중치를 CPU에서 GPU로 가져와야 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실행 의존성: 가중치 준비·역전파 완료·버퍼 재사용 순서를 보장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텐서 수명: 필요가 끝난 가중치·기울기·활성값을 즉시 해제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재계산 비용: 활성값 저장을 줄이는 대신 추가 forward 수행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목표: 작은 작업 집합을 유지하면서 전송을 계산과 중첩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pp.2–4, §2.3, §3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시스템 아키텍처: 두 메모리의 역할 분리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CPU store ↔ GPU execution cache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CPU: 파라미터, 누적 기울기, Adam 모멘트를 보관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GPU: weight buffers, layer templates, activation workspace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Pinned staging: 가중치 H2D(CPU→GPU), 기울기 D2H(GPU→CPU) 전송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CPU Adam이 호스트의 master 상태를 갱신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p.3, Figure 2, §3.1</a:t>
            </a:r>
          </a:p>
        </p:txBody>
      </p:sp>
      <p:pic>
        <p:nvPicPr>
          <p:cNvPr id="12" name="Picture 1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89" y="1238250"/>
            <a:ext cx="5113421" cy="4857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학습 스텝: 네 단계로 실행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p.3, Algorithm 1, §3.1</a:t>
            </a:r>
          </a:p>
        </p:txBody>
      </p:sp>
      <p:sp>
        <p:nvSpPr>
          <p:cNvPr id="10" name="Step0"/>
          <p:cNvSpPr/>
          <p:nvPr/>
        </p:nvSpPr>
        <p:spPr>
          <a:xfrm>
            <a:off x="561975" y="1536700"/>
            <a:ext cx="1841500" cy="8382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Forward</a:t>
            </a:r>
          </a:p>
        </p:txBody>
      </p:sp>
      <p:sp>
        <p:nvSpPr>
          <p:cNvPr id="11" name="StepText0"/>
          <p:cNvSpPr txBox="1"/>
          <p:nvPr/>
        </p:nvSpPr>
        <p:spPr>
          <a:xfrm>
            <a:off x="2657475" y="1600200"/>
            <a:ext cx="897255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층별 가중치 스트리밍과 계산</a:t>
            </a:r>
            <a:br/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K층 간격으로 활성값 checkpoint 저장</a:t>
            </a:r>
          </a:p>
        </p:txBody>
      </p:sp>
      <p:sp>
        <p:nvSpPr>
          <p:cNvPr id="12" name="Step1"/>
          <p:cNvSpPr/>
          <p:nvPr/>
        </p:nvSpPr>
        <p:spPr>
          <a:xfrm>
            <a:off x="561975" y="2552700"/>
            <a:ext cx="1841500" cy="8382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Loss</a:t>
            </a:r>
          </a:p>
        </p:txBody>
      </p:sp>
      <p:sp>
        <p:nvSpPr>
          <p:cNvPr id="13" name="StepText1"/>
          <p:cNvSpPr txBox="1"/>
          <p:nvPr/>
        </p:nvSpPr>
        <p:spPr>
          <a:xfrm>
            <a:off x="2657475" y="2616200"/>
            <a:ext cx="897255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최종 loss와 출력 기울기 계산</a:t>
            </a:r>
            <a:br/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LM head 기울기를 호스트로 반환</a:t>
            </a:r>
          </a:p>
        </p:txBody>
      </p:sp>
      <p:sp>
        <p:nvSpPr>
          <p:cNvPr id="14" name="Step2"/>
          <p:cNvSpPr/>
          <p:nvPr/>
        </p:nvSpPr>
        <p:spPr>
          <a:xfrm>
            <a:off x="561975" y="3568700"/>
            <a:ext cx="1841500" cy="8382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Backward</a:t>
            </a:r>
          </a:p>
        </p:txBody>
      </p:sp>
      <p:sp>
        <p:nvSpPr>
          <p:cNvPr id="15" name="StepText2"/>
          <p:cNvSpPr txBox="1"/>
          <p:nvPr/>
        </p:nvSpPr>
        <p:spPr>
          <a:xfrm>
            <a:off x="2657475" y="3632200"/>
            <a:ext cx="897255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블록 재계산 → 층별 local backward</a:t>
            </a:r>
            <a:br/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각 층의 기울기를 CPU로 offload</a:t>
            </a:r>
          </a:p>
        </p:txBody>
      </p:sp>
      <p:sp>
        <p:nvSpPr>
          <p:cNvPr id="16" name="Step3"/>
          <p:cNvSpPr/>
          <p:nvPr/>
        </p:nvSpPr>
        <p:spPr>
          <a:xfrm>
            <a:off x="561975" y="4584700"/>
            <a:ext cx="1841500" cy="8382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CPU Adam</a:t>
            </a:r>
          </a:p>
        </p:txBody>
      </p:sp>
      <p:sp>
        <p:nvSpPr>
          <p:cNvPr id="17" name="StepText3"/>
          <p:cNvSpPr txBox="1"/>
          <p:nvPr/>
        </p:nvSpPr>
        <p:spPr>
          <a:xfrm>
            <a:off x="2657475" y="4648200"/>
            <a:ext cx="897255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호스트의 파라미터·모멘트 갱신</a:t>
            </a:r>
            <a:br/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일부 호스트 작업을 GPU 실행과 중첩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Streaming forward: 계산 후 가중치 해제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p.3, §3.1, Algorithm 1</a:t>
            </a:r>
          </a:p>
        </p:txBody>
      </p:sp>
      <p:sp>
        <p:nvSpPr>
          <p:cNvPr id="10" name="Flow 0 가중치 H2D"/>
          <p:cNvSpPr/>
          <p:nvPr/>
        </p:nvSpPr>
        <p:spPr>
          <a:xfrm>
            <a:off x="698500" y="1765300"/>
            <a:ext cx="2470150" cy="8382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가중치 H2D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6750" y="2184400"/>
            <a:ext cx="228600" cy="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1 Template bind"/>
          <p:cNvSpPr/>
          <p:nvPr/>
        </p:nvSpPr>
        <p:spPr>
          <a:xfrm>
            <a:off x="3473450" y="1765300"/>
            <a:ext cx="2470150" cy="8382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Template bind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1700" y="2184400"/>
            <a:ext cx="228600" cy="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low 2 층 forward"/>
          <p:cNvSpPr/>
          <p:nvPr/>
        </p:nvSpPr>
        <p:spPr>
          <a:xfrm>
            <a:off x="6248400" y="1765300"/>
            <a:ext cx="2470150" cy="8382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층 forward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56650" y="2184400"/>
            <a:ext cx="228600" cy="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low 3 가중치 해제"/>
          <p:cNvSpPr/>
          <p:nvPr/>
        </p:nvSpPr>
        <p:spPr>
          <a:xfrm>
            <a:off x="9023350" y="1765300"/>
            <a:ext cx="2470150" cy="8382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가중치 해제</a:t>
            </a:r>
          </a:p>
        </p:txBody>
      </p:sp>
      <p:sp>
        <p:nvSpPr>
          <p:cNvPr id="17" name="Forward notes"/>
          <p:cNvSpPr txBox="1"/>
          <p:nvPr/>
        </p:nvSpPr>
        <p:spPr>
          <a:xfrm>
            <a:off x="698500" y="3251200"/>
            <a:ext cx="10795000" cy="248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다음 층의 가중치를 미리 받아 계산 대기 시간을 줄임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K층 간격의 활성값 checkpoint는 GPU에 유지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현재 층 사용이 끝나면 weight buffer를 다음 층에 재사용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전체 모델의 가중치를 GPU에 동시에 올릴 필요를 줄임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Block-wise backward: 재계산하고 반환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p.3, §3.1, Algorithm 1</a:t>
            </a:r>
          </a:p>
        </p:txBody>
      </p:sp>
      <p:sp>
        <p:nvSpPr>
          <p:cNvPr id="10" name="Flow 0 Checkpoint"/>
          <p:cNvSpPr/>
          <p:nvPr/>
        </p:nvSpPr>
        <p:spPr>
          <a:xfrm>
            <a:off x="698500" y="1765300"/>
            <a:ext cx="2470150" cy="8382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Checkpoint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6750" y="2184400"/>
            <a:ext cx="228600" cy="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1 블록 재계산"/>
          <p:cNvSpPr/>
          <p:nvPr/>
        </p:nvSpPr>
        <p:spPr>
          <a:xfrm>
            <a:off x="3473450" y="1765300"/>
            <a:ext cx="2470150" cy="8382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블록 재계산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1700" y="2184400"/>
            <a:ext cx="228600" cy="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low 2 층별 역전파"/>
          <p:cNvSpPr/>
          <p:nvPr/>
        </p:nvSpPr>
        <p:spPr>
          <a:xfrm>
            <a:off x="6248400" y="1765300"/>
            <a:ext cx="2470150" cy="8382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층별 역전파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56650" y="2184400"/>
            <a:ext cx="228600" cy="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low 3 기울기 D2H"/>
          <p:cNvSpPr/>
          <p:nvPr/>
        </p:nvSpPr>
        <p:spPr>
          <a:xfrm>
            <a:off x="9023350" y="1765300"/>
            <a:ext cx="2470150" cy="8382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기울기 D2H</a:t>
            </a:r>
          </a:p>
        </p:txBody>
      </p:sp>
      <p:sp>
        <p:nvSpPr>
          <p:cNvPr id="17" name="Backward notes"/>
          <p:cNvSpPr txBox="1"/>
          <p:nvPr/>
        </p:nvSpPr>
        <p:spPr>
          <a:xfrm>
            <a:off x="698500" y="3200400"/>
            <a:ext cx="107950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마지막 블록부터 시작하여 checkpoint의 활성값을 복원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블록 내부를 forward 순서로 다시 계산해 필요한 활성값 확보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층을 역순으로 실행하고 가중치와 활성값의 수명을 종료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기울기는 host slab으로 보내고 CPU master store에 누적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체크포인트 간격 K: 저장과 재계산의 균형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quation"/>
          <p:cNvSpPr txBox="1"/>
          <p:nvPr/>
        </p:nvSpPr>
        <p:spPr>
          <a:xfrm>
            <a:off x="342900" y="1460500"/>
            <a:ext cx="1148715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체크포인트 저장량의 주요 항: N × Amax × (L / K)</a:t>
            </a:r>
          </a:p>
        </p:txBody>
      </p:sp>
      <p:sp>
        <p:nvSpPr>
          <p:cNvPr id="7" name="ExplanationBox"/>
          <p:cNvSpPr/>
          <p:nvPr/>
        </p:nvSpPr>
        <p:spPr>
          <a:xfrm>
            <a:off x="257175" y="2413000"/>
            <a:ext cx="11677650" cy="39306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ExplanationBoxInterior"/>
          <p:cNvSpPr/>
          <p:nvPr/>
        </p:nvSpPr>
        <p:spPr>
          <a:xfrm>
            <a:off x="409575" y="2565400"/>
            <a:ext cx="11372850" cy="3625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9" name="Body"/>
          <p:cNvSpPr txBox="1"/>
          <p:nvPr/>
        </p:nvSpPr>
        <p:spPr>
          <a:xfrm>
            <a:off x="561975" y="2717800"/>
            <a:ext cx="11068050" cy="332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N: 배치의 토큰 수 · Amax: 층 활성값 크기 · L: 층 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K를 키우면 저장해야 하는 checkpoint의 개수 감소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동시에 한 번에 재계산하는 블록의 길이는 증가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실제 GPU 메모리는 활성값·연산 버퍼와 함께 평가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pp.2–3, §2.1, §3.1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Double buffering: 전송과 계산을 중첩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pp.4–5, Figure 3, §3.2; 개념도 재구성</a:t>
            </a:r>
          </a:p>
        </p:txBody>
      </p:sp>
      <p:sp>
        <p:nvSpPr>
          <p:cNvPr id="10" name="Pipeline context"/>
          <p:cNvSpPr txBox="1"/>
          <p:nvPr/>
        </p:nvSpPr>
        <p:spPr>
          <a:xfrm>
            <a:off x="698500" y="1409700"/>
            <a:ext cx="1079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역전파의 중첩 예시 · 실제 시간 비율을 나타내는 도식은 아님</a:t>
            </a:r>
          </a:p>
        </p:txBody>
      </p:sp>
      <p:sp>
        <p:nvSpPr>
          <p:cNvPr id="11" name="Lane 0"/>
          <p:cNvSpPr txBox="1"/>
          <p:nvPr/>
        </p:nvSpPr>
        <p:spPr>
          <a:xfrm>
            <a:off x="698500" y="2247900"/>
            <a:ext cx="19685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Weight H2D</a:t>
            </a:r>
          </a:p>
        </p:txBody>
      </p:sp>
      <p:sp>
        <p:nvSpPr>
          <p:cNvPr id="12" name="Lane 1"/>
          <p:cNvSpPr txBox="1"/>
          <p:nvPr/>
        </p:nvSpPr>
        <p:spPr>
          <a:xfrm>
            <a:off x="698500" y="3187700"/>
            <a:ext cx="19685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GPU compute</a:t>
            </a:r>
          </a:p>
        </p:txBody>
      </p:sp>
      <p:sp>
        <p:nvSpPr>
          <p:cNvPr id="13" name="Lane 2"/>
          <p:cNvSpPr txBox="1"/>
          <p:nvPr/>
        </p:nvSpPr>
        <p:spPr>
          <a:xfrm>
            <a:off x="698500" y="4127500"/>
            <a:ext cx="19685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Gradient D2H</a:t>
            </a:r>
          </a:p>
        </p:txBody>
      </p:sp>
      <p:sp>
        <p:nvSpPr>
          <p:cNvPr id="14" name="Pipeline 0 0"/>
          <p:cNvSpPr/>
          <p:nvPr/>
        </p:nvSpPr>
        <p:spPr>
          <a:xfrm>
            <a:off x="2819400" y="2108200"/>
            <a:ext cx="1447800" cy="6096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W_i</a:t>
            </a:r>
          </a:p>
        </p:txBody>
      </p:sp>
      <p:sp>
        <p:nvSpPr>
          <p:cNvPr id="15" name="Pipeline 0 1"/>
          <p:cNvSpPr/>
          <p:nvPr/>
        </p:nvSpPr>
        <p:spPr>
          <a:xfrm>
            <a:off x="4445000" y="2108200"/>
            <a:ext cx="1447800" cy="6096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W_i−1</a:t>
            </a:r>
          </a:p>
        </p:txBody>
      </p:sp>
      <p:sp>
        <p:nvSpPr>
          <p:cNvPr id="16" name="Pipeline 0 2"/>
          <p:cNvSpPr/>
          <p:nvPr/>
        </p:nvSpPr>
        <p:spPr>
          <a:xfrm>
            <a:off x="6070600" y="2108200"/>
            <a:ext cx="1447800" cy="6096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W_i−2</a:t>
            </a:r>
          </a:p>
        </p:txBody>
      </p:sp>
      <p:sp>
        <p:nvSpPr>
          <p:cNvPr id="17" name="Pipeline 1 1"/>
          <p:cNvSpPr/>
          <p:nvPr/>
        </p:nvSpPr>
        <p:spPr>
          <a:xfrm>
            <a:off x="4445000" y="3048000"/>
            <a:ext cx="1447800" cy="6096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B_i</a:t>
            </a:r>
          </a:p>
        </p:txBody>
      </p:sp>
      <p:sp>
        <p:nvSpPr>
          <p:cNvPr id="18" name="Pipeline 1 2"/>
          <p:cNvSpPr/>
          <p:nvPr/>
        </p:nvSpPr>
        <p:spPr>
          <a:xfrm>
            <a:off x="6070600" y="3048000"/>
            <a:ext cx="1447800" cy="6096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B_i−1</a:t>
            </a:r>
          </a:p>
        </p:txBody>
      </p:sp>
      <p:sp>
        <p:nvSpPr>
          <p:cNvPr id="19" name="Pipeline 1 3"/>
          <p:cNvSpPr/>
          <p:nvPr/>
        </p:nvSpPr>
        <p:spPr>
          <a:xfrm>
            <a:off x="7696200" y="3048000"/>
            <a:ext cx="1447800" cy="6096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B_i−2</a:t>
            </a:r>
          </a:p>
        </p:txBody>
      </p:sp>
      <p:sp>
        <p:nvSpPr>
          <p:cNvPr id="20" name="Pipeline 2 2"/>
          <p:cNvSpPr/>
          <p:nvPr/>
        </p:nvSpPr>
        <p:spPr>
          <a:xfrm>
            <a:off x="6070600" y="3987800"/>
            <a:ext cx="1447800" cy="6096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G_i</a:t>
            </a:r>
          </a:p>
        </p:txBody>
      </p:sp>
      <p:sp>
        <p:nvSpPr>
          <p:cNvPr id="21" name="Pipeline 2 3"/>
          <p:cNvSpPr/>
          <p:nvPr/>
        </p:nvSpPr>
        <p:spPr>
          <a:xfrm>
            <a:off x="7696200" y="3987800"/>
            <a:ext cx="1447800" cy="6096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G_i−1</a:t>
            </a:r>
          </a:p>
        </p:txBody>
      </p:sp>
      <p:sp>
        <p:nvSpPr>
          <p:cNvPr id="22" name="Pipeline 2 4"/>
          <p:cNvSpPr/>
          <p:nvPr/>
        </p:nvSpPr>
        <p:spPr>
          <a:xfrm>
            <a:off x="9321800" y="3987800"/>
            <a:ext cx="1447800" cy="6096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G_i−2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68600" y="4902200"/>
            <a:ext cx="8432800" cy="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"/>
          <p:cNvSpPr txBox="1"/>
          <p:nvPr/>
        </p:nvSpPr>
        <p:spPr>
          <a:xfrm>
            <a:off x="10502900" y="4991100"/>
            <a:ext cx="825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60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시간 →</a:t>
            </a:r>
          </a:p>
        </p:txBody>
      </p:sp>
      <p:sp>
        <p:nvSpPr>
          <p:cNvPr id="25" name="Overlap condition"/>
          <p:cNvSpPr txBox="1"/>
          <p:nvPr/>
        </p:nvSpPr>
        <p:spPr>
          <a:xfrm>
            <a:off x="698500" y="5346700"/>
            <a:ext cx="10795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2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핵심 조건: 다음 층 가중치 전송 시간 ≤ 현재 층 계산 시간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CUDA events: 버퍼 사용 순서를 보장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9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명시적인 의존성으로 비동기 실행을 연결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Compute · Weight-Transfer · Gradient-Transfer의 세 CUDA stream 사용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버퍼 재사용 전 완료 이벤트를 확인하여 전송 중인 데이터 수명을 보장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pp.4, 10, §3.2, Appendix A.2</a:t>
            </a:r>
          </a:p>
        </p:txBody>
      </p:sp>
      <p:graphicFrame>
        <p:nvGraphicFramePr>
          <p:cNvPr id="12" name="EditableTable"/>
          <p:cNvGraphicFramePr>
            <a:graphicFrameLocks noGrp="1"/>
          </p:cNvGraphicFramePr>
          <p:nvPr/>
        </p:nvGraphicFramePr>
        <p:xfrm>
          <a:off x="476250" y="1162050"/>
          <a:ext cx="11239500" cy="3028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500"/>
                <a:gridCol w="3429000"/>
                <a:gridCol w="4699000"/>
              </a:tblGrid>
              <a:tr h="75723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이벤트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기록 시점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다음 동작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5723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Weights-Ready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H2D 전송 완료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Compute가 Bind / 계산 시작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5723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Backward-Done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층 기울기 생성 완료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D2H가 기울기 전송 시작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5723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Buffer-Free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D2H 전송 완료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해당 버퍼를 다음 전송에 재사용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연속 메모리 배치: 층별 큰 DMA 전송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Layer-contiguous tiling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한 층의 텐서를 flat block으로 묶고 4 KB 페이지에 정렬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CPU pageable store → 작은 pinned staging pool로 JIT packing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GPU에서는 flat buffer의 offset으로 tensor view 생성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전체 모델 pinning 대신 최대 층 크기의 staging buffers 재사용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pp.4, 9–10, §3.3, Appendix A.1/A.3</a:t>
            </a:r>
          </a:p>
        </p:txBody>
      </p:sp>
      <p:sp>
        <p:nvSpPr>
          <p:cNvPr id="12" name="Tiling 0"/>
          <p:cNvSpPr/>
          <p:nvPr/>
        </p:nvSpPr>
        <p:spPr>
          <a:xfrm>
            <a:off x="609600" y="1422400"/>
            <a:ext cx="4800600" cy="5715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CPU pageable store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09900" y="2032000"/>
            <a:ext cx="0" cy="26670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ling 1"/>
          <p:cNvSpPr/>
          <p:nvPr/>
        </p:nvSpPr>
        <p:spPr>
          <a:xfrm>
            <a:off x="609600" y="2336800"/>
            <a:ext cx="4800600" cy="5715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Pinned Buffer 0 / 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9900" y="2946400"/>
            <a:ext cx="0" cy="26670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iling 2"/>
          <p:cNvSpPr/>
          <p:nvPr/>
        </p:nvSpPr>
        <p:spPr>
          <a:xfrm>
            <a:off x="609600" y="3251200"/>
            <a:ext cx="4800600" cy="5715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큰 H2D DMA 전송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09900" y="3860800"/>
            <a:ext cx="0" cy="26670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iling 3"/>
          <p:cNvSpPr/>
          <p:nvPr/>
        </p:nvSpPr>
        <p:spPr>
          <a:xfrm>
            <a:off x="609600" y="4165600"/>
            <a:ext cx="4800600" cy="5715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GPU flat buffer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09900" y="4775200"/>
            <a:ext cx="0" cy="26670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iling 4"/>
          <p:cNvSpPr/>
          <p:nvPr/>
        </p:nvSpPr>
        <p:spPr>
          <a:xfrm>
            <a:off x="609600" y="5080000"/>
            <a:ext cx="4800600" cy="5715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Zero-copy tensor views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Stateless templates: 구조와 데이터를 분리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LeftTitle"/>
          <p:cNvSpPr txBox="1"/>
          <p:nvPr/>
        </p:nvSpPr>
        <p:spPr>
          <a:xfrm>
            <a:off x="342900" y="1130300"/>
            <a:ext cx="5334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지속 상태를 전제하는 전역 그래프</a:t>
            </a:r>
          </a:p>
        </p:txBody>
      </p:sp>
      <p:sp>
        <p:nvSpPr>
          <p:cNvPr id="7" name="RightTitle"/>
          <p:cNvSpPr txBox="1"/>
          <p:nvPr/>
        </p:nvSpPr>
        <p:spPr>
          <a:xfrm>
            <a:off x="6115050" y="1130300"/>
            <a:ext cx="5715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스트리밍 버퍼에 동적 바인딩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342900" y="6159500"/>
            <a:ext cx="1148715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StreamIn → Bind → Compute → Offload를 명시적으로 제어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pp.4, 10–11, §3.4, Appendix A.4</a:t>
            </a:r>
          </a:p>
        </p:txBody>
      </p:sp>
      <p:sp>
        <p:nvSpPr>
          <p:cNvPr id="12" name="Global graph description"/>
          <p:cNvSpPr txBox="1"/>
          <p:nvPr/>
        </p:nvSpPr>
        <p:spPr>
          <a:xfrm>
            <a:off x="546100" y="1841500"/>
            <a:ext cx="4927600" cy="3848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전역 autograd는 역전파를 위한 상태와 의존성을 유지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층별 가중치 교체와 텐서 해제에는 추가 수명 제어 필요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정적인 CUDA graph capture를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실행 전제로 사용하지 않음</a:t>
            </a:r>
          </a:p>
        </p:txBody>
      </p:sp>
      <p:sp>
        <p:nvSpPr>
          <p:cNvPr id="13" name="Template step 0"/>
          <p:cNvSpPr/>
          <p:nvPr/>
        </p:nvSpPr>
        <p:spPr>
          <a:xfrm>
            <a:off x="6337300" y="1765300"/>
            <a:ext cx="5257800" cy="5207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Template A / B</a:t>
            </a:r>
          </a:p>
        </p:txBody>
      </p:sp>
      <p:sp>
        <p:nvSpPr>
          <p:cNvPr id="14" name="Template detail 0"/>
          <p:cNvSpPr txBox="1"/>
          <p:nvPr/>
        </p:nvSpPr>
        <p:spPr>
          <a:xfrm>
            <a:off x="6337300" y="2362200"/>
            <a:ext cx="5257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Attention·MLP 연산 구조 재사용</a:t>
            </a:r>
          </a:p>
        </p:txBody>
      </p:sp>
      <p:sp>
        <p:nvSpPr>
          <p:cNvPr id="15" name="Template step 1"/>
          <p:cNvSpPr/>
          <p:nvPr/>
        </p:nvSpPr>
        <p:spPr>
          <a:xfrm>
            <a:off x="6337300" y="3073400"/>
            <a:ext cx="5257800" cy="5207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Bind</a:t>
            </a:r>
          </a:p>
        </p:txBody>
      </p:sp>
      <p:sp>
        <p:nvSpPr>
          <p:cNvPr id="16" name="Template detail 1"/>
          <p:cNvSpPr txBox="1"/>
          <p:nvPr/>
        </p:nvSpPr>
        <p:spPr>
          <a:xfrm>
            <a:off x="6337300" y="3670300"/>
            <a:ext cx="5257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현재 flat buffer의 view 연결</a:t>
            </a:r>
          </a:p>
        </p:txBody>
      </p:sp>
      <p:sp>
        <p:nvSpPr>
          <p:cNvPr id="17" name="Template step 2"/>
          <p:cNvSpPr/>
          <p:nvPr/>
        </p:nvSpPr>
        <p:spPr>
          <a:xfrm>
            <a:off x="6337300" y="4381500"/>
            <a:ext cx="5257800" cy="5207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Compute / Release</a:t>
            </a:r>
          </a:p>
        </p:txBody>
      </p:sp>
      <p:sp>
        <p:nvSpPr>
          <p:cNvPr id="18" name="Template detail 2"/>
          <p:cNvSpPr txBox="1"/>
          <p:nvPr/>
        </p:nvSpPr>
        <p:spPr>
          <a:xfrm>
            <a:off x="6337300" y="4978400"/>
            <a:ext cx="5257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층 실행 후 transient 상태 정리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GPU 메모리 경계: 현재 작업 집합이 핵심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Body"/>
          <p:cNvSpPr txBox="1"/>
          <p:nvPr/>
        </p:nvSpPr>
        <p:spPr>
          <a:xfrm>
            <a:off x="561975" y="1390650"/>
            <a:ext cx="11068050" cy="464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가중치 버퍼: 전체 파라미터 수보다 최대 층의 크기에 의해 결정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추가 GPU 상태: 활성값, checkpoint anchors, 재계산 workspace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토큰 수·층 폭·checkpoint 간격에 따라 실제 GPU 사용량 변화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호스트: 전체 지속 상태와 staging 공간을 함께 확보해야 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세미나 해석: 모델 상태의 상주 부담을 호스트로 이동하는 설계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pp.2–4, 10–11, §2.1, §3, Appendix A.3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실험 장비: GPU는 하나, 호스트 용량은 다름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9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모델 규모별 결과는 플랫폼 조건과 함께 해석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7B–32B: GH200 · 72B–120B: H200 (§4.2)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Table 1의 PCIe Gen5 일반 사양과 H200의 실제 평가 연결을 구분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pp.4–5, §4.1–4.2</a:t>
            </a:r>
          </a:p>
        </p:txBody>
      </p:sp>
      <p:graphicFrame>
        <p:nvGraphicFramePr>
          <p:cNvPr id="12" name="EditableTable"/>
          <p:cNvGraphicFramePr>
            <a:graphicFrameLocks noGrp="1"/>
          </p:cNvGraphicFramePr>
          <p:nvPr/>
        </p:nvGraphicFramePr>
        <p:xfrm>
          <a:off x="476250" y="1162050"/>
          <a:ext cx="11239500" cy="3028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/>
                <a:gridCol w="3619500"/>
                <a:gridCol w="4064000"/>
              </a:tblGrid>
              <a:tr h="100965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플랫폼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GPU / 호스트 메모리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CPU–GPU 연결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0965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GH200 superchip 1개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96 GB / 480 GB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NVLink-C2C</a:t>
                      </a:r>
                      <a:br/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900 GB/s peak (양방향)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0965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H200 SXM 1개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141 GB / 1.5 TB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PCIe Gen4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실험 모델과 데이터: dense부터 MoE까지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9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정확도 평가: MetaMathQA의 exact match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약 395,000개 문항을 train 70% / test 30%로 무작위 분할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ZeRO-3 Offload, ZeRO-Infinity, PyTorch Native 등과 조건별 비교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pp.4–5, §4.1, Table 2</a:t>
            </a:r>
          </a:p>
        </p:txBody>
      </p:sp>
      <p:graphicFrame>
        <p:nvGraphicFramePr>
          <p:cNvPr id="12" name="EditableTable"/>
          <p:cNvGraphicFramePr>
            <a:graphicFrameLocks noGrp="1"/>
          </p:cNvGraphicFramePr>
          <p:nvPr/>
        </p:nvGraphicFramePr>
        <p:xfrm>
          <a:off x="476250" y="1162050"/>
          <a:ext cx="11239500" cy="3028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0"/>
                <a:gridCol w="2921000"/>
                <a:gridCol w="2984500"/>
              </a:tblGrid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모델 (Table 2)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총 파라미터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Transformer 층 수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Qwen2.5-7B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7B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Qwen2.5-14B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14B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Qwen2.5-32B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32B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64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Qwen2.5-72B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72B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GPT-OSS-120B (MoE)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120B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모델 크기별 성능: 120B까지 학습 실행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Figure 1의 지속 학습 TFLOPS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GH200: 7B 284, 14B 264, 32B 259 TFLOPS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H200: 72B 288, 120B 109 TFLOPS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120B는 GPT-OSS MoE의 총 파라미터 규모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장비와 모델 구조가 바뀌므로 규모 간 수치를 함께 해석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pp.1, 5, Figure 1, §4.2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42900" y="1397000"/>
          <a:ext cx="5334000" cy="4533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GH200 기준선 비교: 14B에서 1.84× 보고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빠른 실행과 가능 범위를 함께 평가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14B: MegaTrain 264 vs ZeRO-3 143 TFLOPS; 논문은 1.84× 보고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7B: PyTorch Native 367 TFLOPS가 MegaTrain 284보다 높음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ZeRO-Infinity: 7B 42, 14B 44 TFLOPS (Figure 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32B: Figure 1의 기준선은 OOM, MegaTrain은 259 TFLOPS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pp.1, 5, Figure 1, §4.2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42900" y="1473200"/>
          <a:ext cx="5334000" cy="4445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호스트 메모리: 확장 한계가 이동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Figure 4 · 원문 그래프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파라미터·기울기·optimizer 상태는 호스트 용량을 사용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저자 설명: 연속 배치와 master store로 보조 복제와 단편화 감소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7B–32B: 480 GB host,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72B–120B: 1.5 TB host에서 평가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세미나 해석: GPU 개수와 함께 호스트 메모리 비용도 평가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p.5, Figure 4, §4.2</a:t>
            </a:r>
          </a:p>
        </p:txBody>
      </p:sp>
      <p:pic>
        <p:nvPicPr>
          <p:cNvPr id="12" name="Picture 11" descr="host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431047"/>
            <a:ext cx="5334000" cy="2199105"/>
          </a:xfrm>
          <a:prstGeom prst="rect">
            <a:avLst/>
          </a:prstGeom>
        </p:spPr>
      </p:pic>
      <p:sp>
        <p:nvSpPr>
          <p:cNvPr id="13" name="Figure 4 caption"/>
          <p:cNvSpPr txBox="1"/>
          <p:nvPr/>
        </p:nvSpPr>
        <p:spPr>
          <a:xfrm>
            <a:off x="444500" y="5600700"/>
            <a:ext cx="51816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60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축: 모델 크기 / 호스트 메모리 (GB)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정확도: offload 기준선과 유사한 결과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9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상태 배치 변경 후에도 최종 정확도를 유지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ZeRO-3와 차이: 7B +0.06%p, 14B +0.11%p (표 수치로 계산)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최종 exact-match 결과에 대한 근거; “–”는 원문에서 미보고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p.5, Table 3, §4.2</a:t>
            </a:r>
          </a:p>
        </p:txBody>
      </p:sp>
      <p:graphicFrame>
        <p:nvGraphicFramePr>
          <p:cNvPr id="12" name="EditableTable"/>
          <p:cNvGraphicFramePr>
            <a:graphicFrameLocks noGrp="1"/>
          </p:cNvGraphicFramePr>
          <p:nvPr/>
        </p:nvGraphicFramePr>
        <p:xfrm>
          <a:off x="476250" y="1162050"/>
          <a:ext cx="11239500" cy="3028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6500"/>
                <a:gridCol w="3111500"/>
                <a:gridCol w="3111500"/>
              </a:tblGrid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학습 시스템 (Table 3)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7B 정확도 (%)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14B 정확도 (%)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Baseline (원문 표기)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33.47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37.58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ZeRO-3 Offload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88.93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92.41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ZeRO-Infinity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88.97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92.36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PyTorch Native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88.91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MegaTrain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1C50B3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88.99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1C50B3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92.52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Ablation: double buffering이 핵심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Table 4 · 같은 BS=96 조건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Full: 266.30 TFLOPS, GPU 메모리 75.93 GB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Double buffering 제거: 182.91 TFLOPS, 31.3% 감소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Gradient slab pool 제거: 257.55 TFLOPS, 약 3.3% 감소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Checkpoint=1은 표와 본문 수치가 달라 뒤에서 따로 표시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p.6, Table 4, §4.3; 감소율은 표 수치로 계산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42900" y="1536700"/>
          <a:ext cx="5334000" cy="4267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깊이 확장: 180층까지 실행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LeftTitle"/>
          <p:cNvSpPr txBox="1"/>
          <p:nvPr/>
        </p:nvSpPr>
        <p:spPr>
          <a:xfrm>
            <a:off x="342900" y="1130300"/>
            <a:ext cx="5334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학습 성능 (TFLOPS)</a:t>
            </a:r>
          </a:p>
        </p:txBody>
      </p:sp>
      <p:sp>
        <p:nvSpPr>
          <p:cNvPr id="7" name="RightTitle"/>
          <p:cNvSpPr txBox="1"/>
          <p:nvPr/>
        </p:nvSpPr>
        <p:spPr>
          <a:xfrm>
            <a:off x="6115050" y="1130300"/>
            <a:ext cx="5715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MegaTrain 호스트 메모리 (GB)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342900" y="6159500"/>
            <a:ext cx="1148715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조건: GH200 · 층 폭 고정 · Table 5의 Device Alloc=3.83 GB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pp.6–7, Table 5, Figure 5, §4.4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42900" y="1663700"/>
          <a:ext cx="5334000" cy="3987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115050" y="1663700"/>
          <a:ext cx="5715000" cy="3987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Depth left note"/>
          <p:cNvSpPr txBox="1"/>
          <p:nvPr/>
        </p:nvSpPr>
        <p:spPr>
          <a:xfrm>
            <a:off x="431800" y="5740400"/>
            <a:ext cx="5232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5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미표시점은 OOM · 층 수에 따라 성능 비교</a:t>
            </a:r>
          </a:p>
        </p:txBody>
      </p:sp>
      <p:sp>
        <p:nvSpPr>
          <p:cNvPr id="15" name="Depth right note"/>
          <p:cNvSpPr txBox="1"/>
          <p:nvPr/>
        </p:nvSpPr>
        <p:spPr>
          <a:xfrm>
            <a:off x="6210300" y="5740400"/>
            <a:ext cx="5461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5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180층: 43.04B 파라미터 (Table 5)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폭 확장: 큰 층을 처리하는 비용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LeftTitle"/>
          <p:cNvSpPr txBox="1"/>
          <p:nvPr/>
        </p:nvSpPr>
        <p:spPr>
          <a:xfrm>
            <a:off x="342900" y="1130300"/>
            <a:ext cx="5334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학습 성능 (TFLOPS)</a:t>
            </a:r>
          </a:p>
        </p:txBody>
      </p:sp>
      <p:sp>
        <p:nvSpPr>
          <p:cNvPr id="7" name="RightTitle"/>
          <p:cNvSpPr txBox="1"/>
          <p:nvPr/>
        </p:nvSpPr>
        <p:spPr>
          <a:xfrm>
            <a:off x="6115050" y="1130300"/>
            <a:ext cx="5715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호스트 메모리 (GB)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342900" y="6159500"/>
            <a:ext cx="1148715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4.5×부터 기준선 OOM · 5×에서 MegaTrain 36 TFLOPS / 549 GB host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pp.6–7, Table 6, Figure 6, §4.5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42900" y="1663700"/>
          <a:ext cx="5334000" cy="3987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115050" y="1663700"/>
          <a:ext cx="5715000" cy="3987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Width left note"/>
          <p:cNvSpPr txBox="1"/>
          <p:nvPr/>
        </p:nvSpPr>
        <p:spPr>
          <a:xfrm>
            <a:off x="444500" y="5715000"/>
            <a:ext cx="51562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5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가로축: 폭 배율 (×) · 미표시점은 OOM</a:t>
            </a:r>
          </a:p>
        </p:txBody>
      </p:sp>
      <p:sp>
        <p:nvSpPr>
          <p:cNvPr id="15" name="Width right note"/>
          <p:cNvSpPr txBox="1"/>
          <p:nvPr/>
        </p:nvSpPr>
        <p:spPr>
          <a:xfrm>
            <a:off x="6210300" y="5715000"/>
            <a:ext cx="5461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5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층 수 고정 · 작은 폭에서는 기준선이 더 빠름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Long context: GH200에서 최대 512K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9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512K*는 chunked MLP execution을 적용한 결과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7B 모델 · GH200 단일 GPU; 각 문맥 길이에서 배치 크기도 달라짐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문맥이 길어지면 attention 계산량과 활성값 부담이 함께 증가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pp.1, 7, Abstract, Table 7, §4.6</a:t>
            </a:r>
          </a:p>
        </p:txBody>
      </p:sp>
      <p:graphicFrame>
        <p:nvGraphicFramePr>
          <p:cNvPr id="12" name="EditableTable"/>
          <p:cNvGraphicFramePr>
            <a:graphicFrameLocks noGrp="1"/>
          </p:cNvGraphicFramePr>
          <p:nvPr/>
        </p:nvGraphicFramePr>
        <p:xfrm>
          <a:off x="476250" y="1162050"/>
          <a:ext cx="11239500" cy="3028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/>
                <a:gridCol w="1143000"/>
                <a:gridCol w="2286000"/>
                <a:gridCol w="2349500"/>
                <a:gridCol w="3619500"/>
              </a:tblGrid>
              <a:tr h="43270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문맥 길이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BS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Step (s)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TFLOPS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GPU 메모리 (GB)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270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1K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158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27.05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284.7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74.2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270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8K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32.36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294.5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86.5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270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32K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6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32.18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316.7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84.0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270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128K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26.13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305.3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62.1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270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256K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236.1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401.2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88.2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270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512K*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871.4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407.4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81.9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Long context: 성능 지표를 함께 읽기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LeftTitle"/>
          <p:cNvSpPr txBox="1"/>
          <p:nvPr/>
        </p:nvSpPr>
        <p:spPr>
          <a:xfrm>
            <a:off x="342900" y="1130300"/>
            <a:ext cx="5334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지속 계산 성능 (TFLOPS)</a:t>
            </a:r>
          </a:p>
        </p:txBody>
      </p:sp>
      <p:sp>
        <p:nvSpPr>
          <p:cNvPr id="7" name="RightTitle"/>
          <p:cNvSpPr txBox="1"/>
          <p:nvPr/>
        </p:nvSpPr>
        <p:spPr>
          <a:xfrm>
            <a:off x="6115050" y="1130300"/>
            <a:ext cx="5715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학습 처리량 (토큰/s, 근사)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342900" y="6159500"/>
            <a:ext cx="1148715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512K: 407.4 TFLOPS · 약 602 학습 토큰/s · 871.4초/step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p.7, Table 7; 토큰/s = 표의 Tokens / Step(s)로 계산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42900" y="1663700"/>
          <a:ext cx="5334000" cy="3987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115050" y="1663700"/>
          <a:ext cx="5715000" cy="3987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Context left note"/>
          <p:cNvSpPr txBox="1"/>
          <p:nvPr/>
        </p:nvSpPr>
        <p:spPr>
          <a:xfrm>
            <a:off x="444500" y="5727700"/>
            <a:ext cx="51435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5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FLOPs 산식에 attention의 문맥 길이² 항 포함</a:t>
            </a:r>
          </a:p>
        </p:txBody>
      </p:sp>
      <p:sp>
        <p:nvSpPr>
          <p:cNvPr id="15" name="Context right note"/>
          <p:cNvSpPr txBox="1"/>
          <p:nvPr/>
        </p:nvSpPr>
        <p:spPr>
          <a:xfrm>
            <a:off x="6210300" y="5727700"/>
            <a:ext cx="5461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5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표의 배치 토큰 수로 계산한 학습 처리량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A100 PCIe 검증: 다른 연결에서도 실행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Figure 7 · 단일 A100 80 GB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환경: host 600 GB DDR4, PCIe Gen4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14B: MegaTrain 122, Gemini 15, ZeRO-3 10 TFLOPS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14B의 보고 배율: Gemini 대비 8.13×, ZeRO-3 대비 12.20×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7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32B: 기준선 OOM, MegaTrain 114 TFLOPS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p.8, Table 8, Figure 7, §4.7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42900" y="1460500"/>
          <a:ext cx="5334000" cy="44577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워크스테이션 GPU: 24 GB에서도 14B 실행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LeftTitle"/>
          <p:cNvSpPr txBox="1"/>
          <p:nvPr/>
        </p:nvSpPr>
        <p:spPr>
          <a:xfrm>
            <a:off x="342900" y="1130300"/>
            <a:ext cx="5334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RTX A6000 · 48 GB VRAM</a:t>
            </a:r>
          </a:p>
        </p:txBody>
      </p:sp>
      <p:sp>
        <p:nvSpPr>
          <p:cNvPr id="7" name="RightTitle"/>
          <p:cNvSpPr txBox="1"/>
          <p:nvPr/>
        </p:nvSpPr>
        <p:spPr>
          <a:xfrm>
            <a:off x="6115050" y="1130300"/>
            <a:ext cx="5715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RTX 3090 · 24 GB VRAM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342900" y="6159500"/>
            <a:ext cx="1148715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길이 8,192 · ZeRO-3 BS=1 · MegaTrain은 모델별 최대 BS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p.8, Tables 8–9, §4.7; 호스트 251 GB, GPU별 독립 평가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42900" y="1663700"/>
          <a:ext cx="5334000" cy="3898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115050" y="1663700"/>
          <a:ext cx="5715000" cy="38989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A6000 batch"/>
          <p:cNvSpPr txBox="1"/>
          <p:nvPr/>
        </p:nvSpPr>
        <p:spPr>
          <a:xfrm>
            <a:off x="444500" y="5676900"/>
            <a:ext cx="51562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5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MegaTrain BS: 15 / 12 / 9 · ZeRO-3 14B OOM</a:t>
            </a:r>
          </a:p>
        </p:txBody>
      </p:sp>
      <p:sp>
        <p:nvSpPr>
          <p:cNvPr id="15" name="3090 batch"/>
          <p:cNvSpPr txBox="1"/>
          <p:nvPr/>
        </p:nvSpPr>
        <p:spPr>
          <a:xfrm>
            <a:off x="6210300" y="5676900"/>
            <a:ext cx="5461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5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MegaTrain BS: 7 / 5 / 3 · ZeRO-3 14B OOM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원문 수치 차이: 표·그림과 본문을 구분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Body"/>
          <p:cNvSpPr txBox="1"/>
          <p:nvPr/>
        </p:nvSpPr>
        <p:spPr>
          <a:xfrm>
            <a:off x="561975" y="1390650"/>
            <a:ext cx="11068050" cy="464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Checkpoint=1: Table 4는 BS 64 · 240.45 TFLOPS,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§4.3 본문은 BS 32 · 184.2 TFLOPS로 기술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1K long context: Table 7은 284.7, §4.6 본문은 264.8 TFLOPS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깊이 실험: Table 5의 28층은 7.62B,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§4.4 본문은 시작 규모를 10.9B로 서술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본 자료는 표·그림의 수치를 우선 인용하고 불일치는 따로 표시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pp.6–7, Tables 4–5/7, §4.3–4.6; v1 대조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설계의 의미와 결과 해석의 조건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LeftTitle"/>
          <p:cNvSpPr txBox="1"/>
          <p:nvPr/>
        </p:nvSpPr>
        <p:spPr>
          <a:xfrm>
            <a:off x="342900" y="1130300"/>
            <a:ext cx="5334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설계의 의미</a:t>
            </a:r>
          </a:p>
        </p:txBody>
      </p:sp>
      <p:sp>
        <p:nvSpPr>
          <p:cNvPr id="7" name="RightTitle"/>
          <p:cNvSpPr txBox="1"/>
          <p:nvPr/>
        </p:nvSpPr>
        <p:spPr>
          <a:xfrm>
            <a:off x="6115050" y="1130300"/>
            <a:ext cx="5715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실험 해석의 조건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342900" y="6159500"/>
            <a:ext cx="1148715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단일 GPU 학습의 가능성을 호스트 비용·모델 구조·배치 조건과 함께 평가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§3–4, Appendix A; 오른쪽 항목은 세미나 해석</a:t>
            </a:r>
          </a:p>
        </p:txBody>
      </p:sp>
      <p:sp>
        <p:nvSpPr>
          <p:cNvPr id="12" name="Contributions"/>
          <p:cNvSpPr txBox="1"/>
          <p:nvPr/>
        </p:nvSpPr>
        <p:spPr>
          <a:xfrm>
            <a:off x="546100" y="1803400"/>
            <a:ext cx="4927600" cy="397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지속 상태의 주 저장소를 CPU로 전환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전송·계산·반환을 병렬로 실행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텐서 수명과 buffer ownership을 명시적으로 관리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큰 모델과 긴 문맥에 실행 범위 확장</a:t>
            </a:r>
          </a:p>
        </p:txBody>
      </p:sp>
      <p:sp>
        <p:nvSpPr>
          <p:cNvPr id="13" name="Limits"/>
          <p:cNvSpPr txBox="1"/>
          <p:nvPr/>
        </p:nvSpPr>
        <p:spPr>
          <a:xfrm>
            <a:off x="6337300" y="1803400"/>
            <a:ext cx="5257800" cy="397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대용량 host RAM과 CPU–GPU 링크가 필요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120B는 MoE 총 파라미터 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최대 BS 비교와 같은 BS 비교를 구분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Device Alloc 수치를 전체 GPU 사용량과 구분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결론: 메모리 배치와 실행 스케줄의 결합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Body"/>
          <p:cNvSpPr txBox="1"/>
          <p:nvPr/>
        </p:nvSpPr>
        <p:spPr>
          <a:xfrm>
            <a:off x="561975" y="1390650"/>
            <a:ext cx="11068050" cy="464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CPU: 파라미터·기울기·Adam 상태의 주 저장소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GPU: 현재 층과 재계산 작업을 처리하는 transient cache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성능 핵심: double buffering으로 전송과 계산을 중첩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실행 핵심: stateless templates와 이벤트 기반 수명 제어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적용 판단: GPU 용량, host RAM, 링크, 모델·배치 조건을 함께 고려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pp.1–8, §3–5; 마지막 항목은 세미나 해석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토론: 어떤 조건에서 이 설계가 유리할까?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</a:p>
        </p:txBody>
      </p:sp>
      <p:sp>
        <p:nvSpPr>
          <p:cNvPr id="8" name="Body"/>
          <p:cNvSpPr txBox="1"/>
          <p:nvPr/>
        </p:nvSpPr>
        <p:spPr>
          <a:xfrm>
            <a:off x="561975" y="1390650"/>
            <a:ext cx="11068050" cy="464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느린 PCIe 환경에서 계산·전송 중첩 조건을 어떻게 맞출까?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같은 배치·문맥 길이에서 어떤 성능 지표로 기준선과 비교할까?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MoE에서 dense 모델로 바뀌면 층 폭과 host 비용은 어떻게 달라질까?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  <a:hlinkClick r:id="rId3"/>
              </a:rPr>
              <a:t>• 원문: Zhengqing Yuan 외 3인, arXiv:2604.05091v1 (2026.04.06)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Yuan et al. · arXiv:2604.05091v1 · p.1 원문·코드 링크; 토론 질문은 세미나 해석</a:t>
            </a:r>
          </a:p>
        </p:txBody>
      </p:sp>
      <p:sp>
        <p:nvSpPr>
          <p:cNvPr id="10" name="CodeLink"/>
          <p:cNvSpPr txBox="1"/>
          <p:nvPr/>
        </p:nvSpPr>
        <p:spPr>
          <a:xfrm>
            <a:off x="561975" y="5486400"/>
            <a:ext cx="1106805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200">
                <a:solidFill>
                  <a:srgbClr val="1C50B3"/>
                </a:solidFill>
                <a:latin typeface="Pretendard"/>
                <a:ea typeface="Pretendard"/>
                <a:cs typeface="Pretendard"/>
                <a:hlinkClick r:id="rId2"/>
              </a:rPr>
              <a:t>코드: github.com/DLYuanGod/MegaTrain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공통 발표 템플릿 · week4 디자인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ko-KR</dc:language>
</cp:coreProperties>
</file>